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8" r:id="rId2"/>
    <p:sldId id="256" r:id="rId3"/>
    <p:sldId id="257" r:id="rId4"/>
    <p:sldId id="258" r:id="rId5"/>
    <p:sldId id="259" r:id="rId6"/>
    <p:sldId id="260" r:id="rId7"/>
    <p:sldId id="261" r:id="rId8"/>
    <p:sldId id="262" r:id="rId9"/>
    <p:sldId id="263" r:id="rId10"/>
    <p:sldId id="264" r:id="rId11"/>
    <p:sldId id="265" r:id="rId12"/>
    <p:sldId id="266" r:id="rId13"/>
    <p:sldId id="267"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6C0E13-DBCB-4561-B7CC-75650F30F544}" v="2" dt="2026-08-04T16:19:58.6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821" autoAdjust="0"/>
  </p:normalViewPr>
  <p:slideViewPr>
    <p:cSldViewPr snapToGrid="0" snapToObjects="1">
      <p:cViewPr varScale="1">
        <p:scale>
          <a:sx n="70" d="100"/>
          <a:sy n="70" d="100"/>
        </p:scale>
        <p:origin x="13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6/11/relationships/changesInfo" Target="changesInfos/changesInfo1.xml"/><Relationship Id="rId2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la Hamza" userId="37e3e0ed-4d92-4d8b-9466-2e38223b7fdf" providerId="ADAL" clId="{C4F51FD1-E34C-424C-8E22-3D0597D7201F}"/>
    <pc:docChg chg="undo custSel modSld sldOrd">
      <pc:chgData name="Laila Hamza" userId="37e3e0ed-4d92-4d8b-9466-2e38223b7fdf" providerId="ADAL" clId="{C4F51FD1-E34C-424C-8E22-3D0597D7201F}" dt="2026-08-04T19:32:17.886" v="2962" actId="20577"/>
      <pc:docMkLst>
        <pc:docMk/>
      </pc:docMkLst>
      <pc:sldChg chg="modSp mod modNotesTx">
        <pc:chgData name="Laila Hamza" userId="37e3e0ed-4d92-4d8b-9466-2e38223b7fdf" providerId="ADAL" clId="{C4F51FD1-E34C-424C-8E22-3D0597D7201F}" dt="2026-08-04T00:06:20.749" v="2308" actId="33524"/>
        <pc:sldMkLst>
          <pc:docMk/>
          <pc:sldMk cId="0" sldId="256"/>
        </pc:sldMkLst>
        <pc:spChg chg="mod">
          <ac:chgData name="Laila Hamza" userId="37e3e0ed-4d92-4d8b-9466-2e38223b7fdf" providerId="ADAL" clId="{C4F51FD1-E34C-424C-8E22-3D0597D7201F}" dt="2026-08-03T21:46:25.637" v="2172" actId="255"/>
          <ac:spMkLst>
            <pc:docMk/>
            <pc:sldMk cId="0" sldId="256"/>
            <ac:spMk id="2" creationId="{00000000-0000-0000-0000-000000000000}"/>
          </ac:spMkLst>
        </pc:spChg>
        <pc:spChg chg="mod">
          <ac:chgData name="Laila Hamza" userId="37e3e0ed-4d92-4d8b-9466-2e38223b7fdf" providerId="ADAL" clId="{C4F51FD1-E34C-424C-8E22-3D0597D7201F}" dt="2026-08-03T19:01:11.265" v="325" actId="1036"/>
          <ac:spMkLst>
            <pc:docMk/>
            <pc:sldMk cId="0" sldId="256"/>
            <ac:spMk id="6" creationId="{00000000-0000-0000-0000-000000000000}"/>
          </ac:spMkLst>
        </pc:spChg>
        <pc:spChg chg="mod">
          <ac:chgData name="Laila Hamza" userId="37e3e0ed-4d92-4d8b-9466-2e38223b7fdf" providerId="ADAL" clId="{C4F51FD1-E34C-424C-8E22-3D0597D7201F}" dt="2026-08-03T19:01:06.112" v="290" actId="1036"/>
          <ac:spMkLst>
            <pc:docMk/>
            <pc:sldMk cId="0" sldId="256"/>
            <ac:spMk id="7" creationId="{00000000-0000-0000-0000-000000000000}"/>
          </ac:spMkLst>
        </pc:spChg>
      </pc:sldChg>
      <pc:sldChg chg="modSp mod modNotesTx">
        <pc:chgData name="Laila Hamza" userId="37e3e0ed-4d92-4d8b-9466-2e38223b7fdf" providerId="ADAL" clId="{C4F51FD1-E34C-424C-8E22-3D0597D7201F}" dt="2026-08-03T23:34:42.509" v="2303" actId="20577"/>
        <pc:sldMkLst>
          <pc:docMk/>
          <pc:sldMk cId="0" sldId="257"/>
        </pc:sldMkLst>
        <pc:spChg chg="mod">
          <ac:chgData name="Laila Hamza" userId="37e3e0ed-4d92-4d8b-9466-2e38223b7fdf" providerId="ADAL" clId="{C4F51FD1-E34C-424C-8E22-3D0597D7201F}" dt="2026-08-03T23:33:23.922" v="2261" actId="255"/>
          <ac:spMkLst>
            <pc:docMk/>
            <pc:sldMk cId="0" sldId="257"/>
            <ac:spMk id="2" creationId="{00000000-0000-0000-0000-000000000000}"/>
          </ac:spMkLst>
        </pc:spChg>
        <pc:spChg chg="mod">
          <ac:chgData name="Laila Hamza" userId="37e3e0ed-4d92-4d8b-9466-2e38223b7fdf" providerId="ADAL" clId="{C4F51FD1-E34C-424C-8E22-3D0597D7201F}" dt="2026-08-03T23:33:33.008" v="2269" actId="20577"/>
          <ac:spMkLst>
            <pc:docMk/>
            <pc:sldMk cId="0" sldId="257"/>
            <ac:spMk id="3" creationId="{00000000-0000-0000-0000-000000000000}"/>
          </ac:spMkLst>
        </pc:spChg>
        <pc:spChg chg="mod">
          <ac:chgData name="Laila Hamza" userId="37e3e0ed-4d92-4d8b-9466-2e38223b7fdf" providerId="ADAL" clId="{C4F51FD1-E34C-424C-8E22-3D0597D7201F}" dt="2026-08-03T21:56:27.400" v="2228" actId="1036"/>
          <ac:spMkLst>
            <pc:docMk/>
            <pc:sldMk cId="0" sldId="257"/>
            <ac:spMk id="4" creationId="{00000000-0000-0000-0000-000000000000}"/>
          </ac:spMkLst>
        </pc:spChg>
        <pc:spChg chg="mod">
          <ac:chgData name="Laila Hamza" userId="37e3e0ed-4d92-4d8b-9466-2e38223b7fdf" providerId="ADAL" clId="{C4F51FD1-E34C-424C-8E22-3D0597D7201F}" dt="2026-08-03T21:56:27.400" v="2228" actId="1036"/>
          <ac:spMkLst>
            <pc:docMk/>
            <pc:sldMk cId="0" sldId="257"/>
            <ac:spMk id="6" creationId="{00000000-0000-0000-0000-000000000000}"/>
          </ac:spMkLst>
        </pc:spChg>
        <pc:spChg chg="mod">
          <ac:chgData name="Laila Hamza" userId="37e3e0ed-4d92-4d8b-9466-2e38223b7fdf" providerId="ADAL" clId="{C4F51FD1-E34C-424C-8E22-3D0597D7201F}" dt="2026-08-03T21:56:27.400" v="2228" actId="1036"/>
          <ac:spMkLst>
            <pc:docMk/>
            <pc:sldMk cId="0" sldId="257"/>
            <ac:spMk id="7" creationId="{00000000-0000-0000-0000-000000000000}"/>
          </ac:spMkLst>
        </pc:spChg>
        <pc:spChg chg="mod">
          <ac:chgData name="Laila Hamza" userId="37e3e0ed-4d92-4d8b-9466-2e38223b7fdf" providerId="ADAL" clId="{C4F51FD1-E34C-424C-8E22-3D0597D7201F}" dt="2026-08-03T21:56:27.400" v="2228" actId="1036"/>
          <ac:spMkLst>
            <pc:docMk/>
            <pc:sldMk cId="0" sldId="257"/>
            <ac:spMk id="8" creationId="{00000000-0000-0000-0000-000000000000}"/>
          </ac:spMkLst>
        </pc:spChg>
        <pc:spChg chg="mod">
          <ac:chgData name="Laila Hamza" userId="37e3e0ed-4d92-4d8b-9466-2e38223b7fdf" providerId="ADAL" clId="{C4F51FD1-E34C-424C-8E22-3D0597D7201F}" dt="2026-08-03T21:56:27.400" v="2228" actId="1036"/>
          <ac:spMkLst>
            <pc:docMk/>
            <pc:sldMk cId="0" sldId="257"/>
            <ac:spMk id="9" creationId="{00000000-0000-0000-0000-000000000000}"/>
          </ac:spMkLst>
        </pc:spChg>
        <pc:spChg chg="mod">
          <ac:chgData name="Laila Hamza" userId="37e3e0ed-4d92-4d8b-9466-2e38223b7fdf" providerId="ADAL" clId="{C4F51FD1-E34C-424C-8E22-3D0597D7201F}" dt="2026-08-03T21:56:27.400" v="2228" actId="1036"/>
          <ac:spMkLst>
            <pc:docMk/>
            <pc:sldMk cId="0" sldId="257"/>
            <ac:spMk id="10" creationId="{00000000-0000-0000-0000-000000000000}"/>
          </ac:spMkLst>
        </pc:spChg>
        <pc:spChg chg="mod">
          <ac:chgData name="Laila Hamza" userId="37e3e0ed-4d92-4d8b-9466-2e38223b7fdf" providerId="ADAL" clId="{C4F51FD1-E34C-424C-8E22-3D0597D7201F}" dt="2026-08-03T21:56:27.400" v="2228" actId="1036"/>
          <ac:spMkLst>
            <pc:docMk/>
            <pc:sldMk cId="0" sldId="257"/>
            <ac:spMk id="11" creationId="{00000000-0000-0000-0000-000000000000}"/>
          </ac:spMkLst>
        </pc:spChg>
        <pc:spChg chg="mod">
          <ac:chgData name="Laila Hamza" userId="37e3e0ed-4d92-4d8b-9466-2e38223b7fdf" providerId="ADAL" clId="{C4F51FD1-E34C-424C-8E22-3D0597D7201F}" dt="2026-08-03T21:56:27.400" v="2228" actId="1036"/>
          <ac:spMkLst>
            <pc:docMk/>
            <pc:sldMk cId="0" sldId="257"/>
            <ac:spMk id="13" creationId="{00000000-0000-0000-0000-000000000000}"/>
          </ac:spMkLst>
        </pc:spChg>
        <pc:spChg chg="mod">
          <ac:chgData name="Laila Hamza" userId="37e3e0ed-4d92-4d8b-9466-2e38223b7fdf" providerId="ADAL" clId="{C4F51FD1-E34C-424C-8E22-3D0597D7201F}" dt="2026-08-03T21:56:27.400" v="2228" actId="1036"/>
          <ac:spMkLst>
            <pc:docMk/>
            <pc:sldMk cId="0" sldId="257"/>
            <ac:spMk id="14" creationId="{00000000-0000-0000-0000-000000000000}"/>
          </ac:spMkLst>
        </pc:spChg>
        <pc:spChg chg="mod">
          <ac:chgData name="Laila Hamza" userId="37e3e0ed-4d92-4d8b-9466-2e38223b7fdf" providerId="ADAL" clId="{C4F51FD1-E34C-424C-8E22-3D0597D7201F}" dt="2026-08-03T21:56:27.400" v="2228" actId="1036"/>
          <ac:spMkLst>
            <pc:docMk/>
            <pc:sldMk cId="0" sldId="257"/>
            <ac:spMk id="15" creationId="{00000000-0000-0000-0000-000000000000}"/>
          </ac:spMkLst>
        </pc:spChg>
        <pc:spChg chg="mod">
          <ac:chgData name="Laila Hamza" userId="37e3e0ed-4d92-4d8b-9466-2e38223b7fdf" providerId="ADAL" clId="{C4F51FD1-E34C-424C-8E22-3D0597D7201F}" dt="2026-08-03T23:32:44.536" v="2260" actId="1036"/>
          <ac:spMkLst>
            <pc:docMk/>
            <pc:sldMk cId="0" sldId="257"/>
            <ac:spMk id="16" creationId="{00000000-0000-0000-0000-000000000000}"/>
          </ac:spMkLst>
        </pc:spChg>
        <pc:spChg chg="mod">
          <ac:chgData name="Laila Hamza" userId="37e3e0ed-4d92-4d8b-9466-2e38223b7fdf" providerId="ADAL" clId="{C4F51FD1-E34C-424C-8E22-3D0597D7201F}" dt="2026-08-03T21:56:08.923" v="2209" actId="1036"/>
          <ac:spMkLst>
            <pc:docMk/>
            <pc:sldMk cId="0" sldId="257"/>
            <ac:spMk id="17" creationId="{00000000-0000-0000-0000-000000000000}"/>
          </ac:spMkLst>
        </pc:spChg>
        <pc:spChg chg="mod">
          <ac:chgData name="Laila Hamza" userId="37e3e0ed-4d92-4d8b-9466-2e38223b7fdf" providerId="ADAL" clId="{C4F51FD1-E34C-424C-8E22-3D0597D7201F}" dt="2026-08-03T21:56:08.923" v="2209" actId="1036"/>
          <ac:spMkLst>
            <pc:docMk/>
            <pc:sldMk cId="0" sldId="257"/>
            <ac:spMk id="18" creationId="{00000000-0000-0000-0000-000000000000}"/>
          </ac:spMkLst>
        </pc:spChg>
        <pc:spChg chg="mod">
          <ac:chgData name="Laila Hamza" userId="37e3e0ed-4d92-4d8b-9466-2e38223b7fdf" providerId="ADAL" clId="{C4F51FD1-E34C-424C-8E22-3D0597D7201F}" dt="2026-08-03T21:56:08.923" v="2209" actId="1036"/>
          <ac:spMkLst>
            <pc:docMk/>
            <pc:sldMk cId="0" sldId="257"/>
            <ac:spMk id="19" creationId="{00000000-0000-0000-0000-000000000000}"/>
          </ac:spMkLst>
        </pc:spChg>
      </pc:sldChg>
      <pc:sldChg chg="modSp mod modNotesTx">
        <pc:chgData name="Laila Hamza" userId="37e3e0ed-4d92-4d8b-9466-2e38223b7fdf" providerId="ADAL" clId="{C4F51FD1-E34C-424C-8E22-3D0597D7201F}" dt="2026-08-04T16:16:50.589" v="2666" actId="1076"/>
        <pc:sldMkLst>
          <pc:docMk/>
          <pc:sldMk cId="0" sldId="258"/>
        </pc:sldMkLst>
        <pc:spChg chg="mod">
          <ac:chgData name="Laila Hamza" userId="37e3e0ed-4d92-4d8b-9466-2e38223b7fdf" providerId="ADAL" clId="{C4F51FD1-E34C-424C-8E22-3D0597D7201F}" dt="2026-08-04T16:16:50.589" v="2666" actId="1076"/>
          <ac:spMkLst>
            <pc:docMk/>
            <pc:sldMk cId="0" sldId="258"/>
            <ac:spMk id="3" creationId="{00000000-0000-0000-0000-000000000000}"/>
          </ac:spMkLst>
        </pc:spChg>
        <pc:spChg chg="mod">
          <ac:chgData name="Laila Hamza" userId="37e3e0ed-4d92-4d8b-9466-2e38223b7fdf" providerId="ADAL" clId="{C4F51FD1-E34C-424C-8E22-3D0597D7201F}" dt="2026-08-04T16:16:44.347" v="2665" actId="1036"/>
          <ac:spMkLst>
            <pc:docMk/>
            <pc:sldMk cId="0" sldId="258"/>
            <ac:spMk id="4" creationId="{00000000-0000-0000-0000-000000000000}"/>
          </ac:spMkLst>
        </pc:spChg>
        <pc:spChg chg="mod">
          <ac:chgData name="Laila Hamza" userId="37e3e0ed-4d92-4d8b-9466-2e38223b7fdf" providerId="ADAL" clId="{C4F51FD1-E34C-424C-8E22-3D0597D7201F}" dt="2026-08-04T16:16:44.347" v="2665" actId="1036"/>
          <ac:spMkLst>
            <pc:docMk/>
            <pc:sldMk cId="0" sldId="258"/>
            <ac:spMk id="5" creationId="{00000000-0000-0000-0000-000000000000}"/>
          </ac:spMkLst>
        </pc:spChg>
        <pc:spChg chg="mod">
          <ac:chgData name="Laila Hamza" userId="37e3e0ed-4d92-4d8b-9466-2e38223b7fdf" providerId="ADAL" clId="{C4F51FD1-E34C-424C-8E22-3D0597D7201F}" dt="2026-08-04T16:16:44.347" v="2665" actId="1036"/>
          <ac:spMkLst>
            <pc:docMk/>
            <pc:sldMk cId="0" sldId="258"/>
            <ac:spMk id="7" creationId="{00000000-0000-0000-0000-000000000000}"/>
          </ac:spMkLst>
        </pc:spChg>
        <pc:spChg chg="mod">
          <ac:chgData name="Laila Hamza" userId="37e3e0ed-4d92-4d8b-9466-2e38223b7fdf" providerId="ADAL" clId="{C4F51FD1-E34C-424C-8E22-3D0597D7201F}" dt="2026-08-04T16:16:31.485" v="2617" actId="1035"/>
          <ac:spMkLst>
            <pc:docMk/>
            <pc:sldMk cId="0" sldId="258"/>
            <ac:spMk id="8" creationId="{00000000-0000-0000-0000-000000000000}"/>
          </ac:spMkLst>
        </pc:spChg>
        <pc:spChg chg="mod">
          <ac:chgData name="Laila Hamza" userId="37e3e0ed-4d92-4d8b-9466-2e38223b7fdf" providerId="ADAL" clId="{C4F51FD1-E34C-424C-8E22-3D0597D7201F}" dt="2026-08-04T16:16:44.347" v="2665" actId="1036"/>
          <ac:spMkLst>
            <pc:docMk/>
            <pc:sldMk cId="0" sldId="258"/>
            <ac:spMk id="9" creationId="{00000000-0000-0000-0000-000000000000}"/>
          </ac:spMkLst>
        </pc:spChg>
        <pc:spChg chg="mod">
          <ac:chgData name="Laila Hamza" userId="37e3e0ed-4d92-4d8b-9466-2e38223b7fdf" providerId="ADAL" clId="{C4F51FD1-E34C-424C-8E22-3D0597D7201F}" dt="2026-08-04T16:16:44.347" v="2665" actId="1036"/>
          <ac:spMkLst>
            <pc:docMk/>
            <pc:sldMk cId="0" sldId="258"/>
            <ac:spMk id="10" creationId="{00000000-0000-0000-0000-000000000000}"/>
          </ac:spMkLst>
        </pc:spChg>
        <pc:spChg chg="mod">
          <ac:chgData name="Laila Hamza" userId="37e3e0ed-4d92-4d8b-9466-2e38223b7fdf" providerId="ADAL" clId="{C4F51FD1-E34C-424C-8E22-3D0597D7201F}" dt="2026-08-04T16:16:44.347" v="2665" actId="1036"/>
          <ac:spMkLst>
            <pc:docMk/>
            <pc:sldMk cId="0" sldId="258"/>
            <ac:spMk id="11" creationId="{00000000-0000-0000-0000-000000000000}"/>
          </ac:spMkLst>
        </pc:spChg>
        <pc:spChg chg="mod">
          <ac:chgData name="Laila Hamza" userId="37e3e0ed-4d92-4d8b-9466-2e38223b7fdf" providerId="ADAL" clId="{C4F51FD1-E34C-424C-8E22-3D0597D7201F}" dt="2026-08-04T16:16:31.485" v="2617" actId="1035"/>
          <ac:spMkLst>
            <pc:docMk/>
            <pc:sldMk cId="0" sldId="258"/>
            <ac:spMk id="12" creationId="{00000000-0000-0000-0000-000000000000}"/>
          </ac:spMkLst>
        </pc:spChg>
        <pc:spChg chg="mod">
          <ac:chgData name="Laila Hamza" userId="37e3e0ed-4d92-4d8b-9466-2e38223b7fdf" providerId="ADAL" clId="{C4F51FD1-E34C-424C-8E22-3D0597D7201F}" dt="2026-08-04T16:16:44.347" v="2665" actId="1036"/>
          <ac:spMkLst>
            <pc:docMk/>
            <pc:sldMk cId="0" sldId="258"/>
            <ac:spMk id="13" creationId="{00000000-0000-0000-0000-000000000000}"/>
          </ac:spMkLst>
        </pc:spChg>
        <pc:spChg chg="mod">
          <ac:chgData name="Laila Hamza" userId="37e3e0ed-4d92-4d8b-9466-2e38223b7fdf" providerId="ADAL" clId="{C4F51FD1-E34C-424C-8E22-3D0597D7201F}" dt="2026-08-04T16:16:44.347" v="2665" actId="1036"/>
          <ac:spMkLst>
            <pc:docMk/>
            <pc:sldMk cId="0" sldId="258"/>
            <ac:spMk id="14" creationId="{00000000-0000-0000-0000-000000000000}"/>
          </ac:spMkLst>
        </pc:spChg>
        <pc:spChg chg="mod">
          <ac:chgData name="Laila Hamza" userId="37e3e0ed-4d92-4d8b-9466-2e38223b7fdf" providerId="ADAL" clId="{C4F51FD1-E34C-424C-8E22-3D0597D7201F}" dt="2026-08-04T16:16:44.347" v="2665" actId="1036"/>
          <ac:spMkLst>
            <pc:docMk/>
            <pc:sldMk cId="0" sldId="258"/>
            <ac:spMk id="15" creationId="{00000000-0000-0000-0000-000000000000}"/>
          </ac:spMkLst>
        </pc:spChg>
        <pc:spChg chg="mod">
          <ac:chgData name="Laila Hamza" userId="37e3e0ed-4d92-4d8b-9466-2e38223b7fdf" providerId="ADAL" clId="{C4F51FD1-E34C-424C-8E22-3D0597D7201F}" dt="2026-08-04T16:16:44.347" v="2665" actId="1036"/>
          <ac:spMkLst>
            <pc:docMk/>
            <pc:sldMk cId="0" sldId="258"/>
            <ac:spMk id="16" creationId="{00000000-0000-0000-0000-000000000000}"/>
          </ac:spMkLst>
        </pc:spChg>
      </pc:sldChg>
      <pc:sldChg chg="addSp delSp modSp mod modNotesTx">
        <pc:chgData name="Laila Hamza" userId="37e3e0ed-4d92-4d8b-9466-2e38223b7fdf" providerId="ADAL" clId="{C4F51FD1-E34C-424C-8E22-3D0597D7201F}" dt="2026-08-04T01:29:55.322" v="2556" actId="1036"/>
        <pc:sldMkLst>
          <pc:docMk/>
          <pc:sldMk cId="0" sldId="259"/>
        </pc:sldMkLst>
        <pc:spChg chg="mod">
          <ac:chgData name="Laila Hamza" userId="37e3e0ed-4d92-4d8b-9466-2e38223b7fdf" providerId="ADAL" clId="{C4F51FD1-E34C-424C-8E22-3D0597D7201F}" dt="2026-08-04T01:29:55.322" v="2556" actId="1036"/>
          <ac:spMkLst>
            <pc:docMk/>
            <pc:sldMk cId="0" sldId="259"/>
            <ac:spMk id="4" creationId="{00000000-0000-0000-0000-000000000000}"/>
          </ac:spMkLst>
        </pc:spChg>
        <pc:spChg chg="mod">
          <ac:chgData name="Laila Hamza" userId="37e3e0ed-4d92-4d8b-9466-2e38223b7fdf" providerId="ADAL" clId="{C4F51FD1-E34C-424C-8E22-3D0597D7201F}" dt="2026-08-04T01:29:40.534" v="2550" actId="1036"/>
          <ac:spMkLst>
            <pc:docMk/>
            <pc:sldMk cId="0" sldId="259"/>
            <ac:spMk id="5" creationId="{00000000-0000-0000-0000-000000000000}"/>
          </ac:spMkLst>
        </pc:spChg>
        <pc:spChg chg="mod">
          <ac:chgData name="Laila Hamza" userId="37e3e0ed-4d92-4d8b-9466-2e38223b7fdf" providerId="ADAL" clId="{C4F51FD1-E34C-424C-8E22-3D0597D7201F}" dt="2026-08-04T01:29:40.534" v="2550" actId="1036"/>
          <ac:spMkLst>
            <pc:docMk/>
            <pc:sldMk cId="0" sldId="259"/>
            <ac:spMk id="6" creationId="{00000000-0000-0000-0000-000000000000}"/>
          </ac:spMkLst>
        </pc:spChg>
        <pc:spChg chg="mod">
          <ac:chgData name="Laila Hamza" userId="37e3e0ed-4d92-4d8b-9466-2e38223b7fdf" providerId="ADAL" clId="{C4F51FD1-E34C-424C-8E22-3D0597D7201F}" dt="2026-08-04T01:29:40.534" v="2550" actId="1036"/>
          <ac:spMkLst>
            <pc:docMk/>
            <pc:sldMk cId="0" sldId="259"/>
            <ac:spMk id="7" creationId="{00000000-0000-0000-0000-000000000000}"/>
          </ac:spMkLst>
        </pc:spChg>
        <pc:spChg chg="mod">
          <ac:chgData name="Laila Hamza" userId="37e3e0ed-4d92-4d8b-9466-2e38223b7fdf" providerId="ADAL" clId="{C4F51FD1-E34C-424C-8E22-3D0597D7201F}" dt="2026-08-04T01:26:15.278" v="2478" actId="14100"/>
          <ac:spMkLst>
            <pc:docMk/>
            <pc:sldMk cId="0" sldId="259"/>
            <ac:spMk id="9" creationId="{00000000-0000-0000-0000-000000000000}"/>
          </ac:spMkLst>
        </pc:spChg>
        <pc:spChg chg="mod">
          <ac:chgData name="Laila Hamza" userId="37e3e0ed-4d92-4d8b-9466-2e38223b7fdf" providerId="ADAL" clId="{C4F51FD1-E34C-424C-8E22-3D0597D7201F}" dt="2026-08-04T01:29:40.534" v="2550" actId="1036"/>
          <ac:spMkLst>
            <pc:docMk/>
            <pc:sldMk cId="0" sldId="259"/>
            <ac:spMk id="11" creationId="{00000000-0000-0000-0000-000000000000}"/>
          </ac:spMkLst>
        </pc:spChg>
        <pc:spChg chg="mod">
          <ac:chgData name="Laila Hamza" userId="37e3e0ed-4d92-4d8b-9466-2e38223b7fdf" providerId="ADAL" clId="{C4F51FD1-E34C-424C-8E22-3D0597D7201F}" dt="2026-08-04T01:29:40.534" v="2550" actId="1036"/>
          <ac:spMkLst>
            <pc:docMk/>
            <pc:sldMk cId="0" sldId="259"/>
            <ac:spMk id="13" creationId="{00000000-0000-0000-0000-000000000000}"/>
          </ac:spMkLst>
        </pc:spChg>
        <pc:spChg chg="mod">
          <ac:chgData name="Laila Hamza" userId="37e3e0ed-4d92-4d8b-9466-2e38223b7fdf" providerId="ADAL" clId="{C4F51FD1-E34C-424C-8E22-3D0597D7201F}" dt="2026-08-04T01:29:40.534" v="2550" actId="1036"/>
          <ac:spMkLst>
            <pc:docMk/>
            <pc:sldMk cId="0" sldId="259"/>
            <ac:spMk id="15" creationId="{00000000-0000-0000-0000-000000000000}"/>
          </ac:spMkLst>
        </pc:spChg>
        <pc:spChg chg="mod">
          <ac:chgData name="Laila Hamza" userId="37e3e0ed-4d92-4d8b-9466-2e38223b7fdf" providerId="ADAL" clId="{C4F51FD1-E34C-424C-8E22-3D0597D7201F}" dt="2026-08-04T01:29:40.534" v="2550" actId="1036"/>
          <ac:spMkLst>
            <pc:docMk/>
            <pc:sldMk cId="0" sldId="259"/>
            <ac:spMk id="16" creationId="{00000000-0000-0000-0000-000000000000}"/>
          </ac:spMkLst>
        </pc:spChg>
        <pc:spChg chg="mod">
          <ac:chgData name="Laila Hamza" userId="37e3e0ed-4d92-4d8b-9466-2e38223b7fdf" providerId="ADAL" clId="{C4F51FD1-E34C-424C-8E22-3D0597D7201F}" dt="2026-08-04T01:29:40.534" v="2550" actId="1036"/>
          <ac:spMkLst>
            <pc:docMk/>
            <pc:sldMk cId="0" sldId="259"/>
            <ac:spMk id="17" creationId="{00000000-0000-0000-0000-000000000000}"/>
          </ac:spMkLst>
        </pc:spChg>
        <pc:spChg chg="mod">
          <ac:chgData name="Laila Hamza" userId="37e3e0ed-4d92-4d8b-9466-2e38223b7fdf" providerId="ADAL" clId="{C4F51FD1-E34C-424C-8E22-3D0597D7201F}" dt="2026-08-04T01:29:40.534" v="2550" actId="1036"/>
          <ac:spMkLst>
            <pc:docMk/>
            <pc:sldMk cId="0" sldId="259"/>
            <ac:spMk id="18" creationId="{00000000-0000-0000-0000-000000000000}"/>
          </ac:spMkLst>
        </pc:spChg>
        <pc:spChg chg="mod">
          <ac:chgData name="Laila Hamza" userId="37e3e0ed-4d92-4d8b-9466-2e38223b7fdf" providerId="ADAL" clId="{C4F51FD1-E34C-424C-8E22-3D0597D7201F}" dt="2026-08-04T01:29:40.534" v="2550" actId="1036"/>
          <ac:spMkLst>
            <pc:docMk/>
            <pc:sldMk cId="0" sldId="259"/>
            <ac:spMk id="21" creationId="{00000000-0000-0000-0000-000000000000}"/>
          </ac:spMkLst>
        </pc:spChg>
        <pc:spChg chg="add del mod">
          <ac:chgData name="Laila Hamza" userId="37e3e0ed-4d92-4d8b-9466-2e38223b7fdf" providerId="ADAL" clId="{C4F51FD1-E34C-424C-8E22-3D0597D7201F}" dt="2026-08-04T01:29:30.484" v="2525"/>
          <ac:spMkLst>
            <pc:docMk/>
            <pc:sldMk cId="0" sldId="259"/>
            <ac:spMk id="22" creationId="{55CA8B86-98C7-2B52-A778-F62B851F61B5}"/>
          </ac:spMkLst>
        </pc:spChg>
      </pc:sldChg>
      <pc:sldChg chg="modSp mod">
        <pc:chgData name="Laila Hamza" userId="37e3e0ed-4d92-4d8b-9466-2e38223b7fdf" providerId="ADAL" clId="{C4F51FD1-E34C-424C-8E22-3D0597D7201F}" dt="2026-08-04T01:29:01.922" v="2522" actId="1036"/>
        <pc:sldMkLst>
          <pc:docMk/>
          <pc:sldMk cId="0" sldId="260"/>
        </pc:sldMkLst>
        <pc:spChg chg="mod">
          <ac:chgData name="Laila Hamza" userId="37e3e0ed-4d92-4d8b-9466-2e38223b7fdf" providerId="ADAL" clId="{C4F51FD1-E34C-424C-8E22-3D0597D7201F}" dt="2026-08-04T01:29:01.922" v="2522" actId="1036"/>
          <ac:spMkLst>
            <pc:docMk/>
            <pc:sldMk cId="0" sldId="260"/>
            <ac:spMk id="3" creationId="{00000000-0000-0000-0000-000000000000}"/>
          </ac:spMkLst>
        </pc:spChg>
        <pc:spChg chg="mod">
          <ac:chgData name="Laila Hamza" userId="37e3e0ed-4d92-4d8b-9466-2e38223b7fdf" providerId="ADAL" clId="{C4F51FD1-E34C-424C-8E22-3D0597D7201F}" dt="2026-08-04T01:28:55.339" v="2519" actId="1036"/>
          <ac:spMkLst>
            <pc:docMk/>
            <pc:sldMk cId="0" sldId="260"/>
            <ac:spMk id="4" creationId="{00000000-0000-0000-0000-000000000000}"/>
          </ac:spMkLst>
        </pc:spChg>
        <pc:spChg chg="mod">
          <ac:chgData name="Laila Hamza" userId="37e3e0ed-4d92-4d8b-9466-2e38223b7fdf" providerId="ADAL" clId="{C4F51FD1-E34C-424C-8E22-3D0597D7201F}" dt="2026-08-04T01:28:55.339" v="2519" actId="1036"/>
          <ac:spMkLst>
            <pc:docMk/>
            <pc:sldMk cId="0" sldId="260"/>
            <ac:spMk id="5" creationId="{00000000-0000-0000-0000-000000000000}"/>
          </ac:spMkLst>
        </pc:spChg>
        <pc:spChg chg="mod">
          <ac:chgData name="Laila Hamza" userId="37e3e0ed-4d92-4d8b-9466-2e38223b7fdf" providerId="ADAL" clId="{C4F51FD1-E34C-424C-8E22-3D0597D7201F}" dt="2026-08-04T01:28:55.339" v="2519" actId="1036"/>
          <ac:spMkLst>
            <pc:docMk/>
            <pc:sldMk cId="0" sldId="260"/>
            <ac:spMk id="10" creationId="{00000000-0000-0000-0000-000000000000}"/>
          </ac:spMkLst>
        </pc:spChg>
        <pc:spChg chg="mod">
          <ac:chgData name="Laila Hamza" userId="37e3e0ed-4d92-4d8b-9466-2e38223b7fdf" providerId="ADAL" clId="{C4F51FD1-E34C-424C-8E22-3D0597D7201F}" dt="2026-08-04T01:28:55.339" v="2519" actId="1036"/>
          <ac:spMkLst>
            <pc:docMk/>
            <pc:sldMk cId="0" sldId="260"/>
            <ac:spMk id="12" creationId="{00000000-0000-0000-0000-000000000000}"/>
          </ac:spMkLst>
        </pc:spChg>
        <pc:spChg chg="mod">
          <ac:chgData name="Laila Hamza" userId="37e3e0ed-4d92-4d8b-9466-2e38223b7fdf" providerId="ADAL" clId="{C4F51FD1-E34C-424C-8E22-3D0597D7201F}" dt="2026-08-04T01:28:55.339" v="2519" actId="1036"/>
          <ac:spMkLst>
            <pc:docMk/>
            <pc:sldMk cId="0" sldId="260"/>
            <ac:spMk id="14" creationId="{00000000-0000-0000-0000-000000000000}"/>
          </ac:spMkLst>
        </pc:spChg>
        <pc:spChg chg="mod">
          <ac:chgData name="Laila Hamza" userId="37e3e0ed-4d92-4d8b-9466-2e38223b7fdf" providerId="ADAL" clId="{C4F51FD1-E34C-424C-8E22-3D0597D7201F}" dt="2026-08-04T01:28:55.339" v="2519" actId="1036"/>
          <ac:spMkLst>
            <pc:docMk/>
            <pc:sldMk cId="0" sldId="260"/>
            <ac:spMk id="15" creationId="{00000000-0000-0000-0000-000000000000}"/>
          </ac:spMkLst>
        </pc:spChg>
        <pc:spChg chg="mod">
          <ac:chgData name="Laila Hamza" userId="37e3e0ed-4d92-4d8b-9466-2e38223b7fdf" providerId="ADAL" clId="{C4F51FD1-E34C-424C-8E22-3D0597D7201F}" dt="2026-08-04T01:28:55.339" v="2519" actId="1036"/>
          <ac:spMkLst>
            <pc:docMk/>
            <pc:sldMk cId="0" sldId="260"/>
            <ac:spMk id="17" creationId="{00000000-0000-0000-0000-000000000000}"/>
          </ac:spMkLst>
        </pc:spChg>
        <pc:spChg chg="mod">
          <ac:chgData name="Laila Hamza" userId="37e3e0ed-4d92-4d8b-9466-2e38223b7fdf" providerId="ADAL" clId="{C4F51FD1-E34C-424C-8E22-3D0597D7201F}" dt="2026-08-04T01:28:55.339" v="2519" actId="1036"/>
          <ac:spMkLst>
            <pc:docMk/>
            <pc:sldMk cId="0" sldId="260"/>
            <ac:spMk id="22" creationId="{00000000-0000-0000-0000-000000000000}"/>
          </ac:spMkLst>
        </pc:spChg>
        <pc:spChg chg="mod">
          <ac:chgData name="Laila Hamza" userId="37e3e0ed-4d92-4d8b-9466-2e38223b7fdf" providerId="ADAL" clId="{C4F51FD1-E34C-424C-8E22-3D0597D7201F}" dt="2026-08-04T01:28:55.339" v="2519" actId="1036"/>
          <ac:spMkLst>
            <pc:docMk/>
            <pc:sldMk cId="0" sldId="260"/>
            <ac:spMk id="23" creationId="{00000000-0000-0000-0000-000000000000}"/>
          </ac:spMkLst>
        </pc:spChg>
        <pc:spChg chg="mod">
          <ac:chgData name="Laila Hamza" userId="37e3e0ed-4d92-4d8b-9466-2e38223b7fdf" providerId="ADAL" clId="{C4F51FD1-E34C-424C-8E22-3D0597D7201F}" dt="2026-08-04T01:28:55.339" v="2519" actId="1036"/>
          <ac:spMkLst>
            <pc:docMk/>
            <pc:sldMk cId="0" sldId="260"/>
            <ac:spMk id="24" creationId="{00000000-0000-0000-0000-000000000000}"/>
          </ac:spMkLst>
        </pc:spChg>
      </pc:sldChg>
      <pc:sldChg chg="modSp mod modNotesTx">
        <pc:chgData name="Laila Hamza" userId="37e3e0ed-4d92-4d8b-9466-2e38223b7fdf" providerId="ADAL" clId="{C4F51FD1-E34C-424C-8E22-3D0597D7201F}" dt="2026-08-04T17:29:34.581" v="2893" actId="20577"/>
        <pc:sldMkLst>
          <pc:docMk/>
          <pc:sldMk cId="0" sldId="261"/>
        </pc:sldMkLst>
        <pc:spChg chg="mod">
          <ac:chgData name="Laila Hamza" userId="37e3e0ed-4d92-4d8b-9466-2e38223b7fdf" providerId="ADAL" clId="{C4F51FD1-E34C-424C-8E22-3D0597D7201F}" dt="2026-08-04T01:41:19.065" v="2577" actId="1036"/>
          <ac:spMkLst>
            <pc:docMk/>
            <pc:sldMk cId="0" sldId="261"/>
            <ac:spMk id="3" creationId="{00000000-0000-0000-0000-000000000000}"/>
          </ac:spMkLst>
        </pc:spChg>
        <pc:spChg chg="mod">
          <ac:chgData name="Laila Hamza" userId="37e3e0ed-4d92-4d8b-9466-2e38223b7fdf" providerId="ADAL" clId="{C4F51FD1-E34C-424C-8E22-3D0597D7201F}" dt="2026-08-04T01:41:14.549" v="2574" actId="1036"/>
          <ac:spMkLst>
            <pc:docMk/>
            <pc:sldMk cId="0" sldId="261"/>
            <ac:spMk id="4" creationId="{00000000-0000-0000-0000-000000000000}"/>
          </ac:spMkLst>
        </pc:spChg>
        <pc:spChg chg="mod">
          <ac:chgData name="Laila Hamza" userId="37e3e0ed-4d92-4d8b-9466-2e38223b7fdf" providerId="ADAL" clId="{C4F51FD1-E34C-424C-8E22-3D0597D7201F}" dt="2026-08-04T01:41:14.549" v="2574" actId="1036"/>
          <ac:spMkLst>
            <pc:docMk/>
            <pc:sldMk cId="0" sldId="261"/>
            <ac:spMk id="5" creationId="{00000000-0000-0000-0000-000000000000}"/>
          </ac:spMkLst>
        </pc:spChg>
        <pc:spChg chg="mod">
          <ac:chgData name="Laila Hamza" userId="37e3e0ed-4d92-4d8b-9466-2e38223b7fdf" providerId="ADAL" clId="{C4F51FD1-E34C-424C-8E22-3D0597D7201F}" dt="2026-08-04T01:41:14.549" v="2574" actId="1036"/>
          <ac:spMkLst>
            <pc:docMk/>
            <pc:sldMk cId="0" sldId="261"/>
            <ac:spMk id="6" creationId="{00000000-0000-0000-0000-000000000000}"/>
          </ac:spMkLst>
        </pc:spChg>
        <pc:spChg chg="mod">
          <ac:chgData name="Laila Hamza" userId="37e3e0ed-4d92-4d8b-9466-2e38223b7fdf" providerId="ADAL" clId="{C4F51FD1-E34C-424C-8E22-3D0597D7201F}" dt="2026-08-04T01:41:14.549" v="2574" actId="1036"/>
          <ac:spMkLst>
            <pc:docMk/>
            <pc:sldMk cId="0" sldId="261"/>
            <ac:spMk id="8" creationId="{00000000-0000-0000-0000-000000000000}"/>
          </ac:spMkLst>
        </pc:spChg>
        <pc:spChg chg="mod">
          <ac:chgData name="Laila Hamza" userId="37e3e0ed-4d92-4d8b-9466-2e38223b7fdf" providerId="ADAL" clId="{C4F51FD1-E34C-424C-8E22-3D0597D7201F}" dt="2026-08-04T01:41:14.549" v="2574" actId="1036"/>
          <ac:spMkLst>
            <pc:docMk/>
            <pc:sldMk cId="0" sldId="261"/>
            <ac:spMk id="9" creationId="{00000000-0000-0000-0000-000000000000}"/>
          </ac:spMkLst>
        </pc:spChg>
        <pc:spChg chg="mod">
          <ac:chgData name="Laila Hamza" userId="37e3e0ed-4d92-4d8b-9466-2e38223b7fdf" providerId="ADAL" clId="{C4F51FD1-E34C-424C-8E22-3D0597D7201F}" dt="2026-08-04T01:41:14.549" v="2574" actId="1036"/>
          <ac:spMkLst>
            <pc:docMk/>
            <pc:sldMk cId="0" sldId="261"/>
            <ac:spMk id="10" creationId="{00000000-0000-0000-0000-000000000000}"/>
          </ac:spMkLst>
        </pc:spChg>
        <pc:spChg chg="mod">
          <ac:chgData name="Laila Hamza" userId="37e3e0ed-4d92-4d8b-9466-2e38223b7fdf" providerId="ADAL" clId="{C4F51FD1-E34C-424C-8E22-3D0597D7201F}" dt="2026-08-04T01:41:14.549" v="2574" actId="1036"/>
          <ac:spMkLst>
            <pc:docMk/>
            <pc:sldMk cId="0" sldId="261"/>
            <ac:spMk id="11" creationId="{00000000-0000-0000-0000-000000000000}"/>
          </ac:spMkLst>
        </pc:spChg>
        <pc:spChg chg="mod">
          <ac:chgData name="Laila Hamza" userId="37e3e0ed-4d92-4d8b-9466-2e38223b7fdf" providerId="ADAL" clId="{C4F51FD1-E34C-424C-8E22-3D0597D7201F}" dt="2026-08-04T01:41:14.549" v="2574" actId="1036"/>
          <ac:spMkLst>
            <pc:docMk/>
            <pc:sldMk cId="0" sldId="261"/>
            <ac:spMk id="12" creationId="{00000000-0000-0000-0000-000000000000}"/>
          </ac:spMkLst>
        </pc:spChg>
        <pc:spChg chg="mod">
          <ac:chgData name="Laila Hamza" userId="37e3e0ed-4d92-4d8b-9466-2e38223b7fdf" providerId="ADAL" clId="{C4F51FD1-E34C-424C-8E22-3D0597D7201F}" dt="2026-08-04T01:41:14.549" v="2574" actId="1036"/>
          <ac:spMkLst>
            <pc:docMk/>
            <pc:sldMk cId="0" sldId="261"/>
            <ac:spMk id="13" creationId="{00000000-0000-0000-0000-000000000000}"/>
          </ac:spMkLst>
        </pc:spChg>
        <pc:spChg chg="mod">
          <ac:chgData name="Laila Hamza" userId="37e3e0ed-4d92-4d8b-9466-2e38223b7fdf" providerId="ADAL" clId="{C4F51FD1-E34C-424C-8E22-3D0597D7201F}" dt="2026-08-04T01:41:14.549" v="2574" actId="1036"/>
          <ac:spMkLst>
            <pc:docMk/>
            <pc:sldMk cId="0" sldId="261"/>
            <ac:spMk id="14" creationId="{00000000-0000-0000-0000-000000000000}"/>
          </ac:spMkLst>
        </pc:spChg>
      </pc:sldChg>
      <pc:sldChg chg="modSp mod">
        <pc:chgData name="Laila Hamza" userId="37e3e0ed-4d92-4d8b-9466-2e38223b7fdf" providerId="ADAL" clId="{C4F51FD1-E34C-424C-8E22-3D0597D7201F}" dt="2026-08-04T01:45:10.677" v="2608" actId="1036"/>
        <pc:sldMkLst>
          <pc:docMk/>
          <pc:sldMk cId="0" sldId="262"/>
        </pc:sldMkLst>
        <pc:spChg chg="mod">
          <ac:chgData name="Laila Hamza" userId="37e3e0ed-4d92-4d8b-9466-2e38223b7fdf" providerId="ADAL" clId="{C4F51FD1-E34C-424C-8E22-3D0597D7201F}" dt="2026-08-04T01:45:10.677" v="2608" actId="1036"/>
          <ac:spMkLst>
            <pc:docMk/>
            <pc:sldMk cId="0" sldId="262"/>
            <ac:spMk id="4" creationId="{00000000-0000-0000-0000-000000000000}"/>
          </ac:spMkLst>
        </pc:spChg>
        <pc:spChg chg="mod">
          <ac:chgData name="Laila Hamza" userId="37e3e0ed-4d92-4d8b-9466-2e38223b7fdf" providerId="ADAL" clId="{C4F51FD1-E34C-424C-8E22-3D0597D7201F}" dt="2026-08-04T01:45:10.677" v="2608" actId="1036"/>
          <ac:spMkLst>
            <pc:docMk/>
            <pc:sldMk cId="0" sldId="262"/>
            <ac:spMk id="5" creationId="{00000000-0000-0000-0000-000000000000}"/>
          </ac:spMkLst>
        </pc:spChg>
        <pc:spChg chg="mod">
          <ac:chgData name="Laila Hamza" userId="37e3e0ed-4d92-4d8b-9466-2e38223b7fdf" providerId="ADAL" clId="{C4F51FD1-E34C-424C-8E22-3D0597D7201F}" dt="2026-08-04T01:45:10.677" v="2608" actId="1036"/>
          <ac:spMkLst>
            <pc:docMk/>
            <pc:sldMk cId="0" sldId="262"/>
            <ac:spMk id="7" creationId="{00000000-0000-0000-0000-000000000000}"/>
          </ac:spMkLst>
        </pc:spChg>
        <pc:spChg chg="mod">
          <ac:chgData name="Laila Hamza" userId="37e3e0ed-4d92-4d8b-9466-2e38223b7fdf" providerId="ADAL" clId="{C4F51FD1-E34C-424C-8E22-3D0597D7201F}" dt="2026-08-04T01:45:10.677" v="2608" actId="1036"/>
          <ac:spMkLst>
            <pc:docMk/>
            <pc:sldMk cId="0" sldId="262"/>
            <ac:spMk id="11" creationId="{00000000-0000-0000-0000-000000000000}"/>
          </ac:spMkLst>
        </pc:spChg>
        <pc:spChg chg="mod">
          <ac:chgData name="Laila Hamza" userId="37e3e0ed-4d92-4d8b-9466-2e38223b7fdf" providerId="ADAL" clId="{C4F51FD1-E34C-424C-8E22-3D0597D7201F}" dt="2026-08-04T01:45:10.677" v="2608" actId="1036"/>
          <ac:spMkLst>
            <pc:docMk/>
            <pc:sldMk cId="0" sldId="262"/>
            <ac:spMk id="14" creationId="{00000000-0000-0000-0000-000000000000}"/>
          </ac:spMkLst>
        </pc:spChg>
        <pc:spChg chg="mod">
          <ac:chgData name="Laila Hamza" userId="37e3e0ed-4d92-4d8b-9466-2e38223b7fdf" providerId="ADAL" clId="{C4F51FD1-E34C-424C-8E22-3D0597D7201F}" dt="2026-08-04T01:45:10.677" v="2608" actId="1036"/>
          <ac:spMkLst>
            <pc:docMk/>
            <pc:sldMk cId="0" sldId="262"/>
            <ac:spMk id="16" creationId="{00000000-0000-0000-0000-000000000000}"/>
          </ac:spMkLst>
        </pc:spChg>
        <pc:spChg chg="mod">
          <ac:chgData name="Laila Hamza" userId="37e3e0ed-4d92-4d8b-9466-2e38223b7fdf" providerId="ADAL" clId="{C4F51FD1-E34C-424C-8E22-3D0597D7201F}" dt="2026-08-04T01:45:10.677" v="2608" actId="1036"/>
          <ac:spMkLst>
            <pc:docMk/>
            <pc:sldMk cId="0" sldId="262"/>
            <ac:spMk id="17" creationId="{00000000-0000-0000-0000-000000000000}"/>
          </ac:spMkLst>
        </pc:spChg>
        <pc:spChg chg="mod">
          <ac:chgData name="Laila Hamza" userId="37e3e0ed-4d92-4d8b-9466-2e38223b7fdf" providerId="ADAL" clId="{C4F51FD1-E34C-424C-8E22-3D0597D7201F}" dt="2026-08-04T01:45:10.677" v="2608" actId="1036"/>
          <ac:spMkLst>
            <pc:docMk/>
            <pc:sldMk cId="0" sldId="262"/>
            <ac:spMk id="19" creationId="{00000000-0000-0000-0000-000000000000}"/>
          </ac:spMkLst>
        </pc:spChg>
        <pc:spChg chg="mod">
          <ac:chgData name="Laila Hamza" userId="37e3e0ed-4d92-4d8b-9466-2e38223b7fdf" providerId="ADAL" clId="{C4F51FD1-E34C-424C-8E22-3D0597D7201F}" dt="2026-08-04T01:45:10.677" v="2608" actId="1036"/>
          <ac:spMkLst>
            <pc:docMk/>
            <pc:sldMk cId="0" sldId="262"/>
            <ac:spMk id="21" creationId="{00000000-0000-0000-0000-000000000000}"/>
          </ac:spMkLst>
        </pc:spChg>
        <pc:spChg chg="mod">
          <ac:chgData name="Laila Hamza" userId="37e3e0ed-4d92-4d8b-9466-2e38223b7fdf" providerId="ADAL" clId="{C4F51FD1-E34C-424C-8E22-3D0597D7201F}" dt="2026-08-04T01:45:10.677" v="2608" actId="1036"/>
          <ac:spMkLst>
            <pc:docMk/>
            <pc:sldMk cId="0" sldId="262"/>
            <ac:spMk id="22" creationId="{00000000-0000-0000-0000-000000000000}"/>
          </ac:spMkLst>
        </pc:spChg>
      </pc:sldChg>
      <pc:sldChg chg="modSp mod">
        <pc:chgData name="Laila Hamza" userId="37e3e0ed-4d92-4d8b-9466-2e38223b7fdf" providerId="ADAL" clId="{C4F51FD1-E34C-424C-8E22-3D0597D7201F}" dt="2026-08-04T01:43:11.322" v="2598" actId="1036"/>
        <pc:sldMkLst>
          <pc:docMk/>
          <pc:sldMk cId="0" sldId="263"/>
        </pc:sldMkLst>
        <pc:spChg chg="mod">
          <ac:chgData name="Laila Hamza" userId="37e3e0ed-4d92-4d8b-9466-2e38223b7fdf" providerId="ADAL" clId="{C4F51FD1-E34C-424C-8E22-3D0597D7201F}" dt="2026-08-04T01:43:11.322" v="2598" actId="1036"/>
          <ac:spMkLst>
            <pc:docMk/>
            <pc:sldMk cId="0" sldId="263"/>
            <ac:spMk id="4" creationId="{00000000-0000-0000-0000-000000000000}"/>
          </ac:spMkLst>
        </pc:spChg>
        <pc:spChg chg="mod">
          <ac:chgData name="Laila Hamza" userId="37e3e0ed-4d92-4d8b-9466-2e38223b7fdf" providerId="ADAL" clId="{C4F51FD1-E34C-424C-8E22-3D0597D7201F}" dt="2026-08-04T01:43:11.322" v="2598" actId="1036"/>
          <ac:spMkLst>
            <pc:docMk/>
            <pc:sldMk cId="0" sldId="263"/>
            <ac:spMk id="5" creationId="{00000000-0000-0000-0000-000000000000}"/>
          </ac:spMkLst>
        </pc:spChg>
        <pc:spChg chg="mod">
          <ac:chgData name="Laila Hamza" userId="37e3e0ed-4d92-4d8b-9466-2e38223b7fdf" providerId="ADAL" clId="{C4F51FD1-E34C-424C-8E22-3D0597D7201F}" dt="2026-08-04T01:43:11.322" v="2598" actId="1036"/>
          <ac:spMkLst>
            <pc:docMk/>
            <pc:sldMk cId="0" sldId="263"/>
            <ac:spMk id="7" creationId="{00000000-0000-0000-0000-000000000000}"/>
          </ac:spMkLst>
        </pc:spChg>
        <pc:spChg chg="mod">
          <ac:chgData name="Laila Hamza" userId="37e3e0ed-4d92-4d8b-9466-2e38223b7fdf" providerId="ADAL" clId="{C4F51FD1-E34C-424C-8E22-3D0597D7201F}" dt="2026-08-04T01:43:11.322" v="2598" actId="1036"/>
          <ac:spMkLst>
            <pc:docMk/>
            <pc:sldMk cId="0" sldId="263"/>
            <ac:spMk id="9" creationId="{00000000-0000-0000-0000-000000000000}"/>
          </ac:spMkLst>
        </pc:spChg>
        <pc:spChg chg="mod">
          <ac:chgData name="Laila Hamza" userId="37e3e0ed-4d92-4d8b-9466-2e38223b7fdf" providerId="ADAL" clId="{C4F51FD1-E34C-424C-8E22-3D0597D7201F}" dt="2026-08-04T01:43:11.322" v="2598" actId="1036"/>
          <ac:spMkLst>
            <pc:docMk/>
            <pc:sldMk cId="0" sldId="263"/>
            <ac:spMk id="10" creationId="{00000000-0000-0000-0000-000000000000}"/>
          </ac:spMkLst>
        </pc:spChg>
        <pc:spChg chg="mod">
          <ac:chgData name="Laila Hamza" userId="37e3e0ed-4d92-4d8b-9466-2e38223b7fdf" providerId="ADAL" clId="{C4F51FD1-E34C-424C-8E22-3D0597D7201F}" dt="2026-08-04T01:43:11.322" v="2598" actId="1036"/>
          <ac:spMkLst>
            <pc:docMk/>
            <pc:sldMk cId="0" sldId="263"/>
            <ac:spMk id="11" creationId="{00000000-0000-0000-0000-000000000000}"/>
          </ac:spMkLst>
        </pc:spChg>
        <pc:spChg chg="mod">
          <ac:chgData name="Laila Hamza" userId="37e3e0ed-4d92-4d8b-9466-2e38223b7fdf" providerId="ADAL" clId="{C4F51FD1-E34C-424C-8E22-3D0597D7201F}" dt="2026-08-04T01:43:11.322" v="2598" actId="1036"/>
          <ac:spMkLst>
            <pc:docMk/>
            <pc:sldMk cId="0" sldId="263"/>
            <ac:spMk id="16" creationId="{00000000-0000-0000-0000-000000000000}"/>
          </ac:spMkLst>
        </pc:spChg>
        <pc:spChg chg="mod">
          <ac:chgData name="Laila Hamza" userId="37e3e0ed-4d92-4d8b-9466-2e38223b7fdf" providerId="ADAL" clId="{C4F51FD1-E34C-424C-8E22-3D0597D7201F}" dt="2026-08-04T01:43:11.322" v="2598" actId="1036"/>
          <ac:spMkLst>
            <pc:docMk/>
            <pc:sldMk cId="0" sldId="263"/>
            <ac:spMk id="19" creationId="{00000000-0000-0000-0000-000000000000}"/>
          </ac:spMkLst>
        </pc:spChg>
        <pc:spChg chg="mod">
          <ac:chgData name="Laila Hamza" userId="37e3e0ed-4d92-4d8b-9466-2e38223b7fdf" providerId="ADAL" clId="{C4F51FD1-E34C-424C-8E22-3D0597D7201F}" dt="2026-08-04T01:43:11.322" v="2598" actId="1036"/>
          <ac:spMkLst>
            <pc:docMk/>
            <pc:sldMk cId="0" sldId="263"/>
            <ac:spMk id="21" creationId="{00000000-0000-0000-0000-000000000000}"/>
          </ac:spMkLst>
        </pc:spChg>
        <pc:spChg chg="mod">
          <ac:chgData name="Laila Hamza" userId="37e3e0ed-4d92-4d8b-9466-2e38223b7fdf" providerId="ADAL" clId="{C4F51FD1-E34C-424C-8E22-3D0597D7201F}" dt="2026-08-04T01:43:11.322" v="2598" actId="1036"/>
          <ac:spMkLst>
            <pc:docMk/>
            <pc:sldMk cId="0" sldId="263"/>
            <ac:spMk id="23" creationId="{00000000-0000-0000-0000-000000000000}"/>
          </ac:spMkLst>
        </pc:spChg>
      </pc:sldChg>
      <pc:sldChg chg="modSp mod">
        <pc:chgData name="Laila Hamza" userId="37e3e0ed-4d92-4d8b-9466-2e38223b7fdf" providerId="ADAL" clId="{C4F51FD1-E34C-424C-8E22-3D0597D7201F}" dt="2026-08-04T16:22:57.194" v="2846" actId="1036"/>
        <pc:sldMkLst>
          <pc:docMk/>
          <pc:sldMk cId="0" sldId="264"/>
        </pc:sldMkLst>
        <pc:spChg chg="mod">
          <ac:chgData name="Laila Hamza" userId="37e3e0ed-4d92-4d8b-9466-2e38223b7fdf" providerId="ADAL" clId="{C4F51FD1-E34C-424C-8E22-3D0597D7201F}" dt="2026-08-04T16:22:57.194" v="2846" actId="1036"/>
          <ac:spMkLst>
            <pc:docMk/>
            <pc:sldMk cId="0" sldId="264"/>
            <ac:spMk id="3" creationId="{00000000-0000-0000-0000-000000000000}"/>
          </ac:spMkLst>
        </pc:spChg>
        <pc:spChg chg="mod">
          <ac:chgData name="Laila Hamza" userId="37e3e0ed-4d92-4d8b-9466-2e38223b7fdf" providerId="ADAL" clId="{C4F51FD1-E34C-424C-8E22-3D0597D7201F}" dt="2026-08-04T16:22:50.393" v="2838" actId="1036"/>
          <ac:spMkLst>
            <pc:docMk/>
            <pc:sldMk cId="0" sldId="264"/>
            <ac:spMk id="7" creationId="{00000000-0000-0000-0000-000000000000}"/>
          </ac:spMkLst>
        </pc:spChg>
        <pc:spChg chg="mod">
          <ac:chgData name="Laila Hamza" userId="37e3e0ed-4d92-4d8b-9466-2e38223b7fdf" providerId="ADAL" clId="{C4F51FD1-E34C-424C-8E22-3D0597D7201F}" dt="2026-08-04T16:22:50.393" v="2838" actId="1036"/>
          <ac:spMkLst>
            <pc:docMk/>
            <pc:sldMk cId="0" sldId="264"/>
            <ac:spMk id="10" creationId="{00000000-0000-0000-0000-000000000000}"/>
          </ac:spMkLst>
        </pc:spChg>
        <pc:spChg chg="mod">
          <ac:chgData name="Laila Hamza" userId="37e3e0ed-4d92-4d8b-9466-2e38223b7fdf" providerId="ADAL" clId="{C4F51FD1-E34C-424C-8E22-3D0597D7201F}" dt="2026-08-04T16:22:50.393" v="2838" actId="1036"/>
          <ac:spMkLst>
            <pc:docMk/>
            <pc:sldMk cId="0" sldId="264"/>
            <ac:spMk id="18" creationId="{00000000-0000-0000-0000-000000000000}"/>
          </ac:spMkLst>
        </pc:spChg>
        <pc:spChg chg="mod">
          <ac:chgData name="Laila Hamza" userId="37e3e0ed-4d92-4d8b-9466-2e38223b7fdf" providerId="ADAL" clId="{C4F51FD1-E34C-424C-8E22-3D0597D7201F}" dt="2026-08-04T16:22:50.393" v="2838" actId="1036"/>
          <ac:spMkLst>
            <pc:docMk/>
            <pc:sldMk cId="0" sldId="264"/>
            <ac:spMk id="23" creationId="{00000000-0000-0000-0000-000000000000}"/>
          </ac:spMkLst>
        </pc:spChg>
        <pc:spChg chg="mod">
          <ac:chgData name="Laila Hamza" userId="37e3e0ed-4d92-4d8b-9466-2e38223b7fdf" providerId="ADAL" clId="{C4F51FD1-E34C-424C-8E22-3D0597D7201F}" dt="2026-08-04T16:22:50.393" v="2838" actId="1036"/>
          <ac:spMkLst>
            <pc:docMk/>
            <pc:sldMk cId="0" sldId="264"/>
            <ac:spMk id="24" creationId="{00000000-0000-0000-0000-000000000000}"/>
          </ac:spMkLst>
        </pc:spChg>
        <pc:spChg chg="mod">
          <ac:chgData name="Laila Hamza" userId="37e3e0ed-4d92-4d8b-9466-2e38223b7fdf" providerId="ADAL" clId="{C4F51FD1-E34C-424C-8E22-3D0597D7201F}" dt="2026-08-04T16:22:50.393" v="2838" actId="1036"/>
          <ac:spMkLst>
            <pc:docMk/>
            <pc:sldMk cId="0" sldId="264"/>
            <ac:spMk id="32" creationId="{00000000-0000-0000-0000-000000000000}"/>
          </ac:spMkLst>
        </pc:spChg>
        <pc:spChg chg="mod">
          <ac:chgData name="Laila Hamza" userId="37e3e0ed-4d92-4d8b-9466-2e38223b7fdf" providerId="ADAL" clId="{C4F51FD1-E34C-424C-8E22-3D0597D7201F}" dt="2026-08-04T16:22:50.393" v="2838" actId="1036"/>
          <ac:spMkLst>
            <pc:docMk/>
            <pc:sldMk cId="0" sldId="264"/>
            <ac:spMk id="37" creationId="{00000000-0000-0000-0000-000000000000}"/>
          </ac:spMkLst>
        </pc:spChg>
        <pc:spChg chg="mod">
          <ac:chgData name="Laila Hamza" userId="37e3e0ed-4d92-4d8b-9466-2e38223b7fdf" providerId="ADAL" clId="{C4F51FD1-E34C-424C-8E22-3D0597D7201F}" dt="2026-08-04T16:22:50.393" v="2838" actId="1036"/>
          <ac:spMkLst>
            <pc:docMk/>
            <pc:sldMk cId="0" sldId="264"/>
            <ac:spMk id="38" creationId="{00000000-0000-0000-0000-000000000000}"/>
          </ac:spMkLst>
        </pc:spChg>
        <pc:spChg chg="mod">
          <ac:chgData name="Laila Hamza" userId="37e3e0ed-4d92-4d8b-9466-2e38223b7fdf" providerId="ADAL" clId="{C4F51FD1-E34C-424C-8E22-3D0597D7201F}" dt="2026-08-04T16:22:50.393" v="2838" actId="1036"/>
          <ac:spMkLst>
            <pc:docMk/>
            <pc:sldMk cId="0" sldId="264"/>
            <ac:spMk id="39" creationId="{00000000-0000-0000-0000-000000000000}"/>
          </ac:spMkLst>
        </pc:spChg>
        <pc:spChg chg="mod">
          <ac:chgData name="Laila Hamza" userId="37e3e0ed-4d92-4d8b-9466-2e38223b7fdf" providerId="ADAL" clId="{C4F51FD1-E34C-424C-8E22-3D0597D7201F}" dt="2026-08-04T16:22:50.393" v="2838" actId="1036"/>
          <ac:spMkLst>
            <pc:docMk/>
            <pc:sldMk cId="0" sldId="264"/>
            <ac:spMk id="40" creationId="{00000000-0000-0000-0000-000000000000}"/>
          </ac:spMkLst>
        </pc:spChg>
      </pc:sldChg>
      <pc:sldChg chg="modSp mod modNotesTx">
        <pc:chgData name="Laila Hamza" userId="37e3e0ed-4d92-4d8b-9466-2e38223b7fdf" providerId="ADAL" clId="{C4F51FD1-E34C-424C-8E22-3D0597D7201F}" dt="2026-08-04T19:32:01.795" v="2955" actId="20577"/>
        <pc:sldMkLst>
          <pc:docMk/>
          <pc:sldMk cId="0" sldId="265"/>
        </pc:sldMkLst>
        <pc:spChg chg="mod">
          <ac:chgData name="Laila Hamza" userId="37e3e0ed-4d92-4d8b-9466-2e38223b7fdf" providerId="ADAL" clId="{C4F51FD1-E34C-424C-8E22-3D0597D7201F}" dt="2026-08-04T19:31:48.167" v="2945" actId="1036"/>
          <ac:spMkLst>
            <pc:docMk/>
            <pc:sldMk cId="0" sldId="265"/>
            <ac:spMk id="3" creationId="{00000000-0000-0000-0000-000000000000}"/>
          </ac:spMkLst>
        </pc:spChg>
        <pc:spChg chg="mod">
          <ac:chgData name="Laila Hamza" userId="37e3e0ed-4d92-4d8b-9466-2e38223b7fdf" providerId="ADAL" clId="{C4F51FD1-E34C-424C-8E22-3D0597D7201F}" dt="2026-08-04T16:22:22.787" v="2821" actId="1036"/>
          <ac:spMkLst>
            <pc:docMk/>
            <pc:sldMk cId="0" sldId="265"/>
            <ac:spMk id="4" creationId="{00000000-0000-0000-0000-000000000000}"/>
          </ac:spMkLst>
        </pc:spChg>
        <pc:spChg chg="mod">
          <ac:chgData name="Laila Hamza" userId="37e3e0ed-4d92-4d8b-9466-2e38223b7fdf" providerId="ADAL" clId="{C4F51FD1-E34C-424C-8E22-3D0597D7201F}" dt="2026-08-04T16:22:22.787" v="2821" actId="1036"/>
          <ac:spMkLst>
            <pc:docMk/>
            <pc:sldMk cId="0" sldId="265"/>
            <ac:spMk id="5" creationId="{00000000-0000-0000-0000-000000000000}"/>
          </ac:spMkLst>
        </pc:spChg>
        <pc:spChg chg="mod">
          <ac:chgData name="Laila Hamza" userId="37e3e0ed-4d92-4d8b-9466-2e38223b7fdf" providerId="ADAL" clId="{C4F51FD1-E34C-424C-8E22-3D0597D7201F}" dt="2026-08-04T16:22:10.744" v="2803" actId="1036"/>
          <ac:spMkLst>
            <pc:docMk/>
            <pc:sldMk cId="0" sldId="265"/>
            <ac:spMk id="6" creationId="{00000000-0000-0000-0000-000000000000}"/>
          </ac:spMkLst>
        </pc:spChg>
        <pc:spChg chg="mod">
          <ac:chgData name="Laila Hamza" userId="37e3e0ed-4d92-4d8b-9466-2e38223b7fdf" providerId="ADAL" clId="{C4F51FD1-E34C-424C-8E22-3D0597D7201F}" dt="2026-08-04T16:22:22.787" v="2821" actId="1036"/>
          <ac:spMkLst>
            <pc:docMk/>
            <pc:sldMk cId="0" sldId="265"/>
            <ac:spMk id="7" creationId="{00000000-0000-0000-0000-000000000000}"/>
          </ac:spMkLst>
        </pc:spChg>
        <pc:spChg chg="mod">
          <ac:chgData name="Laila Hamza" userId="37e3e0ed-4d92-4d8b-9466-2e38223b7fdf" providerId="ADAL" clId="{C4F51FD1-E34C-424C-8E22-3D0597D7201F}" dt="2026-08-04T16:22:22.787" v="2821" actId="1036"/>
          <ac:spMkLst>
            <pc:docMk/>
            <pc:sldMk cId="0" sldId="265"/>
            <ac:spMk id="8" creationId="{00000000-0000-0000-0000-000000000000}"/>
          </ac:spMkLst>
        </pc:spChg>
        <pc:spChg chg="mod">
          <ac:chgData name="Laila Hamza" userId="37e3e0ed-4d92-4d8b-9466-2e38223b7fdf" providerId="ADAL" clId="{C4F51FD1-E34C-424C-8E22-3D0597D7201F}" dt="2026-08-04T16:22:22.787" v="2821" actId="1036"/>
          <ac:spMkLst>
            <pc:docMk/>
            <pc:sldMk cId="0" sldId="265"/>
            <ac:spMk id="10" creationId="{00000000-0000-0000-0000-000000000000}"/>
          </ac:spMkLst>
        </pc:spChg>
        <pc:spChg chg="mod">
          <ac:chgData name="Laila Hamza" userId="37e3e0ed-4d92-4d8b-9466-2e38223b7fdf" providerId="ADAL" clId="{C4F51FD1-E34C-424C-8E22-3D0597D7201F}" dt="2026-08-04T16:22:22.787" v="2821" actId="1036"/>
          <ac:spMkLst>
            <pc:docMk/>
            <pc:sldMk cId="0" sldId="265"/>
            <ac:spMk id="11" creationId="{00000000-0000-0000-0000-000000000000}"/>
          </ac:spMkLst>
        </pc:spChg>
        <pc:spChg chg="mod">
          <ac:chgData name="Laila Hamza" userId="37e3e0ed-4d92-4d8b-9466-2e38223b7fdf" providerId="ADAL" clId="{C4F51FD1-E34C-424C-8E22-3D0597D7201F}" dt="2026-08-04T16:22:22.787" v="2821" actId="1036"/>
          <ac:spMkLst>
            <pc:docMk/>
            <pc:sldMk cId="0" sldId="265"/>
            <ac:spMk id="12" creationId="{00000000-0000-0000-0000-000000000000}"/>
          </ac:spMkLst>
        </pc:spChg>
        <pc:spChg chg="mod">
          <ac:chgData name="Laila Hamza" userId="37e3e0ed-4d92-4d8b-9466-2e38223b7fdf" providerId="ADAL" clId="{C4F51FD1-E34C-424C-8E22-3D0597D7201F}" dt="2026-08-04T16:22:22.787" v="2821" actId="1036"/>
          <ac:spMkLst>
            <pc:docMk/>
            <pc:sldMk cId="0" sldId="265"/>
            <ac:spMk id="14" creationId="{00000000-0000-0000-0000-000000000000}"/>
          </ac:spMkLst>
        </pc:spChg>
        <pc:spChg chg="mod">
          <ac:chgData name="Laila Hamza" userId="37e3e0ed-4d92-4d8b-9466-2e38223b7fdf" providerId="ADAL" clId="{C4F51FD1-E34C-424C-8E22-3D0597D7201F}" dt="2026-08-04T16:22:10.744" v="2803" actId="1036"/>
          <ac:spMkLst>
            <pc:docMk/>
            <pc:sldMk cId="0" sldId="265"/>
            <ac:spMk id="15" creationId="{00000000-0000-0000-0000-000000000000}"/>
          </ac:spMkLst>
        </pc:spChg>
        <pc:spChg chg="mod">
          <ac:chgData name="Laila Hamza" userId="37e3e0ed-4d92-4d8b-9466-2e38223b7fdf" providerId="ADAL" clId="{C4F51FD1-E34C-424C-8E22-3D0597D7201F}" dt="2026-08-04T16:22:22.787" v="2821" actId="1036"/>
          <ac:spMkLst>
            <pc:docMk/>
            <pc:sldMk cId="0" sldId="265"/>
            <ac:spMk id="16" creationId="{00000000-0000-0000-0000-000000000000}"/>
          </ac:spMkLst>
        </pc:spChg>
        <pc:spChg chg="mod">
          <ac:chgData name="Laila Hamza" userId="37e3e0ed-4d92-4d8b-9466-2e38223b7fdf" providerId="ADAL" clId="{C4F51FD1-E34C-424C-8E22-3D0597D7201F}" dt="2026-08-04T16:22:22.787" v="2821" actId="1036"/>
          <ac:spMkLst>
            <pc:docMk/>
            <pc:sldMk cId="0" sldId="265"/>
            <ac:spMk id="18" creationId="{00000000-0000-0000-0000-000000000000}"/>
          </ac:spMkLst>
        </pc:spChg>
        <pc:spChg chg="mod">
          <ac:chgData name="Laila Hamza" userId="37e3e0ed-4d92-4d8b-9466-2e38223b7fdf" providerId="ADAL" clId="{C4F51FD1-E34C-424C-8E22-3D0597D7201F}" dt="2026-08-04T16:22:10.744" v="2803" actId="1036"/>
          <ac:spMkLst>
            <pc:docMk/>
            <pc:sldMk cId="0" sldId="265"/>
            <ac:spMk id="21" creationId="{00000000-0000-0000-0000-000000000000}"/>
          </ac:spMkLst>
        </pc:spChg>
      </pc:sldChg>
      <pc:sldChg chg="addSp delSp modSp mod modNotesTx">
        <pc:chgData name="Laila Hamza" userId="37e3e0ed-4d92-4d8b-9466-2e38223b7fdf" providerId="ADAL" clId="{C4F51FD1-E34C-424C-8E22-3D0597D7201F}" dt="2026-08-04T19:32:17.886" v="2962" actId="20577"/>
        <pc:sldMkLst>
          <pc:docMk/>
          <pc:sldMk cId="0" sldId="266"/>
        </pc:sldMkLst>
        <pc:spChg chg="mod">
          <ac:chgData name="Laila Hamza" userId="37e3e0ed-4d92-4d8b-9466-2e38223b7fdf" providerId="ADAL" clId="{C4F51FD1-E34C-424C-8E22-3D0597D7201F}" dt="2026-08-04T16:19:56.160" v="2704" actId="1036"/>
          <ac:spMkLst>
            <pc:docMk/>
            <pc:sldMk cId="0" sldId="266"/>
            <ac:spMk id="3" creationId="{00000000-0000-0000-0000-000000000000}"/>
          </ac:spMkLst>
        </pc:spChg>
        <pc:spChg chg="mod">
          <ac:chgData name="Laila Hamza" userId="37e3e0ed-4d92-4d8b-9466-2e38223b7fdf" providerId="ADAL" clId="{C4F51FD1-E34C-424C-8E22-3D0597D7201F}" dt="2026-08-04T16:19:51.461" v="2698" actId="1036"/>
          <ac:spMkLst>
            <pc:docMk/>
            <pc:sldMk cId="0" sldId="266"/>
            <ac:spMk id="4" creationId="{00000000-0000-0000-0000-000000000000}"/>
          </ac:spMkLst>
        </pc:spChg>
        <pc:spChg chg="mod">
          <ac:chgData name="Laila Hamza" userId="37e3e0ed-4d92-4d8b-9466-2e38223b7fdf" providerId="ADAL" clId="{C4F51FD1-E34C-424C-8E22-3D0597D7201F}" dt="2026-08-04T16:19:51.461" v="2698" actId="1036"/>
          <ac:spMkLst>
            <pc:docMk/>
            <pc:sldMk cId="0" sldId="266"/>
            <ac:spMk id="5" creationId="{00000000-0000-0000-0000-000000000000}"/>
          </ac:spMkLst>
        </pc:spChg>
        <pc:spChg chg="mod">
          <ac:chgData name="Laila Hamza" userId="37e3e0ed-4d92-4d8b-9466-2e38223b7fdf" providerId="ADAL" clId="{C4F51FD1-E34C-424C-8E22-3D0597D7201F}" dt="2026-08-04T19:32:17.886" v="2962" actId="20577"/>
          <ac:spMkLst>
            <pc:docMk/>
            <pc:sldMk cId="0" sldId="266"/>
            <ac:spMk id="6" creationId="{00000000-0000-0000-0000-000000000000}"/>
          </ac:spMkLst>
        </pc:spChg>
        <pc:spChg chg="mod">
          <ac:chgData name="Laila Hamza" userId="37e3e0ed-4d92-4d8b-9466-2e38223b7fdf" providerId="ADAL" clId="{C4F51FD1-E34C-424C-8E22-3D0597D7201F}" dt="2026-08-04T17:35:44.926" v="2905" actId="20577"/>
          <ac:spMkLst>
            <pc:docMk/>
            <pc:sldMk cId="0" sldId="266"/>
            <ac:spMk id="9" creationId="{00000000-0000-0000-0000-000000000000}"/>
          </ac:spMkLst>
        </pc:spChg>
        <pc:spChg chg="mod">
          <ac:chgData name="Laila Hamza" userId="37e3e0ed-4d92-4d8b-9466-2e38223b7fdf" providerId="ADAL" clId="{C4F51FD1-E34C-424C-8E22-3D0597D7201F}" dt="2026-08-04T17:36:32.701" v="2937" actId="20577"/>
          <ac:spMkLst>
            <pc:docMk/>
            <pc:sldMk cId="0" sldId="266"/>
            <ac:spMk id="12" creationId="{00000000-0000-0000-0000-000000000000}"/>
          </ac:spMkLst>
        </pc:spChg>
        <pc:spChg chg="add del mod">
          <ac:chgData name="Laila Hamza" userId="37e3e0ed-4d92-4d8b-9466-2e38223b7fdf" providerId="ADAL" clId="{C4F51FD1-E34C-424C-8E22-3D0597D7201F}" dt="2026-08-04T16:21:55.804" v="2781"/>
          <ac:spMkLst>
            <pc:docMk/>
            <pc:sldMk cId="0" sldId="266"/>
            <ac:spMk id="13" creationId="{D8AE4382-C895-6CEF-2AEF-660A43E870FB}"/>
          </ac:spMkLst>
        </pc:spChg>
      </pc:sldChg>
      <pc:sldChg chg="addSp delSp modSp mod ord modNotesTx">
        <pc:chgData name="Laila Hamza" userId="37e3e0ed-4d92-4d8b-9466-2e38223b7fdf" providerId="ADAL" clId="{C4F51FD1-E34C-424C-8E22-3D0597D7201F}" dt="2026-08-04T00:07:55.593" v="2311" actId="20577"/>
        <pc:sldMkLst>
          <pc:docMk/>
          <pc:sldMk cId="0" sldId="268"/>
        </pc:sldMkLst>
        <pc:spChg chg="mod">
          <ac:chgData name="Laila Hamza" userId="37e3e0ed-4d92-4d8b-9466-2e38223b7fdf" providerId="ADAL" clId="{C4F51FD1-E34C-424C-8E22-3D0597D7201F}" dt="2026-08-03T21:54:58.728" v="2174" actId="255"/>
          <ac:spMkLst>
            <pc:docMk/>
            <pc:sldMk cId="0" sldId="268"/>
            <ac:spMk id="2" creationId="{00000000-0000-0000-0000-000000000000}"/>
          </ac:spMkLst>
        </pc:spChg>
        <pc:spChg chg="mod">
          <ac:chgData name="Laila Hamza" userId="37e3e0ed-4d92-4d8b-9466-2e38223b7fdf" providerId="ADAL" clId="{C4F51FD1-E34C-424C-8E22-3D0597D7201F}" dt="2026-08-03T21:24:00.049" v="423" actId="20577"/>
          <ac:spMkLst>
            <pc:docMk/>
            <pc:sldMk cId="0" sldId="268"/>
            <ac:spMk id="3" creationId="{00000000-0000-0000-0000-000000000000}"/>
          </ac:spMkLst>
        </pc:spChg>
        <pc:spChg chg="mod">
          <ac:chgData name="Laila Hamza" userId="37e3e0ed-4d92-4d8b-9466-2e38223b7fdf" providerId="ADAL" clId="{C4F51FD1-E34C-424C-8E22-3D0597D7201F}" dt="2026-08-03T21:16:40.362" v="400" actId="1035"/>
          <ac:spMkLst>
            <pc:docMk/>
            <pc:sldMk cId="0" sldId="268"/>
            <ac:spMk id="4" creationId="{00000000-0000-0000-0000-000000000000}"/>
          </ac:spMkLst>
        </pc:spChg>
        <pc:spChg chg="mod">
          <ac:chgData name="Laila Hamza" userId="37e3e0ed-4d92-4d8b-9466-2e38223b7fdf" providerId="ADAL" clId="{C4F51FD1-E34C-424C-8E22-3D0597D7201F}" dt="2026-08-03T21:16:40.362" v="400" actId="1035"/>
          <ac:spMkLst>
            <pc:docMk/>
            <pc:sldMk cId="0" sldId="268"/>
            <ac:spMk id="5" creationId="{00000000-0000-0000-0000-000000000000}"/>
          </ac:spMkLst>
        </pc:spChg>
        <pc:spChg chg="mod">
          <ac:chgData name="Laila Hamza" userId="37e3e0ed-4d92-4d8b-9466-2e38223b7fdf" providerId="ADAL" clId="{C4F51FD1-E34C-424C-8E22-3D0597D7201F}" dt="2026-08-03T21:16:40.362" v="400" actId="1035"/>
          <ac:spMkLst>
            <pc:docMk/>
            <pc:sldMk cId="0" sldId="268"/>
            <ac:spMk id="6" creationId="{00000000-0000-0000-0000-000000000000}"/>
          </ac:spMkLst>
        </pc:spChg>
        <pc:spChg chg="mod">
          <ac:chgData name="Laila Hamza" userId="37e3e0ed-4d92-4d8b-9466-2e38223b7fdf" providerId="ADAL" clId="{C4F51FD1-E34C-424C-8E22-3D0597D7201F}" dt="2026-08-03T21:27:41.161" v="510" actId="20577"/>
          <ac:spMkLst>
            <pc:docMk/>
            <pc:sldMk cId="0" sldId="268"/>
            <ac:spMk id="7" creationId="{00000000-0000-0000-0000-000000000000}"/>
          </ac:spMkLst>
        </pc:spChg>
        <pc:spChg chg="mod">
          <ac:chgData name="Laila Hamza" userId="37e3e0ed-4d92-4d8b-9466-2e38223b7fdf" providerId="ADAL" clId="{C4F51FD1-E34C-424C-8E22-3D0597D7201F}" dt="2026-08-03T21:26:14.024" v="463" actId="1035"/>
          <ac:spMkLst>
            <pc:docMk/>
            <pc:sldMk cId="0" sldId="268"/>
            <ac:spMk id="8" creationId="{00000000-0000-0000-0000-000000000000}"/>
          </ac:spMkLst>
        </pc:spChg>
        <pc:spChg chg="mod">
          <ac:chgData name="Laila Hamza" userId="37e3e0ed-4d92-4d8b-9466-2e38223b7fdf" providerId="ADAL" clId="{C4F51FD1-E34C-424C-8E22-3D0597D7201F}" dt="2026-08-03T21:16:40.362" v="400" actId="1035"/>
          <ac:spMkLst>
            <pc:docMk/>
            <pc:sldMk cId="0" sldId="268"/>
            <ac:spMk id="9" creationId="{00000000-0000-0000-0000-000000000000}"/>
          </ac:spMkLst>
        </pc:spChg>
        <pc:spChg chg="mod">
          <ac:chgData name="Laila Hamza" userId="37e3e0ed-4d92-4d8b-9466-2e38223b7fdf" providerId="ADAL" clId="{C4F51FD1-E34C-424C-8E22-3D0597D7201F}" dt="2026-08-03T21:16:40.362" v="400" actId="1035"/>
          <ac:spMkLst>
            <pc:docMk/>
            <pc:sldMk cId="0" sldId="268"/>
            <ac:spMk id="10" creationId="{00000000-0000-0000-0000-000000000000}"/>
          </ac:spMkLst>
        </pc:spChg>
        <pc:spChg chg="mod">
          <ac:chgData name="Laila Hamza" userId="37e3e0ed-4d92-4d8b-9466-2e38223b7fdf" providerId="ADAL" clId="{C4F51FD1-E34C-424C-8E22-3D0597D7201F}" dt="2026-08-03T21:16:40.362" v="400" actId="1035"/>
          <ac:spMkLst>
            <pc:docMk/>
            <pc:sldMk cId="0" sldId="268"/>
            <ac:spMk id="11" creationId="{00000000-0000-0000-0000-000000000000}"/>
          </ac:spMkLst>
        </pc:spChg>
        <pc:spChg chg="del mod">
          <ac:chgData name="Laila Hamza" userId="37e3e0ed-4d92-4d8b-9466-2e38223b7fdf" providerId="ADAL" clId="{C4F51FD1-E34C-424C-8E22-3D0597D7201F}" dt="2026-08-03T19:00:49.846" v="252" actId="478"/>
          <ac:spMkLst>
            <pc:docMk/>
            <pc:sldMk cId="0" sldId="268"/>
            <ac:spMk id="12" creationId="{00000000-0000-0000-0000-000000000000}"/>
          </ac:spMkLst>
        </pc:spChg>
        <pc:spChg chg="mod">
          <ac:chgData name="Laila Hamza" userId="37e3e0ed-4d92-4d8b-9466-2e38223b7fdf" providerId="ADAL" clId="{C4F51FD1-E34C-424C-8E22-3D0597D7201F}" dt="2026-08-03T21:27:57.031" v="548" actId="20577"/>
          <ac:spMkLst>
            <pc:docMk/>
            <pc:sldMk cId="0" sldId="268"/>
            <ac:spMk id="13" creationId="{00000000-0000-0000-0000-000000000000}"/>
          </ac:spMkLst>
        </pc:spChg>
        <pc:spChg chg="mod">
          <ac:chgData name="Laila Hamza" userId="37e3e0ed-4d92-4d8b-9466-2e38223b7fdf" providerId="ADAL" clId="{C4F51FD1-E34C-424C-8E22-3D0597D7201F}" dt="2026-08-03T18:57:27.841" v="49" actId="1036"/>
          <ac:spMkLst>
            <pc:docMk/>
            <pc:sldMk cId="0" sldId="268"/>
            <ac:spMk id="14" creationId="{00000000-0000-0000-0000-000000000000}"/>
          </ac:spMkLst>
        </pc:spChg>
        <pc:spChg chg="mod">
          <ac:chgData name="Laila Hamza" userId="37e3e0ed-4d92-4d8b-9466-2e38223b7fdf" providerId="ADAL" clId="{C4F51FD1-E34C-424C-8E22-3D0597D7201F}" dt="2026-08-03T18:57:23.450" v="32" actId="1036"/>
          <ac:spMkLst>
            <pc:docMk/>
            <pc:sldMk cId="0" sldId="268"/>
            <ac:spMk id="15" creationId="{00000000-0000-0000-0000-000000000000}"/>
          </ac:spMkLst>
        </pc:spChg>
        <pc:spChg chg="mod">
          <ac:chgData name="Laila Hamza" userId="37e3e0ed-4d92-4d8b-9466-2e38223b7fdf" providerId="ADAL" clId="{C4F51FD1-E34C-424C-8E22-3D0597D7201F}" dt="2026-08-03T18:57:49.342" v="98" actId="1036"/>
          <ac:spMkLst>
            <pc:docMk/>
            <pc:sldMk cId="0" sldId="268"/>
            <ac:spMk id="16" creationId="{00000000-0000-0000-0000-000000000000}"/>
          </ac:spMkLst>
        </pc:spChg>
        <pc:spChg chg="mod">
          <ac:chgData name="Laila Hamza" userId="37e3e0ed-4d92-4d8b-9466-2e38223b7fdf" providerId="ADAL" clId="{C4F51FD1-E34C-424C-8E22-3D0597D7201F}" dt="2026-08-03T18:57:42.764" v="80" actId="1076"/>
          <ac:spMkLst>
            <pc:docMk/>
            <pc:sldMk cId="0" sldId="268"/>
            <ac:spMk id="17" creationId="{00000000-0000-0000-0000-000000000000}"/>
          </ac:spMkLst>
        </pc:spChg>
        <pc:spChg chg="add mod">
          <ac:chgData name="Laila Hamza" userId="37e3e0ed-4d92-4d8b-9466-2e38223b7fdf" providerId="ADAL" clId="{C4F51FD1-E34C-424C-8E22-3D0597D7201F}" dt="2026-08-03T21:24:39.556" v="425" actId="13822"/>
          <ac:spMkLst>
            <pc:docMk/>
            <pc:sldMk cId="0" sldId="268"/>
            <ac:spMk id="20" creationId="{82D668D1-5950-7954-BD4A-C157B4C308B9}"/>
          </ac:spMkLst>
        </pc:spChg>
        <pc:spChg chg="add mod">
          <ac:chgData name="Laila Hamza" userId="37e3e0ed-4d92-4d8b-9466-2e38223b7fdf" providerId="ADAL" clId="{C4F51FD1-E34C-424C-8E22-3D0597D7201F}" dt="2026-08-03T21:24:58.477" v="427" actId="1076"/>
          <ac:spMkLst>
            <pc:docMk/>
            <pc:sldMk cId="0" sldId="268"/>
            <ac:spMk id="22" creationId="{93EBD373-D3F0-EB7A-5D93-81A54D2FA944}"/>
          </ac:spMkLst>
        </pc:spChg>
        <pc:spChg chg="add del mod">
          <ac:chgData name="Laila Hamza" userId="37e3e0ed-4d92-4d8b-9466-2e38223b7fdf" providerId="ADAL" clId="{C4F51FD1-E34C-424C-8E22-3D0597D7201F}" dt="2026-08-03T21:28:12.763" v="549" actId="478"/>
          <ac:spMkLst>
            <pc:docMk/>
            <pc:sldMk cId="0" sldId="268"/>
            <ac:spMk id="24" creationId="{9C3C2261-C40F-24FA-C3B1-B42B0927C6CC}"/>
          </ac:spMkLst>
        </pc:spChg>
        <pc:spChg chg="add mod">
          <ac:chgData name="Laila Hamza" userId="37e3e0ed-4d92-4d8b-9466-2e38223b7fdf" providerId="ADAL" clId="{C4F51FD1-E34C-424C-8E22-3D0597D7201F}" dt="2026-08-03T21:27:08.172" v="466" actId="208"/>
          <ac:spMkLst>
            <pc:docMk/>
            <pc:sldMk cId="0" sldId="268"/>
            <ac:spMk id="25" creationId="{9E45933F-62B3-DB17-9880-9D02C2CE7A50}"/>
          </ac:spMkLst>
        </pc:spChg>
        <pc:spChg chg="add mod">
          <ac:chgData name="Laila Hamza" userId="37e3e0ed-4d92-4d8b-9466-2e38223b7fdf" providerId="ADAL" clId="{C4F51FD1-E34C-424C-8E22-3D0597D7201F}" dt="2026-08-03T21:28:38.220" v="558" actId="1036"/>
          <ac:spMkLst>
            <pc:docMk/>
            <pc:sldMk cId="0" sldId="268"/>
            <ac:spMk id="26" creationId="{28C2AFC5-4F63-EA7D-DBF6-D3DE564E3B0F}"/>
          </ac:spMkLst>
        </pc:spChg>
        <pc:spChg chg="add mod">
          <ac:chgData name="Laila Hamza" userId="37e3e0ed-4d92-4d8b-9466-2e38223b7fdf" providerId="ADAL" clId="{C4F51FD1-E34C-424C-8E22-3D0597D7201F}" dt="2026-08-03T21:29:10.349" v="564" actId="1035"/>
          <ac:spMkLst>
            <pc:docMk/>
            <pc:sldMk cId="0" sldId="268"/>
            <ac:spMk id="27" creationId="{BC90BAA5-362B-0CA8-90AB-EEC711B520D0}"/>
          </ac:spMkLst>
        </pc:spChg>
        <pc:picChg chg="add mod">
          <ac:chgData name="Laila Hamza" userId="37e3e0ed-4d92-4d8b-9466-2e38223b7fdf" providerId="ADAL" clId="{C4F51FD1-E34C-424C-8E22-3D0597D7201F}" dt="2026-08-03T21:23:52.797" v="417" actId="1076"/>
          <ac:picMkLst>
            <pc:docMk/>
            <pc:sldMk cId="0" sldId="268"/>
            <ac:picMk id="19" creationId="{490D057E-B4F7-6325-1E56-725FAEAE813B}"/>
          </ac:picMkLst>
        </pc:picChg>
      </pc:sldChg>
      <pc:sldChg chg="modSp mod">
        <pc:chgData name="Laila Hamza" userId="37e3e0ed-4d92-4d8b-9466-2e38223b7fdf" providerId="ADAL" clId="{C4F51FD1-E34C-424C-8E22-3D0597D7201F}" dt="2026-08-04T16:55:23.501" v="2891" actId="1036"/>
        <pc:sldMkLst>
          <pc:docMk/>
          <pc:sldMk cId="0" sldId="269"/>
        </pc:sldMkLst>
        <pc:spChg chg="mod">
          <ac:chgData name="Laila Hamza" userId="37e3e0ed-4d92-4d8b-9466-2e38223b7fdf" providerId="ADAL" clId="{C4F51FD1-E34C-424C-8E22-3D0597D7201F}" dt="2026-08-04T16:55:08.645" v="2883" actId="1036"/>
          <ac:spMkLst>
            <pc:docMk/>
            <pc:sldMk cId="0" sldId="269"/>
            <ac:spMk id="8" creationId="{00000000-0000-0000-0000-000000000000}"/>
          </ac:spMkLst>
        </pc:spChg>
        <pc:spChg chg="mod">
          <ac:chgData name="Laila Hamza" userId="37e3e0ed-4d92-4d8b-9466-2e38223b7fdf" providerId="ADAL" clId="{C4F51FD1-E34C-424C-8E22-3D0597D7201F}" dt="2026-08-04T16:55:08.645" v="2883" actId="1036"/>
          <ac:spMkLst>
            <pc:docMk/>
            <pc:sldMk cId="0" sldId="269"/>
            <ac:spMk id="9" creationId="{00000000-0000-0000-0000-000000000000}"/>
          </ac:spMkLst>
        </pc:spChg>
        <pc:spChg chg="mod">
          <ac:chgData name="Laila Hamza" userId="37e3e0ed-4d92-4d8b-9466-2e38223b7fdf" providerId="ADAL" clId="{C4F51FD1-E34C-424C-8E22-3D0597D7201F}" dt="2026-08-04T16:55:08.645" v="2883" actId="1036"/>
          <ac:spMkLst>
            <pc:docMk/>
            <pc:sldMk cId="0" sldId="269"/>
            <ac:spMk id="10" creationId="{00000000-0000-0000-0000-000000000000}"/>
          </ac:spMkLst>
        </pc:spChg>
        <pc:spChg chg="mod">
          <ac:chgData name="Laila Hamza" userId="37e3e0ed-4d92-4d8b-9466-2e38223b7fdf" providerId="ADAL" clId="{C4F51FD1-E34C-424C-8E22-3D0597D7201F}" dt="2026-08-04T16:55:01.299" v="2871" actId="1036"/>
          <ac:spMkLst>
            <pc:docMk/>
            <pc:sldMk cId="0" sldId="269"/>
            <ac:spMk id="16" creationId="{00000000-0000-0000-0000-000000000000}"/>
          </ac:spMkLst>
        </pc:spChg>
        <pc:spChg chg="mod">
          <ac:chgData name="Laila Hamza" userId="37e3e0ed-4d92-4d8b-9466-2e38223b7fdf" providerId="ADAL" clId="{C4F51FD1-E34C-424C-8E22-3D0597D7201F}" dt="2026-08-04T16:55:01.299" v="2871" actId="1036"/>
          <ac:spMkLst>
            <pc:docMk/>
            <pc:sldMk cId="0" sldId="269"/>
            <ac:spMk id="17" creationId="{00000000-0000-0000-0000-000000000000}"/>
          </ac:spMkLst>
        </pc:spChg>
        <pc:spChg chg="mod">
          <ac:chgData name="Laila Hamza" userId="37e3e0ed-4d92-4d8b-9466-2e38223b7fdf" providerId="ADAL" clId="{C4F51FD1-E34C-424C-8E22-3D0597D7201F}" dt="2026-08-04T16:55:01.299" v="2871" actId="1036"/>
          <ac:spMkLst>
            <pc:docMk/>
            <pc:sldMk cId="0" sldId="269"/>
            <ac:spMk id="18" creationId="{00000000-0000-0000-0000-000000000000}"/>
          </ac:spMkLst>
        </pc:spChg>
        <pc:spChg chg="mod">
          <ac:chgData name="Laila Hamza" userId="37e3e0ed-4d92-4d8b-9466-2e38223b7fdf" providerId="ADAL" clId="{C4F51FD1-E34C-424C-8E22-3D0597D7201F}" dt="2026-08-04T16:55:01.299" v="2871" actId="1036"/>
          <ac:spMkLst>
            <pc:docMk/>
            <pc:sldMk cId="0" sldId="269"/>
            <ac:spMk id="19" creationId="{00000000-0000-0000-0000-000000000000}"/>
          </ac:spMkLst>
        </pc:spChg>
        <pc:spChg chg="mod">
          <ac:chgData name="Laila Hamza" userId="37e3e0ed-4d92-4d8b-9466-2e38223b7fdf" providerId="ADAL" clId="{C4F51FD1-E34C-424C-8E22-3D0597D7201F}" dt="2026-08-04T16:55:01.299" v="2871" actId="1036"/>
          <ac:spMkLst>
            <pc:docMk/>
            <pc:sldMk cId="0" sldId="269"/>
            <ac:spMk id="21" creationId="{00000000-0000-0000-0000-000000000000}"/>
          </ac:spMkLst>
        </pc:spChg>
        <pc:spChg chg="mod">
          <ac:chgData name="Laila Hamza" userId="37e3e0ed-4d92-4d8b-9466-2e38223b7fdf" providerId="ADAL" clId="{C4F51FD1-E34C-424C-8E22-3D0597D7201F}" dt="2026-08-04T16:55:01.299" v="2871" actId="1036"/>
          <ac:spMkLst>
            <pc:docMk/>
            <pc:sldMk cId="0" sldId="269"/>
            <ac:spMk id="22" creationId="{00000000-0000-0000-0000-000000000000}"/>
          </ac:spMkLst>
        </pc:spChg>
        <pc:spChg chg="mod">
          <ac:chgData name="Laila Hamza" userId="37e3e0ed-4d92-4d8b-9466-2e38223b7fdf" providerId="ADAL" clId="{C4F51FD1-E34C-424C-8E22-3D0597D7201F}" dt="2026-08-04T16:55:23.501" v="2891" actId="1036"/>
          <ac:spMkLst>
            <pc:docMk/>
            <pc:sldMk cId="0" sldId="269"/>
            <ac:spMk id="23" creationId="{00000000-0000-0000-0000-000000000000}"/>
          </ac:spMkLst>
        </pc:spChg>
        <pc:spChg chg="mod">
          <ac:chgData name="Laila Hamza" userId="37e3e0ed-4d92-4d8b-9466-2e38223b7fdf" providerId="ADAL" clId="{C4F51FD1-E34C-424C-8E22-3D0597D7201F}" dt="2026-08-04T16:55:01.299" v="2871" actId="1036"/>
          <ac:spMkLst>
            <pc:docMk/>
            <pc:sldMk cId="0" sldId="269"/>
            <ac:spMk id="24" creationId="{00000000-0000-0000-0000-000000000000}"/>
          </ac:spMkLst>
        </pc:spChg>
        <pc:spChg chg="mod">
          <ac:chgData name="Laila Hamza" userId="37e3e0ed-4d92-4d8b-9466-2e38223b7fdf" providerId="ADAL" clId="{C4F51FD1-E34C-424C-8E22-3D0597D7201F}" dt="2026-08-04T16:55:08.645" v="2883" actId="1036"/>
          <ac:spMkLst>
            <pc:docMk/>
            <pc:sldMk cId="0" sldId="269"/>
            <ac:spMk id="26" creationId="{00000000-0000-0000-0000-000000000000}"/>
          </ac:spMkLst>
        </pc:spChg>
        <pc:spChg chg="mod">
          <ac:chgData name="Laila Hamza" userId="37e3e0ed-4d92-4d8b-9466-2e38223b7fdf" providerId="ADAL" clId="{C4F51FD1-E34C-424C-8E22-3D0597D7201F}" dt="2026-08-04T16:55:08.645" v="2883" actId="1036"/>
          <ac:spMkLst>
            <pc:docMk/>
            <pc:sldMk cId="0" sldId="269"/>
            <ac:spMk id="28" creationId="{00000000-0000-0000-0000-000000000000}"/>
          </ac:spMkLst>
        </pc:spChg>
        <pc:spChg chg="mod">
          <ac:chgData name="Laila Hamza" userId="37e3e0ed-4d92-4d8b-9466-2e38223b7fdf" providerId="ADAL" clId="{C4F51FD1-E34C-424C-8E22-3D0597D7201F}" dt="2026-08-04T16:55:08.645" v="2883" actId="1036"/>
          <ac:spMkLst>
            <pc:docMk/>
            <pc:sldMk cId="0" sldId="269"/>
            <ac:spMk id="29" creationId="{00000000-0000-0000-0000-000000000000}"/>
          </ac:spMkLst>
        </pc:spChg>
        <pc:spChg chg="mod">
          <ac:chgData name="Laila Hamza" userId="37e3e0ed-4d92-4d8b-9466-2e38223b7fdf" providerId="ADAL" clId="{C4F51FD1-E34C-424C-8E22-3D0597D7201F}" dt="2026-08-04T16:55:08.645" v="2883" actId="1036"/>
          <ac:spMkLst>
            <pc:docMk/>
            <pc:sldMk cId="0" sldId="269"/>
            <ac:spMk id="30" creationId="{00000000-0000-0000-0000-000000000000}"/>
          </ac:spMkLst>
        </pc:spChg>
        <pc:spChg chg="mod">
          <ac:chgData name="Laila Hamza" userId="37e3e0ed-4d92-4d8b-9466-2e38223b7fdf" providerId="ADAL" clId="{C4F51FD1-E34C-424C-8E22-3D0597D7201F}" dt="2026-08-04T16:55:08.645" v="2883" actId="1036"/>
          <ac:spMkLst>
            <pc:docMk/>
            <pc:sldMk cId="0" sldId="269"/>
            <ac:spMk id="32" creationId="{00000000-0000-0000-0000-000000000000}"/>
          </ac:spMkLst>
        </pc:spChg>
        <pc:spChg chg="mod">
          <ac:chgData name="Laila Hamza" userId="37e3e0ed-4d92-4d8b-9466-2e38223b7fdf" providerId="ADAL" clId="{C4F51FD1-E34C-424C-8E22-3D0597D7201F}" dt="2026-08-04T16:55:08.645" v="2883" actId="1036"/>
          <ac:spMkLst>
            <pc:docMk/>
            <pc:sldMk cId="0" sldId="269"/>
            <ac:spMk id="33" creationId="{00000000-0000-0000-0000-000000000000}"/>
          </ac:spMkLst>
        </pc:spChg>
        <pc:spChg chg="mod">
          <ac:chgData name="Laila Hamza" userId="37e3e0ed-4d92-4d8b-9466-2e38223b7fdf" providerId="ADAL" clId="{C4F51FD1-E34C-424C-8E22-3D0597D7201F}" dt="2026-08-04T16:55:08.645" v="2883" actId="1036"/>
          <ac:spMkLst>
            <pc:docMk/>
            <pc:sldMk cId="0" sldId="269"/>
            <ac:spMk id="36" creationId="{00000000-0000-0000-0000-000000000000}"/>
          </ac:spMkLst>
        </pc:spChg>
        <pc:spChg chg="mod">
          <ac:chgData name="Laila Hamza" userId="37e3e0ed-4d92-4d8b-9466-2e38223b7fdf" providerId="ADAL" clId="{C4F51FD1-E34C-424C-8E22-3D0597D7201F}" dt="2026-08-04T16:55:01.299" v="2871" actId="1036"/>
          <ac:spMkLst>
            <pc:docMk/>
            <pc:sldMk cId="0" sldId="269"/>
            <ac:spMk id="40" creationId="{00000000-0000-0000-0000-000000000000}"/>
          </ac:spMkLst>
        </pc:spChg>
        <pc:spChg chg="mod">
          <ac:chgData name="Laila Hamza" userId="37e3e0ed-4d92-4d8b-9466-2e38223b7fdf" providerId="ADAL" clId="{C4F51FD1-E34C-424C-8E22-3D0597D7201F}" dt="2026-08-04T16:55:01.299" v="2871" actId="1036"/>
          <ac:spMkLst>
            <pc:docMk/>
            <pc:sldMk cId="0" sldId="269"/>
            <ac:spMk id="4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2463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[ROLE: THE HOOK]</a:t>
            </a:r>
          </a:p>
          <a:p>
            <a:endParaRPr lang="en-US" dirty="0"/>
          </a:p>
          <a:p>
            <a:r>
              <a:rPr lang="en-US" dirty="0"/>
              <a:t>In 2023, I made $21,000 total. Here's my W-2 if you don't believe me. I was paying rent, tuition, and every bill on almost nothing, working through school just to make it work.</a:t>
            </a:r>
          </a:p>
          <a:p>
            <a:endParaRPr lang="en-US" dirty="0"/>
          </a:p>
          <a:p>
            <a:r>
              <a:rPr lang="en-US" dirty="0"/>
              <a:t>A friend, hearing me complain, said “just listen to some Dave Ramsey, you’ll be fine.” So I did — every day, at my boring office job, his videos in my ears.</a:t>
            </a:r>
          </a:p>
          <a:p>
            <a:endParaRPr lang="en-US" dirty="0"/>
          </a:p>
          <a:p>
            <a:r>
              <a:rPr lang="en-US" dirty="0"/>
              <a:t>Downloaded his app. It changed my life. I went from negative margin to saving over $1,000 in a few months.</a:t>
            </a:r>
          </a:p>
          <a:p>
            <a:endParaRPr lang="en-US" dirty="0"/>
          </a:p>
          <a:p>
            <a:r>
              <a:rPr lang="en-US" dirty="0"/>
              <a:t>Since then: new job, new income, new life. I’m on track for six figures this year. All from one thing — paying attention to my money.</a:t>
            </a:r>
          </a:p>
        </p:txBody>
      </p:sp>
    </p:spTree>
    <p:extLst>
      <p:ext uri="{BB962C8B-B14F-4D97-AF65-F5344CB8AC3E}">
        <p14:creationId xmlns:p14="http://schemas.microsoft.com/office/powerpoint/2010/main" val="2626429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THE INTRO]
Good evening. My name is Laila Hamza and this is Money in Plain English.
One sentence: we turn your past spending into forward guidance, so you stop overspending before it happens.
[Pause. Let it land. Move to next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THE PAIN]
42% live paycheck to paycheck. 24% have zero budget. Lowest financial literacy of any generation. Rough stats.
But here's the twist from my interviews: it's not a knowledge problem.
Noor, 24: "I double-think every purchase. My fix is just shop smarter." No system. No tool. Just intention.
That's the real gap. Not awareness, the step right after it. Nobody's building for that step.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THE GAP]
Mint shut down in March 2024, leaving 3.6 million users without a home. Intuit pushed them to Credit Karma, which makes money by selling you financial products, not by helping you spend less.
Every replacement app, YNAB, Monarch, Copilot, costs $95 to $109 a year and assumes you already want to budget. They are built for disciplined budgeters.
Nobody is building for the person before the budgeter. The person who knows they have a problem but has not started fixing it.
That is a $343 million market growing at 5 percent a year, with 2.17 million new college graduates entering it every single year.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SOLUTION - 60 seconds]
[ROLE: WHAT WE BUILT]
You upload a bank CSV to get started. Direct Plaid bank-sync is next on the roadmap. You set monthly budgets per category whenever you're ready. The app reads your transactions and auto-categorizes them using rules built from real spending data.
Then it sends you short weekly push notifications about your spending pace. Not an alarm. Not a dashboard you have to check. A nudge.
[Read the example on screen.] "Hey, you are about 50 percent into your food budget and we are only 30 percent into the month. Let us slow down and get back on pace."
Plain language. No financial jargon. Three words or less in the subject line. A financial advisor, right in your back pocket.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HOW IT WORKS - 60 seconds]</a:t>
            </a:r>
          </a:p>
          <a:p>
            <a:r>
              <a:rPr lang="en-US" dirty="0"/>
              <a:t>[ROLE: WHAT IT LOOKS LIKE]</a:t>
            </a:r>
          </a:p>
          <a:p>
            <a:endParaRPr lang="en-US" dirty="0"/>
          </a:p>
          <a:p>
            <a:r>
              <a:rPr lang="en-US" dirty="0"/>
              <a:t>Three notification tones, not one alarm mode — straight from my interviews.</a:t>
            </a:r>
          </a:p>
          <a:p>
            <a:endParaRPr lang="en-US" dirty="0"/>
          </a:p>
          <a:p>
            <a:r>
              <a:rPr lang="en-US" dirty="0"/>
              <a:t>A suggestion: you spent $47 on coffee this week, try brewing at home Tuesday and Thursday.</a:t>
            </a:r>
          </a:p>
          <a:p>
            <a:endParaRPr lang="en-US" dirty="0"/>
          </a:p>
          <a:p>
            <a:r>
              <a:rPr lang="en-US" dirty="0"/>
              <a:t>A pace-check: you're halfway through your food budget and we're not even a third into the month.</a:t>
            </a:r>
          </a:p>
          <a:p>
            <a:endParaRPr lang="en-US" dirty="0"/>
          </a:p>
          <a:p>
            <a:r>
              <a:rPr lang="en-US" dirty="0"/>
              <a:t>And praise: two weeks in a row under your dining budget. Keep going.</a:t>
            </a:r>
          </a:p>
          <a:p>
            <a:endParaRPr lang="en-US" dirty="0"/>
          </a:p>
          <a:p>
            <a:r>
              <a:rPr lang="en-US" dirty="0"/>
              <a:t>Notifications land in an Inbox tab for history, and a Summaries tab for weekly trends. Chatbot's on the roadmap, not live yet.</a:t>
            </a:r>
          </a:p>
          <a:p>
            <a:endParaRPr lang="en-US" dirty="0"/>
          </a:p>
          <a:p>
            <a:r>
              <a:rPr lang="en-US" dirty="0"/>
              <a:t>You can add checking and credit card accounts and spend rolls up automatically. Smart de-duplication for card payments isn't built yet — that's next.</a:t>
            </a:r>
          </a:p>
          <a:p>
            <a:endParaRPr lang="en-US" dirty="0"/>
          </a:p>
          <a:p>
            <a:r>
              <a:rPr lang="en-US" dirty="0"/>
              <a:t>[PAUSE FOR LIVE DEMO]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CUSTOMER DISCOVERY - 60 seconds]</a:t>
            </a:r>
          </a:p>
          <a:p>
            <a:r>
              <a:rPr lang="en-US" dirty="0"/>
              <a:t>[ROLE: WHY]</a:t>
            </a:r>
          </a:p>
          <a:p>
            <a:endParaRPr lang="en-US" dirty="0"/>
          </a:p>
          <a:p>
            <a:r>
              <a:rPr lang="en-US" dirty="0"/>
              <a:t>Every product decision you just saw came from real interviews, not assumptions.</a:t>
            </a:r>
          </a:p>
          <a:p>
            <a:endParaRPr lang="en-US" dirty="0"/>
          </a:p>
          <a:p>
            <a:r>
              <a:rPr lang="en-US" dirty="0"/>
              <a:t>My target customer is the “aware but does not act” segment. Noor and Emely from my interviews. They already know they overspend. Their fix is behavioral, not informational. They pay zero dollars for financial tools today.</a:t>
            </a:r>
          </a:p>
          <a:p>
            <a:endParaRPr lang="en-US" dirty="0"/>
          </a:p>
          <a:p>
            <a:r>
              <a:rPr lang="en-US" dirty="0"/>
              <a:t>I specifically chose NOT to build for Tamara's profile, someone who lacks basic visibility. That is a different product.</a:t>
            </a:r>
          </a:p>
          <a:p>
            <a:endParaRPr lang="en-US" dirty="0"/>
          </a:p>
          <a:p>
            <a:r>
              <a:rPr lang="en-US" dirty="0"/>
              <a:t>The $5.99 price point came from interviews. Three of my interviewees named a direct price when asked. CSV first, then Plaid came from the build order decision: fast, no compliance overhead, validate the core loop before spending on bank integrations.</a:t>
            </a:r>
          </a:p>
          <a:p>
            <a:endParaRPr lang="en-US" dirty="0"/>
          </a:p>
          <a:p>
            <a:r>
              <a:rPr lang="en-US" dirty="0"/>
              <a:t>Five assumptions tested. Three revised, two confirmed. I flagged the sample size as a risk. I need more interviews. I know that.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TRACTION - 60 seconds]</a:t>
            </a:r>
          </a:p>
          <a:p>
            <a:r>
              <a:rPr lang="en-US" dirty="0"/>
              <a:t>[ROLE: PROOF OF MOMENTUM]</a:t>
            </a:r>
          </a:p>
          <a:p>
            <a:endParaRPr lang="en-US" dirty="0"/>
          </a:p>
          <a:p>
            <a:r>
              <a:rPr lang="en-US" dirty="0"/>
              <a:t>Two types of traction: channel and product.</a:t>
            </a:r>
          </a:p>
          <a:p>
            <a:endParaRPr lang="en-US" dirty="0"/>
          </a:p>
          <a:p>
            <a:r>
              <a:rPr lang="en-US" dirty="0"/>
              <a:t>Channel: I posted on Instagram with the hook “you get paid, you are SO careful for like 3 days.” That pulled 1,917 views, 813 accounts reached, from a small personal account. 26 clicked through to my site. Zero signed up.</a:t>
            </a:r>
          </a:p>
          <a:p>
            <a:endParaRPr lang="en-US" dirty="0"/>
          </a:p>
          <a:p>
            <a:r>
              <a:rPr lang="en-US" dirty="0"/>
              <a:t>I'm being honest about that zero — the landing page had a form issue. But 26 clicks from a personal account tells me the hook works. The conversion problem is fixable.</a:t>
            </a:r>
          </a:p>
          <a:p>
            <a:endParaRPr lang="en-US" dirty="0"/>
          </a:p>
          <a:p>
            <a:r>
              <a:rPr lang="en-US" dirty="0"/>
              <a:t>Product: Phase 0 is complete. Full database schema, auth with cross-user isolation, a three-tab app shell, and a live check-in engine — on-demand or automatic weekly, saved with dates in both Inbox and Summaries. Deployed on Render with Sentry monitoring live. I found and fixed three real bugs during verification, including one that would have wiped the production database on every redeploy.</a:t>
            </a:r>
          </a:p>
          <a:p>
            <a:endParaRPr lang="en-US" dirty="0"/>
          </a:p>
          <a:p>
            <a:r>
              <a:rPr lang="en-US" dirty="0"/>
              <a:t>[If they ask: 8-phase plan, senior-engineer audit caught 6 gaps, plan was rewritten.]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MARKET SIZE - 45 seconds]</a:t>
            </a:r>
          </a:p>
          <a:p>
            <a:r>
              <a:rPr lang="en-US" dirty="0"/>
              <a:t>[ROLE: HOW BIG]</a:t>
            </a:r>
          </a:p>
          <a:p>
            <a:endParaRPr lang="en-US" dirty="0"/>
          </a:p>
          <a:p>
            <a:r>
              <a:rPr lang="en-US" dirty="0"/>
              <a:t>TAM: $343 million US personal finance software market. Growing at 5 percent CAGR.</a:t>
            </a:r>
          </a:p>
          <a:p>
            <a:endParaRPr lang="en-US" dirty="0"/>
          </a:p>
          <a:p>
            <a:r>
              <a:rPr lang="en-US" dirty="0"/>
              <a:t>SAM: roughly $115 million. That is the slice of US adults aged 22 to 28 who live paycheck to paycheck and would pay for a budgeting tool. About 1.6 million potential users.</a:t>
            </a:r>
          </a:p>
          <a:p>
            <a:endParaRPr lang="en-US" dirty="0"/>
          </a:p>
          <a:p>
            <a:r>
              <a:rPr lang="en-US" dirty="0"/>
              <a:t>SOM for year one: realistic target is 1,000 free users, 100 paying subscribers, roughly $7,000 in annual recurring revenue.</a:t>
            </a:r>
          </a:p>
          <a:p>
            <a:endParaRPr lang="en-US" dirty="0"/>
          </a:p>
          <a:p>
            <a:r>
              <a:rPr lang="en-US" dirty="0"/>
              <a:t>The key insight here: 2.17 million new bachelor's degrees are conferred every year. Every graduating class refills the customer pipeline. This is not a one-time market. It replenishes itself annually.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BUSINESS MODEL - 60 seconds]</a:t>
            </a:r>
          </a:p>
          <a:p>
            <a:r>
              <a:rPr lang="en-US" dirty="0"/>
              <a:t>[ROLE: HOW IT MAKES MONEY]</a:t>
            </a:r>
          </a:p>
          <a:p>
            <a:endParaRPr lang="en-US" dirty="0"/>
          </a:p>
          <a:p>
            <a:r>
              <a:rPr lang="en-US" dirty="0"/>
              <a:t>$5.99 a month, direct to consumer, with a 4-week free trial.</a:t>
            </a:r>
          </a:p>
          <a:p>
            <a:endParaRPr lang="en-US" dirty="0"/>
          </a:p>
          <a:p>
            <a:r>
              <a:rPr lang="en-US" dirty="0"/>
              <a:t>Variable cost per user: 89 cents — Plaid at 45, hosting at 25, AI processing at 3, support and email at 16. Gross margin: 85 percent.</a:t>
            </a:r>
          </a:p>
          <a:p>
            <a:endParaRPr lang="en-US" dirty="0"/>
          </a:p>
          <a:p>
            <a:r>
              <a:rPr lang="en-US" dirty="0"/>
              <a:t>Three scenarios on the right. Pessimistic, 100 paying users: we lose about $5,700 a month. Base, 200 users: about $5,200. Optimistic, 800 users: about $2,200.</a:t>
            </a:r>
          </a:p>
          <a:p>
            <a:endParaRPr lang="en-US" dirty="0"/>
          </a:p>
          <a:p>
            <a:r>
              <a:rPr lang="en-US" dirty="0"/>
              <a:t>Break-even is 1,226 paying subscribers — that covers all fixed costs, including SOC 2 compliance, cyber liability insurance, legal, and infrastructure, about $6,250 a month.</a:t>
            </a:r>
          </a:p>
          <a:p>
            <a:endParaRPr lang="en-US" dirty="0"/>
          </a:p>
          <a:p>
            <a:r>
              <a:rPr lang="en-US" dirty="0"/>
              <a:t>At $5.99 we need more scale to get there than we would have at a higher price — that's the honest tradeoff of pricing lower. Acquisition is what closes that gap.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COMPETITION - 45 seconds]</a:t>
            </a:r>
          </a:p>
          <a:p>
            <a:r>
              <a:rPr lang="en-US" dirty="0"/>
              <a:t>[ROLE: WHY US]</a:t>
            </a:r>
          </a:p>
          <a:p>
            <a:endParaRPr lang="en-US" dirty="0"/>
          </a:p>
          <a:p>
            <a:r>
              <a:rPr lang="en-US" dirty="0"/>
              <a:t>YNAB: $109 a year, zero-based budgeting, manually assign every dollar. Built for disciplined budgeters.</a:t>
            </a:r>
          </a:p>
          <a:p>
            <a:endParaRPr lang="en-US" dirty="0"/>
          </a:p>
          <a:p>
            <a:r>
              <a:rPr lang="en-US" dirty="0"/>
              <a:t>Monarch: $100 a year, most direct Mint replacement, $850 million valuation. Overwhelming for someone just starting out.</a:t>
            </a:r>
          </a:p>
          <a:p>
            <a:endParaRPr lang="en-US" dirty="0"/>
          </a:p>
          <a:p>
            <a:r>
              <a:rPr lang="en-US" dirty="0"/>
              <a:t>Credit Karma: free, but makes money selling you financial products — the last thing someone in debt needs.</a:t>
            </a:r>
          </a:p>
          <a:p>
            <a:endParaRPr lang="en-US" dirty="0"/>
          </a:p>
          <a:p>
            <a:r>
              <a:rPr lang="en-US" dirty="0"/>
              <a:t>Money in Plain English: $5.99 a month. $72/yr. Proactive nudges, not reactive tracking. We're the on-ramp, not the highway.</a:t>
            </a:r>
          </a:p>
          <a:p>
            <a:endParaRPr lang="en-US" dirty="0"/>
          </a:p>
          <a:p>
            <a:r>
              <a:rPr lang="en-US" dirty="0"/>
              <a:t>Our lane: the 36 percent of Gen Z who know they overspend but have no system yet. Nobody else is there.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FOUNDER - 45 seconds]</a:t>
            </a:r>
          </a:p>
          <a:p>
            <a:r>
              <a:rPr lang="en-US" dirty="0"/>
              <a:t>[ROLE: WHY ME]</a:t>
            </a:r>
          </a:p>
          <a:p>
            <a:endParaRPr lang="en-US" dirty="0"/>
          </a:p>
          <a:p>
            <a:r>
              <a:rPr lang="en-US" dirty="0"/>
              <a:t>Why me. I'm a recent grad, transferred from UCF to Rollins, worked over 30 hours a week through school. I watched myself and my peers hit the same wall — bills, rent, car payments, insurance, all at once, no prior experience. Not theoretical. I lived it.</a:t>
            </a:r>
          </a:p>
          <a:p>
            <a:endParaRPr lang="en-US" dirty="0"/>
          </a:p>
          <a:p>
            <a:r>
              <a:rPr lang="en-US" dirty="0"/>
              <a:t>I ran a senior-engineer audit on my own plan, accepted what mattered, rejected the scope creep with documented reasoning, rewrote the plan, then built and verified Phase 0 against its acceptance criteria.</a:t>
            </a:r>
          </a:p>
          <a:p>
            <a:endParaRPr lang="en-US" dirty="0"/>
          </a:p>
          <a:p>
            <a:r>
              <a:rPr lang="en-US" dirty="0"/>
              <a:t>Previous venture: a Depop resale business. Not my first time building from scratch.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ASK - 45 seconds]</a:t>
            </a:r>
          </a:p>
          <a:p>
            <a:r>
              <a:rPr lang="en-US" dirty="0"/>
              <a:t>[ROLE: THE ASK]</a:t>
            </a:r>
          </a:p>
          <a:p>
            <a:endParaRPr lang="en-US" dirty="0"/>
          </a:p>
          <a:p>
            <a:r>
              <a:rPr lang="en-US" dirty="0"/>
              <a:t>Where we are, what's next. Now, weeks 11-12: finishing CSV import and recruiting 5-10 pilot users. The check-in engine's already built.</a:t>
            </a:r>
          </a:p>
          <a:p>
            <a:endParaRPr lang="en-US" dirty="0"/>
          </a:p>
          <a:p>
            <a:r>
              <a:rPr lang="en-US" dirty="0"/>
              <a:t>Months 2-3: run the pilot. Core question — do weekly nudges change spending? If yes, we add Plaid and iterate on notification copy.</a:t>
            </a:r>
          </a:p>
          <a:p>
            <a:endParaRPr lang="en-US" dirty="0"/>
          </a:p>
          <a:p>
            <a:r>
              <a:rPr lang="en-US" dirty="0"/>
              <a:t>Months 4-6: public launch with subscription billing, the chatbot, and exploring B2B2C.</a:t>
            </a:r>
          </a:p>
          <a:p>
            <a:endParaRPr lang="en-US" dirty="0"/>
          </a:p>
          <a:p>
            <a:r>
              <a:rPr lang="en-US" dirty="0"/>
              <a:t>My ask: feedback on the model, connections to recent grads willing to pilot, and introductions in fintech or financial wellness.</a:t>
            </a:r>
          </a:p>
          <a:p>
            <a:endParaRPr lang="en-US" dirty="0"/>
          </a:p>
          <a:p>
            <a:r>
              <a:rPr lang="en-US" dirty="0"/>
              <a:t>What took me two years to figure out alone, I want to help someone else do in six months. Thank you.</a:t>
            </a:r>
          </a:p>
          <a:p>
            <a:endParaRPr lang="en-US" dirty="0"/>
          </a:p>
          <a:p>
            <a:r>
              <a:rPr lang="en-US" dirty="0"/>
              <a:t>[Stop. Wait for questions. Do not keep talking.]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THE ASK - 30 seconds]</a:t>
            </a:r>
          </a:p>
          <a:p>
            <a:r>
              <a:rPr lang="en-US" dirty="0"/>
              <a:t>[ROLE: WHAT WE'RE RAISING AND WHY]</a:t>
            </a:r>
          </a:p>
          <a:p>
            <a:endParaRPr lang="en-US" dirty="0"/>
          </a:p>
          <a:p>
            <a:r>
              <a:rPr lang="en-US" dirty="0"/>
              <a:t>I'm raising $20,000 — three months of fixed costs at $6,250 a month, plus a small buffer.</a:t>
            </a:r>
          </a:p>
          <a:p>
            <a:endParaRPr lang="en-US" dirty="0"/>
          </a:p>
          <a:p>
            <a:r>
              <a:rPr lang="en-US" dirty="0"/>
              <a:t>This is a validation round, not a launch round. It funds recruiting 5-10 pilot users and integrating Plaid so the core loop runs on real bank data.</a:t>
            </a:r>
          </a:p>
          <a:p>
            <a:endParaRPr lang="en-US" dirty="0"/>
          </a:p>
          <a:p>
            <a:r>
              <a:rPr lang="en-US" dirty="0"/>
              <a:t>The question it answers: does a weekly nudge change spending? If yes, that data earns the case for a seed round to fund launch.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7F4"/>
        </a:solidFill>
        <a:effectLst/>
      </p:bgPr>
    </p:bg>
    <p:spTree>
      <p:nvGrpSpPr>
        <p:cNvPr id="1" name=""/>
        <p:cNvGrpSpPr/>
        <p:nvPr/>
      </p:nvGrpSpPr>
      <p:grpSpPr>
        <a:xfrm>
          <a:off x="0" y="0"/>
          <a:ext cx="0" cy="0"/>
          <a:chOff x="0" y="0"/>
          <a:chExt cx="0" cy="0"/>
        </a:xfrm>
      </p:grpSpPr>
      <p:sp>
        <p:nvSpPr>
          <p:cNvPr id="2" name="Text 0"/>
          <p:cNvSpPr/>
          <p:nvPr/>
        </p:nvSpPr>
        <p:spPr>
          <a:xfrm>
            <a:off x="507951" y="300605"/>
            <a:ext cx="2765828" cy="226395"/>
          </a:xfrm>
          <a:prstGeom prst="rect">
            <a:avLst/>
          </a:prstGeom>
          <a:noFill/>
          <a:ln/>
        </p:spPr>
        <p:txBody>
          <a:bodyPr wrap="square" lIns="0" tIns="0" rIns="0" bIns="0" rtlCol="0" anchor="t"/>
          <a:lstStyle/>
          <a:p>
            <a:pPr marL="0" indent="0" algn="l">
              <a:spcAft>
                <a:spcPts val="600"/>
              </a:spcAft>
              <a:buNone/>
            </a:pPr>
            <a:r>
              <a:rPr lang="en-US" sz="1400" b="1" dirty="0">
                <a:solidFill>
                  <a:srgbClr val="5A9171"/>
                </a:solidFill>
                <a:latin typeface="Arial" pitchFamily="34" charset="0"/>
                <a:ea typeface="Arial" pitchFamily="34" charset="-122"/>
                <a:cs typeface="Arial" pitchFamily="34" charset="-120"/>
              </a:rPr>
              <a:t>MY STORY</a:t>
            </a:r>
            <a:endParaRPr lang="en-US" sz="1400" dirty="0"/>
          </a:p>
        </p:txBody>
      </p:sp>
      <p:sp>
        <p:nvSpPr>
          <p:cNvPr id="3" name="Text 1"/>
          <p:cNvSpPr/>
          <p:nvPr/>
        </p:nvSpPr>
        <p:spPr>
          <a:xfrm>
            <a:off x="399677" y="846937"/>
            <a:ext cx="5700889" cy="792361"/>
          </a:xfrm>
          <a:prstGeom prst="rect">
            <a:avLst/>
          </a:prstGeom>
          <a:noFill/>
          <a:ln/>
        </p:spPr>
        <p:txBody>
          <a:bodyPr wrap="square" lIns="0" tIns="0" rIns="0" bIns="0" rtlCol="0" anchor="t"/>
          <a:lstStyle/>
          <a:p>
            <a:pPr marL="0" indent="0">
              <a:lnSpc>
                <a:spcPts val="3120"/>
              </a:lnSpc>
              <a:spcAft>
                <a:spcPts val="1400"/>
              </a:spcAft>
              <a:buNone/>
            </a:pPr>
            <a:r>
              <a:rPr lang="en-US" sz="2600" dirty="0">
                <a:solidFill>
                  <a:srgbClr val="2D2D2D"/>
                </a:solidFill>
                <a:latin typeface="Aptos" panose="020B0004020202020204" pitchFamily="34" charset="0"/>
                <a:ea typeface="Arial" pitchFamily="34" charset="-122"/>
                <a:cs typeface="Arial" pitchFamily="34" charset="-120"/>
              </a:rPr>
              <a:t>In 2023, I was dead broke. A friend said,</a:t>
            </a:r>
            <a:endParaRPr lang="en-US" sz="2600" dirty="0">
              <a:latin typeface="Aptos" panose="020B0004020202020204" pitchFamily="34" charset="0"/>
            </a:endParaRPr>
          </a:p>
          <a:p>
            <a:pPr marL="0" indent="0">
              <a:lnSpc>
                <a:spcPts val="3120"/>
              </a:lnSpc>
              <a:spcAft>
                <a:spcPts val="1400"/>
              </a:spcAft>
              <a:buNone/>
            </a:pPr>
            <a:r>
              <a:rPr lang="en-US" sz="2600" dirty="0">
                <a:solidFill>
                  <a:srgbClr val="2D2D2D"/>
                </a:solidFill>
                <a:latin typeface="Aptos" panose="020B0004020202020204" pitchFamily="34" charset="0"/>
                <a:ea typeface="Arial" pitchFamily="34" charset="-122"/>
                <a:cs typeface="Arial" pitchFamily="34" charset="-120"/>
              </a:rPr>
              <a:t>"just listen to Dave Ramsey."</a:t>
            </a:r>
            <a:endParaRPr lang="en-US" sz="2600" dirty="0">
              <a:latin typeface="Aptos" panose="020B0004020202020204" pitchFamily="34" charset="0"/>
            </a:endParaRPr>
          </a:p>
        </p:txBody>
      </p:sp>
      <p:sp>
        <p:nvSpPr>
          <p:cNvPr id="4" name="Text 2"/>
          <p:cNvSpPr/>
          <p:nvPr/>
        </p:nvSpPr>
        <p:spPr>
          <a:xfrm>
            <a:off x="507950" y="2544111"/>
            <a:ext cx="3975199" cy="1187202"/>
          </a:xfrm>
          <a:prstGeom prst="roundRect">
            <a:avLst>
              <a:gd name="adj" fmla="val 8558"/>
            </a:avLst>
          </a:prstGeom>
          <a:solidFill>
            <a:srgbClr val="FFFFFF"/>
          </a:solidFill>
          <a:ln/>
        </p:spPr>
        <p:txBody>
          <a:bodyPr wrap="square" rtlCol="0" anchor="ctr"/>
          <a:lstStyle/>
          <a:p>
            <a:pPr marL="0" indent="0">
              <a:buNone/>
            </a:pPr>
            <a:endParaRPr lang="en-US" dirty="0"/>
          </a:p>
        </p:txBody>
      </p:sp>
      <p:sp>
        <p:nvSpPr>
          <p:cNvPr id="5" name="Shape 3"/>
          <p:cNvSpPr/>
          <p:nvPr/>
        </p:nvSpPr>
        <p:spPr>
          <a:xfrm>
            <a:off x="527000" y="2544111"/>
            <a:ext cx="0" cy="1187202"/>
          </a:xfrm>
          <a:prstGeom prst="line">
            <a:avLst/>
          </a:prstGeom>
          <a:noFill/>
          <a:ln w="38100">
            <a:solidFill>
              <a:srgbClr val="D64545"/>
            </a:solidFill>
            <a:prstDash val="solid"/>
          </a:ln>
        </p:spPr>
        <p:txBody>
          <a:bodyPr/>
          <a:lstStyle/>
          <a:p>
            <a:endParaRPr lang="en-US" dirty="0"/>
          </a:p>
        </p:txBody>
      </p:sp>
      <p:sp>
        <p:nvSpPr>
          <p:cNvPr id="6" name="Text 4"/>
          <p:cNvSpPr/>
          <p:nvPr/>
        </p:nvSpPr>
        <p:spPr>
          <a:xfrm>
            <a:off x="723751" y="2721812"/>
            <a:ext cx="3653332" cy="152400"/>
          </a:xfrm>
          <a:prstGeom prst="rect">
            <a:avLst/>
          </a:prstGeom>
          <a:noFill/>
          <a:ln/>
        </p:spPr>
        <p:txBody>
          <a:bodyPr wrap="square" lIns="0" tIns="0" rIns="0" bIns="0" rtlCol="0" anchor="t"/>
          <a:lstStyle/>
          <a:p>
            <a:pPr marL="0" indent="0" algn="l">
              <a:spcAft>
                <a:spcPts val="400"/>
              </a:spcAft>
              <a:buNone/>
            </a:pPr>
            <a:r>
              <a:rPr lang="en-US" sz="1100" b="1" dirty="0">
                <a:solidFill>
                  <a:srgbClr val="D64545"/>
                </a:solidFill>
                <a:latin typeface="Arial" pitchFamily="34" charset="0"/>
                <a:ea typeface="Arial" pitchFamily="34" charset="-122"/>
                <a:cs typeface="Arial" pitchFamily="34" charset="-120"/>
              </a:rPr>
              <a:t>Before</a:t>
            </a:r>
            <a:endParaRPr lang="en-US" sz="1100" dirty="0"/>
          </a:p>
        </p:txBody>
      </p:sp>
      <p:sp>
        <p:nvSpPr>
          <p:cNvPr id="7" name="Text 5"/>
          <p:cNvSpPr/>
          <p:nvPr/>
        </p:nvSpPr>
        <p:spPr>
          <a:xfrm>
            <a:off x="723751" y="2924962"/>
            <a:ext cx="3653332" cy="628650"/>
          </a:xfrm>
          <a:prstGeom prst="rect">
            <a:avLst/>
          </a:prstGeom>
          <a:noFill/>
          <a:ln/>
        </p:spPr>
        <p:txBody>
          <a:bodyPr wrap="square" lIns="0" tIns="0" rIns="0" bIns="0" rtlCol="0" anchor="t"/>
          <a:lstStyle/>
          <a:p>
            <a:pPr marL="0" indent="0" algn="l">
              <a:lnSpc>
                <a:spcPts val="1650"/>
              </a:lnSpc>
              <a:buNone/>
            </a:pPr>
            <a:r>
              <a:rPr lang="en-US" sz="1100" dirty="0">
                <a:solidFill>
                  <a:srgbClr val="2D2D2D"/>
                </a:solidFill>
                <a:latin typeface="Arial" pitchFamily="34" charset="0"/>
                <a:ea typeface="Arial" pitchFamily="34" charset="-122"/>
                <a:cs typeface="Arial" pitchFamily="34" charset="-120"/>
              </a:rPr>
              <a:t>Paying rent, tuition, and bills on almost nothing. Working 30+ hours a week through school. No system. No safety net. Just pinching every single penny.</a:t>
            </a:r>
            <a:endParaRPr lang="en-US" sz="1100" dirty="0"/>
          </a:p>
        </p:txBody>
      </p:sp>
      <p:sp>
        <p:nvSpPr>
          <p:cNvPr id="8" name="Text 6"/>
          <p:cNvSpPr/>
          <p:nvPr/>
        </p:nvSpPr>
        <p:spPr>
          <a:xfrm>
            <a:off x="4660850" y="2544111"/>
            <a:ext cx="3975199" cy="1187202"/>
          </a:xfrm>
          <a:prstGeom prst="roundRect">
            <a:avLst>
              <a:gd name="adj" fmla="val 8558"/>
            </a:avLst>
          </a:prstGeom>
          <a:solidFill>
            <a:srgbClr val="FFFFFF"/>
          </a:solidFill>
          <a:ln/>
        </p:spPr>
        <p:txBody>
          <a:bodyPr wrap="square" rtlCol="0" anchor="ctr"/>
          <a:lstStyle/>
          <a:p>
            <a:pPr marL="0" indent="0">
              <a:buNone/>
            </a:pPr>
            <a:endParaRPr lang="en-US" dirty="0"/>
          </a:p>
        </p:txBody>
      </p:sp>
      <p:sp>
        <p:nvSpPr>
          <p:cNvPr id="9" name="Shape 7"/>
          <p:cNvSpPr/>
          <p:nvPr/>
        </p:nvSpPr>
        <p:spPr>
          <a:xfrm>
            <a:off x="4679900" y="2544111"/>
            <a:ext cx="0" cy="1187202"/>
          </a:xfrm>
          <a:prstGeom prst="line">
            <a:avLst/>
          </a:prstGeom>
          <a:noFill/>
          <a:ln w="38100">
            <a:solidFill>
              <a:srgbClr val="3F9F5B"/>
            </a:solidFill>
            <a:prstDash val="solid"/>
          </a:ln>
        </p:spPr>
        <p:txBody>
          <a:bodyPr/>
          <a:lstStyle/>
          <a:p>
            <a:endParaRPr lang="en-US" dirty="0"/>
          </a:p>
        </p:txBody>
      </p:sp>
      <p:sp>
        <p:nvSpPr>
          <p:cNvPr id="10" name="Text 8"/>
          <p:cNvSpPr/>
          <p:nvPr/>
        </p:nvSpPr>
        <p:spPr>
          <a:xfrm>
            <a:off x="4876651" y="2721812"/>
            <a:ext cx="3653332" cy="152400"/>
          </a:xfrm>
          <a:prstGeom prst="rect">
            <a:avLst/>
          </a:prstGeom>
          <a:noFill/>
          <a:ln/>
        </p:spPr>
        <p:txBody>
          <a:bodyPr wrap="square" lIns="0" tIns="0" rIns="0" bIns="0" rtlCol="0" anchor="t"/>
          <a:lstStyle/>
          <a:p>
            <a:pPr marL="0" indent="0" algn="l">
              <a:spcAft>
                <a:spcPts val="400"/>
              </a:spcAft>
              <a:buNone/>
            </a:pPr>
            <a:r>
              <a:rPr lang="en-US" sz="1100" b="1" dirty="0">
                <a:solidFill>
                  <a:srgbClr val="3F9F5B"/>
                </a:solidFill>
                <a:latin typeface="Arial" pitchFamily="34" charset="0"/>
                <a:ea typeface="Arial" pitchFamily="34" charset="-122"/>
                <a:cs typeface="Arial" pitchFamily="34" charset="-120"/>
              </a:rPr>
              <a:t>After</a:t>
            </a:r>
            <a:endParaRPr lang="en-US" sz="1100" dirty="0"/>
          </a:p>
        </p:txBody>
      </p:sp>
      <p:sp>
        <p:nvSpPr>
          <p:cNvPr id="11" name="Text 9"/>
          <p:cNvSpPr/>
          <p:nvPr/>
        </p:nvSpPr>
        <p:spPr>
          <a:xfrm>
            <a:off x="4876651" y="2924962"/>
            <a:ext cx="3653332" cy="628650"/>
          </a:xfrm>
          <a:prstGeom prst="rect">
            <a:avLst/>
          </a:prstGeom>
          <a:noFill/>
          <a:ln/>
        </p:spPr>
        <p:txBody>
          <a:bodyPr wrap="square" lIns="0" tIns="0" rIns="0" bIns="0" rtlCol="0" anchor="t"/>
          <a:lstStyle/>
          <a:p>
            <a:pPr marL="0" indent="0" algn="l">
              <a:lnSpc>
                <a:spcPts val="1650"/>
              </a:lnSpc>
              <a:buNone/>
            </a:pPr>
            <a:r>
              <a:rPr lang="en-US" sz="1100" dirty="0">
                <a:solidFill>
                  <a:srgbClr val="2D2D2D"/>
                </a:solidFill>
                <a:latin typeface="Arial" pitchFamily="34" charset="0"/>
                <a:ea typeface="Arial" pitchFamily="34" charset="-122"/>
                <a:cs typeface="Arial" pitchFamily="34" charset="-120"/>
              </a:rPr>
              <a:t>Day after day at my office job, his videos in my ears. His principles changed everything. Different job, different income, different life.</a:t>
            </a:r>
            <a:endParaRPr lang="en-US" sz="1100" dirty="0"/>
          </a:p>
        </p:txBody>
      </p:sp>
      <p:sp>
        <p:nvSpPr>
          <p:cNvPr id="13" name="Text 11"/>
          <p:cNvSpPr/>
          <p:nvPr/>
        </p:nvSpPr>
        <p:spPr>
          <a:xfrm>
            <a:off x="711101" y="3925945"/>
            <a:ext cx="7876234" cy="461963"/>
          </a:xfrm>
          <a:prstGeom prst="rect">
            <a:avLst/>
          </a:prstGeom>
          <a:noFill/>
          <a:ln/>
        </p:spPr>
        <p:txBody>
          <a:bodyPr wrap="square" lIns="0" tIns="0" rIns="0" bIns="0" rtlCol="0" anchor="t"/>
          <a:lstStyle/>
          <a:p>
            <a:pPr marL="0" indent="0" algn="l">
              <a:lnSpc>
                <a:spcPts val="1820"/>
              </a:lnSpc>
              <a:buNone/>
            </a:pPr>
            <a:r>
              <a:rPr lang="en-US" sz="1300" b="1" dirty="0">
                <a:solidFill>
                  <a:srgbClr val="2D2D2D"/>
                </a:solidFill>
                <a:latin typeface="Arial" pitchFamily="34" charset="0"/>
                <a:ea typeface="Arial" pitchFamily="34" charset="-122"/>
                <a:cs typeface="Arial" pitchFamily="34" charset="-120"/>
              </a:rPr>
              <a:t>My philosophy: anything you pay attention to can grow. Anything you measure will grow.</a:t>
            </a:r>
            <a:endParaRPr lang="en-US" sz="1300" dirty="0"/>
          </a:p>
        </p:txBody>
      </p:sp>
      <p:sp>
        <p:nvSpPr>
          <p:cNvPr id="14" name="Text 12"/>
          <p:cNvSpPr/>
          <p:nvPr/>
        </p:nvSpPr>
        <p:spPr>
          <a:xfrm>
            <a:off x="507950" y="4413208"/>
            <a:ext cx="3304636" cy="209550"/>
          </a:xfrm>
          <a:prstGeom prst="rect">
            <a:avLst/>
          </a:prstGeom>
          <a:noFill/>
          <a:ln/>
        </p:spPr>
        <p:txBody>
          <a:bodyPr wrap="square" lIns="0" tIns="0" rIns="0" bIns="0" rtlCol="0" anchor="t"/>
          <a:lstStyle/>
          <a:p>
            <a:pPr marL="0" indent="0" algn="l">
              <a:buNone/>
            </a:pPr>
            <a:r>
              <a:rPr lang="en-US" sz="1400" b="1" dirty="0">
                <a:solidFill>
                  <a:srgbClr val="5A9171"/>
                </a:solidFill>
                <a:latin typeface="Arial" pitchFamily="34" charset="0"/>
                <a:ea typeface="Arial" pitchFamily="34" charset="-122"/>
                <a:cs typeface="Arial" pitchFamily="34" charset="-120"/>
              </a:rPr>
              <a:t>MONEY IN PLAIN ENGLISH</a:t>
            </a:r>
            <a:endParaRPr lang="en-US" sz="1400" dirty="0"/>
          </a:p>
        </p:txBody>
      </p:sp>
      <p:sp>
        <p:nvSpPr>
          <p:cNvPr id="15" name="Text 13"/>
          <p:cNvSpPr/>
          <p:nvPr/>
        </p:nvSpPr>
        <p:spPr>
          <a:xfrm>
            <a:off x="507950" y="4690495"/>
            <a:ext cx="3304636"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Dave Ramsey’s principles, rebuilt for our generation.</a:t>
            </a:r>
            <a:endParaRPr lang="en-US" sz="1100" dirty="0"/>
          </a:p>
        </p:txBody>
      </p:sp>
      <p:sp>
        <p:nvSpPr>
          <p:cNvPr id="16" name="Text 14"/>
          <p:cNvSpPr/>
          <p:nvPr/>
        </p:nvSpPr>
        <p:spPr>
          <a:xfrm>
            <a:off x="6276380" y="4448310"/>
            <a:ext cx="2406863" cy="171450"/>
          </a:xfrm>
          <a:prstGeom prst="rect">
            <a:avLst/>
          </a:prstGeom>
          <a:noFill/>
          <a:ln/>
        </p:spPr>
        <p:txBody>
          <a:bodyPr wrap="square" lIns="0" tIns="0" rIns="0" bIns="0" rtlCol="0" anchor="t"/>
          <a:lstStyle/>
          <a:p>
            <a:pPr marL="0" indent="0" algn="l">
              <a:buNone/>
            </a:pPr>
            <a:r>
              <a:rPr lang="en-US" sz="1200" dirty="0">
                <a:solidFill>
                  <a:srgbClr val="2D2D2D"/>
                </a:solidFill>
                <a:latin typeface="Arial" pitchFamily="34" charset="0"/>
                <a:ea typeface="Arial" pitchFamily="34" charset="-122"/>
                <a:cs typeface="Arial" pitchFamily="34" charset="-120"/>
              </a:rPr>
              <a:t>Laila Hamza</a:t>
            </a:r>
            <a:endParaRPr lang="en-US" sz="1200" dirty="0"/>
          </a:p>
        </p:txBody>
      </p:sp>
      <p:sp>
        <p:nvSpPr>
          <p:cNvPr id="17" name="Text 15"/>
          <p:cNvSpPr/>
          <p:nvPr/>
        </p:nvSpPr>
        <p:spPr>
          <a:xfrm>
            <a:off x="6276380" y="4698505"/>
            <a:ext cx="2406863" cy="142875"/>
          </a:xfrm>
          <a:prstGeom prst="rect">
            <a:avLst/>
          </a:prstGeom>
          <a:noFill/>
          <a:ln/>
        </p:spPr>
        <p:txBody>
          <a:bodyPr wrap="square" lIns="0" tIns="0" rIns="0" bIns="0" rtlCol="0" anchor="t"/>
          <a:lstStyle/>
          <a:p>
            <a:pPr marL="0" indent="0" algn="l">
              <a:buNone/>
            </a:pPr>
            <a:r>
              <a:rPr lang="en-US" sz="1000" dirty="0">
                <a:solidFill>
                  <a:srgbClr val="87B89D"/>
                </a:solidFill>
                <a:latin typeface="Arial" pitchFamily="34" charset="0"/>
                <a:ea typeface="Arial" pitchFamily="34" charset="-122"/>
                <a:cs typeface="Arial" pitchFamily="34" charset="-120"/>
              </a:rPr>
              <a:t>Rollins College | BUS 395 | Summer 2026</a:t>
            </a:r>
            <a:endParaRPr lang="en-US" sz="1000" dirty="0"/>
          </a:p>
        </p:txBody>
      </p:sp>
      <p:pic>
        <p:nvPicPr>
          <p:cNvPr id="19" name="Picture 18">
            <a:extLst>
              <a:ext uri="{FF2B5EF4-FFF2-40B4-BE49-F238E27FC236}">
                <a16:creationId xmlns:a16="http://schemas.microsoft.com/office/drawing/2014/main" id="{490D057E-B4F7-6325-1E56-725FAEAE813B}"/>
              </a:ext>
            </a:extLst>
          </p:cNvPr>
          <p:cNvPicPr>
            <a:picLocks noChangeAspect="1"/>
          </p:cNvPicPr>
          <p:nvPr/>
        </p:nvPicPr>
        <p:blipFill>
          <a:blip r:embed="rId3"/>
          <a:stretch>
            <a:fillRect/>
          </a:stretch>
        </p:blipFill>
        <p:spPr>
          <a:xfrm>
            <a:off x="6231405" y="18216"/>
            <a:ext cx="2343477" cy="2457793"/>
          </a:xfrm>
          <a:prstGeom prst="rect">
            <a:avLst/>
          </a:prstGeom>
        </p:spPr>
      </p:pic>
      <p:sp>
        <p:nvSpPr>
          <p:cNvPr id="20" name="Rectangle 19">
            <a:extLst>
              <a:ext uri="{FF2B5EF4-FFF2-40B4-BE49-F238E27FC236}">
                <a16:creationId xmlns:a16="http://schemas.microsoft.com/office/drawing/2014/main" id="{82D668D1-5950-7954-BD4A-C157B4C308B9}"/>
              </a:ext>
            </a:extLst>
          </p:cNvPr>
          <p:cNvSpPr/>
          <p:nvPr/>
        </p:nvSpPr>
        <p:spPr>
          <a:xfrm>
            <a:off x="6276380" y="1749778"/>
            <a:ext cx="1580687" cy="25964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93EBD373-D3F0-EB7A-5D93-81A54D2FA944}"/>
              </a:ext>
            </a:extLst>
          </p:cNvPr>
          <p:cNvSpPr/>
          <p:nvPr/>
        </p:nvSpPr>
        <p:spPr>
          <a:xfrm>
            <a:off x="6428780" y="1037728"/>
            <a:ext cx="1580687" cy="25964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9E45933F-62B3-DB17-9880-9D02C2CE7A50}"/>
              </a:ext>
            </a:extLst>
          </p:cNvPr>
          <p:cNvSpPr/>
          <p:nvPr/>
        </p:nvSpPr>
        <p:spPr>
          <a:xfrm>
            <a:off x="6807200" y="2322959"/>
            <a:ext cx="564444" cy="153050"/>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28C2AFC5-4F63-EA7D-DBF6-D3DE564E3B0F}"/>
              </a:ext>
            </a:extLst>
          </p:cNvPr>
          <p:cNvSpPr/>
          <p:nvPr/>
        </p:nvSpPr>
        <p:spPr>
          <a:xfrm>
            <a:off x="6276380" y="2077156"/>
            <a:ext cx="2253603" cy="153050"/>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BC90BAA5-362B-0CA8-90AB-EEC711B520D0}"/>
              </a:ext>
            </a:extLst>
          </p:cNvPr>
          <p:cNvSpPr/>
          <p:nvPr/>
        </p:nvSpPr>
        <p:spPr>
          <a:xfrm>
            <a:off x="6276380" y="493133"/>
            <a:ext cx="2253603" cy="194632"/>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2F7F4"/>
        </a:solidFill>
        <a:effectLst/>
      </p:bgPr>
    </p:bg>
    <p:spTree>
      <p:nvGrpSpPr>
        <p:cNvPr id="1" name=""/>
        <p:cNvGrpSpPr/>
        <p:nvPr/>
      </p:nvGrpSpPr>
      <p:grpSpPr>
        <a:xfrm>
          <a:off x="0" y="0"/>
          <a:ext cx="0" cy="0"/>
          <a:chOff x="0" y="0"/>
          <a:chExt cx="0" cy="0"/>
        </a:xfrm>
      </p:grpSpPr>
      <p:sp>
        <p:nvSpPr>
          <p:cNvPr id="2" name="Text 0"/>
          <p:cNvSpPr/>
          <p:nvPr/>
        </p:nvSpPr>
        <p:spPr>
          <a:xfrm>
            <a:off x="0" y="365760"/>
            <a:ext cx="9144000" cy="365760"/>
          </a:xfrm>
          <a:prstGeom prst="rect">
            <a:avLst/>
          </a:prstGeom>
          <a:noFill/>
          <a:ln/>
        </p:spPr>
        <p:txBody>
          <a:bodyPr wrap="square" lIns="0" tIns="0" rIns="0" bIns="0" rtlCol="0" anchor="t"/>
          <a:lstStyle/>
          <a:p>
            <a:pPr marL="0" indent="0" algn="ctr">
              <a:spcAft>
                <a:spcPts val="800"/>
              </a:spcAft>
              <a:buNone/>
            </a:pPr>
            <a:r>
              <a:rPr lang="en-US" sz="2800" b="1" dirty="0">
                <a:solidFill>
                  <a:srgbClr val="5A9171"/>
                </a:solidFill>
                <a:latin typeface="Arial" pitchFamily="34" charset="0"/>
                <a:ea typeface="Arial" pitchFamily="34" charset="-122"/>
                <a:cs typeface="Arial" pitchFamily="34" charset="-120"/>
              </a:rPr>
              <a:t>MONEY IN PLAIN ENGLISH</a:t>
            </a:r>
            <a:endParaRPr lang="en-US" sz="2800" dirty="0"/>
          </a:p>
        </p:txBody>
      </p:sp>
      <p:pic>
        <p:nvPicPr>
          <p:cNvPr id="8" name="Logo Mark"/>
          <p:cNvPicPr>
            <a:picLocks noChangeAspect="1"/>
          </p:cNvPicPr>
          <p:nvPr/>
        </p:nvPicPr>
        <p:blipFill>
          <a:blip r:embed="rId3"/>
          <a:stretch>
            <a:fillRect/>
          </a:stretch>
        </p:blipFill>
        <p:spPr>
          <a:xfrm>
            <a:off x="3536195" y="960120"/>
            <a:ext cx="2071610" cy="2300000"/>
          </a:xfrm>
          <a:prstGeom prst="rect">
            <a:avLst/>
          </a:prstGeom>
        </p:spPr>
      </p:pic>
      <p:sp>
        <p:nvSpPr>
          <p:cNvPr id="4" name="Text 2"/>
          <p:cNvSpPr/>
          <p:nvPr/>
        </p:nvSpPr>
        <p:spPr>
          <a:xfrm>
            <a:off x="0" y="3383280"/>
            <a:ext cx="9144000" cy="400050"/>
          </a:xfrm>
          <a:prstGeom prst="rect">
            <a:avLst/>
          </a:prstGeom>
          <a:noFill/>
          <a:ln/>
        </p:spPr>
        <p:txBody>
          <a:bodyPr wrap="square" lIns="0" tIns="0" rIns="0" bIns="0" rtlCol="0" anchor="t"/>
          <a:lstStyle/>
          <a:p>
            <a:pPr marL="0" indent="0" algn="ctr">
              <a:spcAft>
                <a:spcPts val="800"/>
              </a:spcAft>
              <a:buNone/>
            </a:pPr>
            <a:r>
              <a:rPr lang="en-US" sz="2000" dirty="0">
                <a:solidFill>
                  <a:srgbClr val="2D2D2D"/>
                </a:solidFill>
                <a:latin typeface="Arial" pitchFamily="34" charset="0"/>
                <a:ea typeface="Arial" pitchFamily="34" charset="-122"/>
                <a:cs typeface="Arial" pitchFamily="34" charset="-120"/>
              </a:rPr>
              <a:t>Your spending, explained. Before it’s too late.</a:t>
            </a:r>
            <a:endParaRPr lang="en-US" sz="2000" dirty="0"/>
          </a:p>
        </p:txBody>
      </p:sp>
      <p:sp>
        <p:nvSpPr>
          <p:cNvPr id="5" name="Shape 3"/>
          <p:cNvSpPr/>
          <p:nvPr/>
        </p:nvSpPr>
        <p:spPr>
          <a:xfrm>
            <a:off x="4267200" y="3932555"/>
            <a:ext cx="609600" cy="0"/>
          </a:xfrm>
          <a:prstGeom prst="line">
            <a:avLst/>
          </a:prstGeom>
          <a:noFill/>
          <a:ln w="19050">
            <a:solidFill>
              <a:srgbClr val="5A9171"/>
            </a:solidFill>
            <a:prstDash val="solid"/>
          </a:ln>
        </p:spPr>
        <p:txBody>
          <a:bodyPr/>
          <a:lstStyle/>
          <a:p>
            <a:endParaRPr lang="en-US" dirty="0"/>
          </a:p>
        </p:txBody>
      </p:sp>
      <p:sp>
        <p:nvSpPr>
          <p:cNvPr id="6" name="Text 4"/>
          <p:cNvSpPr/>
          <p:nvPr/>
        </p:nvSpPr>
        <p:spPr>
          <a:xfrm>
            <a:off x="0" y="4560570"/>
            <a:ext cx="9144000" cy="209550"/>
          </a:xfrm>
          <a:prstGeom prst="rect">
            <a:avLst/>
          </a:prstGeom>
          <a:noFill/>
          <a:ln/>
        </p:spPr>
        <p:txBody>
          <a:bodyPr wrap="square" lIns="0" tIns="0" rIns="0" bIns="0" rtlCol="0" anchor="t"/>
          <a:lstStyle/>
          <a:p>
            <a:pPr marL="0" indent="0" algn="ctr">
              <a:buNone/>
            </a:pPr>
            <a:r>
              <a:rPr lang="en-US" sz="1400" b="1" dirty="0">
                <a:solidFill>
                  <a:srgbClr val="2D2D2D"/>
                </a:solidFill>
                <a:latin typeface="Arial" pitchFamily="34" charset="0"/>
                <a:ea typeface="Arial" pitchFamily="34" charset="-122"/>
                <a:cs typeface="Arial" pitchFamily="34" charset="-120"/>
              </a:rPr>
              <a:t>Laila Hamza</a:t>
            </a:r>
            <a:endParaRPr lang="en-US" sz="1400" dirty="0"/>
          </a:p>
        </p:txBody>
      </p:sp>
      <p:sp>
        <p:nvSpPr>
          <p:cNvPr id="7" name="Text 5"/>
          <p:cNvSpPr/>
          <p:nvPr/>
        </p:nvSpPr>
        <p:spPr>
          <a:xfrm>
            <a:off x="0" y="4800600"/>
            <a:ext cx="9144000" cy="171450"/>
          </a:xfrm>
          <a:prstGeom prst="rect">
            <a:avLst/>
          </a:prstGeom>
          <a:noFill/>
          <a:ln/>
        </p:spPr>
        <p:txBody>
          <a:bodyPr wrap="square" lIns="0" tIns="0" rIns="0" bIns="0" rtlCol="0" anchor="t"/>
          <a:lstStyle/>
          <a:p>
            <a:pPr marL="0" indent="0" algn="ctr">
              <a:buNone/>
            </a:pPr>
            <a:r>
              <a:rPr lang="en-US" sz="1200" dirty="0">
                <a:solidFill>
                  <a:srgbClr val="87B89D"/>
                </a:solidFill>
                <a:latin typeface="Arial" pitchFamily="34" charset="0"/>
                <a:ea typeface="Arial" pitchFamily="34" charset="-122"/>
                <a:cs typeface="Arial" pitchFamily="34" charset="-120"/>
              </a:rPr>
              <a:t>BUS 395: Venture Creation with AI | Rollins College | Summer 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2F7F4"/>
        </a:solidFill>
        <a:effectLst/>
      </p:bgPr>
    </p:bg>
    <p:spTree>
      <p:nvGrpSpPr>
        <p:cNvPr id="1" name=""/>
        <p:cNvGrpSpPr/>
        <p:nvPr/>
      </p:nvGrpSpPr>
      <p:grpSpPr>
        <a:xfrm>
          <a:off x="0" y="0"/>
          <a:ext cx="0" cy="0"/>
          <a:chOff x="0" y="0"/>
          <a:chExt cx="0" cy="0"/>
        </a:xfrm>
      </p:grpSpPr>
      <p:sp>
        <p:nvSpPr>
          <p:cNvPr id="2" name="Text 0"/>
          <p:cNvSpPr/>
          <p:nvPr/>
        </p:nvSpPr>
        <p:spPr>
          <a:xfrm>
            <a:off x="507950" y="355550"/>
            <a:ext cx="8290661" cy="171450"/>
          </a:xfrm>
          <a:prstGeom prst="rect">
            <a:avLst/>
          </a:prstGeom>
          <a:noFill/>
          <a:ln/>
        </p:spPr>
        <p:txBody>
          <a:bodyPr wrap="square" lIns="0" tIns="0" rIns="0" bIns="0" rtlCol="0" anchor="t"/>
          <a:lstStyle/>
          <a:p>
            <a:pPr marL="0" indent="0" algn="l">
              <a:spcAft>
                <a:spcPts val="400"/>
              </a:spcAft>
              <a:buNone/>
            </a:pPr>
            <a:r>
              <a:rPr lang="en-US" sz="1400" b="1" dirty="0">
                <a:solidFill>
                  <a:srgbClr val="5A9171"/>
                </a:solidFill>
                <a:latin typeface="Arial" pitchFamily="34" charset="0"/>
                <a:ea typeface="Arial" pitchFamily="34" charset="-122"/>
                <a:cs typeface="Arial" pitchFamily="34" charset="-120"/>
              </a:rPr>
              <a:t>THE PROBLEM</a:t>
            </a:r>
            <a:endParaRPr lang="en-US" sz="1400" dirty="0"/>
          </a:p>
        </p:txBody>
      </p:sp>
      <p:sp>
        <p:nvSpPr>
          <p:cNvPr id="3" name="Text 1"/>
          <p:cNvSpPr/>
          <p:nvPr/>
        </p:nvSpPr>
        <p:spPr>
          <a:xfrm>
            <a:off x="507950" y="905132"/>
            <a:ext cx="9256939" cy="792361"/>
          </a:xfrm>
          <a:prstGeom prst="rect">
            <a:avLst/>
          </a:prstGeom>
          <a:noFill/>
          <a:ln/>
        </p:spPr>
        <p:txBody>
          <a:bodyPr wrap="square" lIns="0" tIns="0" rIns="0" bIns="0" rtlCol="0" anchor="t"/>
          <a:lstStyle/>
          <a:p>
            <a:pPr marL="0" indent="0" algn="l">
              <a:lnSpc>
                <a:spcPts val="3120"/>
              </a:lnSpc>
              <a:spcAft>
                <a:spcPts val="1200"/>
              </a:spcAft>
              <a:buNone/>
            </a:pPr>
            <a:r>
              <a:rPr lang="en-US" sz="2600" dirty="0">
                <a:solidFill>
                  <a:srgbClr val="2D2D2D"/>
                </a:solidFill>
                <a:latin typeface="Arial" pitchFamily="34" charset="0"/>
                <a:ea typeface="Arial" pitchFamily="34" charset="-122"/>
                <a:cs typeface="Arial" pitchFamily="34" charset="-120"/>
              </a:rPr>
              <a:t>They know they overspend. They just don’t stop.</a:t>
            </a:r>
            <a:endParaRPr lang="en-US" sz="2600" dirty="0"/>
          </a:p>
        </p:txBody>
      </p:sp>
      <p:sp>
        <p:nvSpPr>
          <p:cNvPr id="4" name="Text 2"/>
          <p:cNvSpPr/>
          <p:nvPr/>
        </p:nvSpPr>
        <p:spPr>
          <a:xfrm>
            <a:off x="507950" y="1782159"/>
            <a:ext cx="2573834" cy="1483519"/>
          </a:xfrm>
          <a:prstGeom prst="roundRect">
            <a:avLst>
              <a:gd name="adj" fmla="val 6849"/>
            </a:avLst>
          </a:prstGeom>
          <a:solidFill>
            <a:srgbClr val="FFFFFF"/>
          </a:solidFill>
          <a:ln/>
        </p:spPr>
        <p:txBody>
          <a:bodyPr wrap="square" rtlCol="0" anchor="ctr"/>
          <a:lstStyle/>
          <a:p>
            <a:pPr marL="0" indent="0">
              <a:buNone/>
            </a:pPr>
            <a:endParaRPr lang="en-US" dirty="0"/>
          </a:p>
        </p:txBody>
      </p:sp>
      <p:sp>
        <p:nvSpPr>
          <p:cNvPr id="5" name="Text 3"/>
          <p:cNvSpPr/>
          <p:nvPr/>
        </p:nvSpPr>
        <p:spPr>
          <a:xfrm>
            <a:off x="685651" y="1959860"/>
            <a:ext cx="2262801" cy="466725"/>
          </a:xfrm>
          <a:prstGeom prst="rect">
            <a:avLst/>
          </a:prstGeom>
          <a:noFill/>
          <a:ln/>
        </p:spPr>
        <p:txBody>
          <a:bodyPr wrap="square" lIns="0" tIns="0" rIns="0" bIns="0" rtlCol="0" anchor="t"/>
          <a:lstStyle/>
          <a:p>
            <a:pPr marL="0" indent="0" algn="l">
              <a:spcAft>
                <a:spcPts val="400"/>
              </a:spcAft>
              <a:buNone/>
            </a:pPr>
            <a:r>
              <a:rPr lang="en-US" sz="3200" b="1" dirty="0">
                <a:solidFill>
                  <a:srgbClr val="D64545"/>
                </a:solidFill>
                <a:latin typeface="Arial" pitchFamily="34" charset="0"/>
                <a:ea typeface="Arial" pitchFamily="34" charset="-122"/>
                <a:cs typeface="Arial" pitchFamily="34" charset="-120"/>
              </a:rPr>
              <a:t>42%</a:t>
            </a:r>
            <a:endParaRPr lang="en-US" sz="3200" dirty="0"/>
          </a:p>
        </p:txBody>
      </p:sp>
      <p:sp>
        <p:nvSpPr>
          <p:cNvPr id="6" name="Text 4"/>
          <p:cNvSpPr/>
          <p:nvPr/>
        </p:nvSpPr>
        <p:spPr>
          <a:xfrm>
            <a:off x="685651" y="2477335"/>
            <a:ext cx="2262801" cy="426541"/>
          </a:xfrm>
          <a:prstGeom prst="rect">
            <a:avLst/>
          </a:prstGeom>
          <a:noFill/>
          <a:ln/>
        </p:spPr>
        <p:txBody>
          <a:bodyPr wrap="square" lIns="0" tIns="0" rIns="0" bIns="0" rtlCol="0" anchor="t"/>
          <a:lstStyle/>
          <a:p>
            <a:pPr marL="0" indent="0" algn="l">
              <a:lnSpc>
                <a:spcPts val="1680"/>
              </a:lnSpc>
              <a:buNone/>
            </a:pPr>
            <a:r>
              <a:rPr lang="en-US" sz="1200" dirty="0">
                <a:solidFill>
                  <a:srgbClr val="87B89D"/>
                </a:solidFill>
                <a:latin typeface="Arial" pitchFamily="34" charset="0"/>
                <a:ea typeface="Arial" pitchFamily="34" charset="-122"/>
                <a:cs typeface="Arial" pitchFamily="34" charset="-120"/>
              </a:rPr>
              <a:t>of Gen Z lives paycheck to paycheck</a:t>
            </a:r>
            <a:endParaRPr lang="en-US" sz="1200" dirty="0"/>
          </a:p>
        </p:txBody>
      </p:sp>
      <p:sp>
        <p:nvSpPr>
          <p:cNvPr id="7" name="Text 5"/>
          <p:cNvSpPr/>
          <p:nvPr/>
        </p:nvSpPr>
        <p:spPr>
          <a:xfrm>
            <a:off x="685651" y="2954627"/>
            <a:ext cx="2262801" cy="133350"/>
          </a:xfrm>
          <a:prstGeom prst="rect">
            <a:avLst/>
          </a:prstGeom>
          <a:noFill/>
          <a:ln/>
        </p:spPr>
        <p:txBody>
          <a:bodyPr wrap="square" lIns="0" tIns="0" rIns="0" bIns="0" rtlCol="0" anchor="t"/>
          <a:lstStyle/>
          <a:p>
            <a:pPr marL="0" indent="0" algn="l">
              <a:spcBef>
                <a:spcPts val="400"/>
              </a:spcBef>
              <a:buNone/>
            </a:pPr>
            <a:r>
              <a:rPr lang="en-US" sz="900" dirty="0">
                <a:solidFill>
                  <a:srgbClr val="87B89D"/>
                </a:solidFill>
                <a:latin typeface="Arial" pitchFamily="34" charset="0"/>
                <a:ea typeface="Arial" pitchFamily="34" charset="-122"/>
                <a:cs typeface="Arial" pitchFamily="34" charset="-120"/>
              </a:rPr>
              <a:t>Bank of America, 2026</a:t>
            </a:r>
            <a:endParaRPr lang="en-US" sz="900" dirty="0"/>
          </a:p>
        </p:txBody>
      </p:sp>
      <p:sp>
        <p:nvSpPr>
          <p:cNvPr id="8" name="Text 6"/>
          <p:cNvSpPr/>
          <p:nvPr/>
        </p:nvSpPr>
        <p:spPr>
          <a:xfrm>
            <a:off x="3284934" y="1782159"/>
            <a:ext cx="2573982" cy="1483519"/>
          </a:xfrm>
          <a:prstGeom prst="roundRect">
            <a:avLst>
              <a:gd name="adj" fmla="val 6849"/>
            </a:avLst>
          </a:prstGeom>
          <a:solidFill>
            <a:srgbClr val="FFFFFF"/>
          </a:solidFill>
          <a:ln/>
        </p:spPr>
        <p:txBody>
          <a:bodyPr wrap="square" rtlCol="0" anchor="ctr"/>
          <a:lstStyle/>
          <a:p>
            <a:pPr marL="0" indent="0">
              <a:buNone/>
            </a:pPr>
            <a:endParaRPr lang="en-US" dirty="0"/>
          </a:p>
        </p:txBody>
      </p:sp>
      <p:sp>
        <p:nvSpPr>
          <p:cNvPr id="9" name="Text 7"/>
          <p:cNvSpPr/>
          <p:nvPr/>
        </p:nvSpPr>
        <p:spPr>
          <a:xfrm>
            <a:off x="3462635" y="1959860"/>
            <a:ext cx="2262952" cy="466725"/>
          </a:xfrm>
          <a:prstGeom prst="rect">
            <a:avLst/>
          </a:prstGeom>
          <a:noFill/>
          <a:ln/>
        </p:spPr>
        <p:txBody>
          <a:bodyPr wrap="square" lIns="0" tIns="0" rIns="0" bIns="0" rtlCol="0" anchor="t"/>
          <a:lstStyle/>
          <a:p>
            <a:pPr marL="0" indent="0" algn="l">
              <a:spcAft>
                <a:spcPts val="400"/>
              </a:spcAft>
              <a:buNone/>
            </a:pPr>
            <a:r>
              <a:rPr lang="en-US" sz="3200" b="1" dirty="0">
                <a:solidFill>
                  <a:srgbClr val="D64545"/>
                </a:solidFill>
                <a:latin typeface="Arial" pitchFamily="34" charset="0"/>
                <a:ea typeface="Arial" pitchFamily="34" charset="-122"/>
                <a:cs typeface="Arial" pitchFamily="34" charset="-120"/>
              </a:rPr>
              <a:t>24%</a:t>
            </a:r>
            <a:endParaRPr lang="en-US" sz="3200" dirty="0"/>
          </a:p>
        </p:txBody>
      </p:sp>
      <p:sp>
        <p:nvSpPr>
          <p:cNvPr id="10" name="Text 8"/>
          <p:cNvSpPr/>
          <p:nvPr/>
        </p:nvSpPr>
        <p:spPr>
          <a:xfrm>
            <a:off x="3462635" y="2477335"/>
            <a:ext cx="2262952" cy="213271"/>
          </a:xfrm>
          <a:prstGeom prst="rect">
            <a:avLst/>
          </a:prstGeom>
          <a:noFill/>
          <a:ln/>
        </p:spPr>
        <p:txBody>
          <a:bodyPr wrap="square" lIns="0" tIns="0" rIns="0" bIns="0" rtlCol="0" anchor="t"/>
          <a:lstStyle/>
          <a:p>
            <a:pPr marL="0" indent="0" algn="l">
              <a:lnSpc>
                <a:spcPts val="1680"/>
              </a:lnSpc>
              <a:buNone/>
            </a:pPr>
            <a:r>
              <a:rPr lang="en-US" sz="1200" dirty="0">
                <a:solidFill>
                  <a:srgbClr val="87B89D"/>
                </a:solidFill>
                <a:latin typeface="Arial" pitchFamily="34" charset="0"/>
                <a:ea typeface="Arial" pitchFamily="34" charset="-122"/>
                <a:cs typeface="Arial" pitchFamily="34" charset="-120"/>
              </a:rPr>
              <a:t>have no budget at all</a:t>
            </a:r>
            <a:endParaRPr lang="en-US" sz="1200" dirty="0"/>
          </a:p>
        </p:txBody>
      </p:sp>
      <p:sp>
        <p:nvSpPr>
          <p:cNvPr id="11" name="Text 9"/>
          <p:cNvSpPr/>
          <p:nvPr/>
        </p:nvSpPr>
        <p:spPr>
          <a:xfrm>
            <a:off x="3462635" y="2741356"/>
            <a:ext cx="2262952" cy="133350"/>
          </a:xfrm>
          <a:prstGeom prst="rect">
            <a:avLst/>
          </a:prstGeom>
          <a:noFill/>
          <a:ln/>
        </p:spPr>
        <p:txBody>
          <a:bodyPr wrap="square" lIns="0" tIns="0" rIns="0" bIns="0" rtlCol="0" anchor="t"/>
          <a:lstStyle/>
          <a:p>
            <a:pPr marL="0" indent="0" algn="l">
              <a:spcBef>
                <a:spcPts val="400"/>
              </a:spcBef>
              <a:buNone/>
            </a:pPr>
            <a:r>
              <a:rPr lang="en-US" sz="900" dirty="0">
                <a:solidFill>
                  <a:srgbClr val="87B89D"/>
                </a:solidFill>
                <a:latin typeface="Arial" pitchFamily="34" charset="0"/>
                <a:ea typeface="Arial" pitchFamily="34" charset="-122"/>
                <a:cs typeface="Arial" pitchFamily="34" charset="-120"/>
              </a:rPr>
              <a:t>YouGov, 2025</a:t>
            </a:r>
            <a:endParaRPr lang="en-US" sz="900" dirty="0"/>
          </a:p>
        </p:txBody>
      </p:sp>
      <p:sp>
        <p:nvSpPr>
          <p:cNvPr id="12" name="Text 10"/>
          <p:cNvSpPr/>
          <p:nvPr/>
        </p:nvSpPr>
        <p:spPr>
          <a:xfrm>
            <a:off x="6062067" y="1782159"/>
            <a:ext cx="2573982" cy="1483519"/>
          </a:xfrm>
          <a:prstGeom prst="roundRect">
            <a:avLst>
              <a:gd name="adj" fmla="val 6849"/>
            </a:avLst>
          </a:prstGeom>
          <a:solidFill>
            <a:srgbClr val="FFFFFF"/>
          </a:solidFill>
          <a:ln/>
        </p:spPr>
        <p:txBody>
          <a:bodyPr wrap="square" rtlCol="0" anchor="ctr"/>
          <a:lstStyle/>
          <a:p>
            <a:pPr marL="0" indent="0">
              <a:buNone/>
            </a:pPr>
            <a:endParaRPr lang="en-US" dirty="0"/>
          </a:p>
        </p:txBody>
      </p:sp>
      <p:sp>
        <p:nvSpPr>
          <p:cNvPr id="13" name="Text 11"/>
          <p:cNvSpPr/>
          <p:nvPr/>
        </p:nvSpPr>
        <p:spPr>
          <a:xfrm>
            <a:off x="6239768" y="1959860"/>
            <a:ext cx="2262952" cy="466725"/>
          </a:xfrm>
          <a:prstGeom prst="rect">
            <a:avLst/>
          </a:prstGeom>
          <a:noFill/>
          <a:ln/>
        </p:spPr>
        <p:txBody>
          <a:bodyPr wrap="square" lIns="0" tIns="0" rIns="0" bIns="0" rtlCol="0" anchor="t"/>
          <a:lstStyle/>
          <a:p>
            <a:pPr marL="0" indent="0" algn="l">
              <a:spcAft>
                <a:spcPts val="400"/>
              </a:spcAft>
              <a:buNone/>
            </a:pPr>
            <a:r>
              <a:rPr lang="en-US" sz="3200" b="1" dirty="0">
                <a:solidFill>
                  <a:srgbClr val="D64545"/>
                </a:solidFill>
                <a:latin typeface="Arial" pitchFamily="34" charset="0"/>
                <a:ea typeface="Arial" pitchFamily="34" charset="-122"/>
                <a:cs typeface="Arial" pitchFamily="34" charset="-120"/>
              </a:rPr>
              <a:t>38%</a:t>
            </a:r>
            <a:endParaRPr lang="en-US" sz="3200" dirty="0"/>
          </a:p>
        </p:txBody>
      </p:sp>
      <p:sp>
        <p:nvSpPr>
          <p:cNvPr id="14" name="Text 12"/>
          <p:cNvSpPr/>
          <p:nvPr/>
        </p:nvSpPr>
        <p:spPr>
          <a:xfrm>
            <a:off x="6239768" y="2477335"/>
            <a:ext cx="2262952" cy="426541"/>
          </a:xfrm>
          <a:prstGeom prst="rect">
            <a:avLst/>
          </a:prstGeom>
          <a:noFill/>
          <a:ln/>
        </p:spPr>
        <p:txBody>
          <a:bodyPr wrap="square" lIns="0" tIns="0" rIns="0" bIns="0" rtlCol="0" anchor="t"/>
          <a:lstStyle/>
          <a:p>
            <a:pPr marL="0" indent="0" algn="l">
              <a:lnSpc>
                <a:spcPts val="1680"/>
              </a:lnSpc>
              <a:buNone/>
            </a:pPr>
            <a:r>
              <a:rPr lang="en-US" sz="1200" dirty="0">
                <a:solidFill>
                  <a:srgbClr val="87B89D"/>
                </a:solidFill>
                <a:latin typeface="Arial" pitchFamily="34" charset="0"/>
                <a:ea typeface="Arial" pitchFamily="34" charset="-122"/>
                <a:cs typeface="Arial" pitchFamily="34" charset="-120"/>
              </a:rPr>
              <a:t>Gen Z financial literacy score, lowest of any generation</a:t>
            </a:r>
            <a:endParaRPr lang="en-US" sz="1200" dirty="0"/>
          </a:p>
        </p:txBody>
      </p:sp>
      <p:sp>
        <p:nvSpPr>
          <p:cNvPr id="15" name="Text 13"/>
          <p:cNvSpPr/>
          <p:nvPr/>
        </p:nvSpPr>
        <p:spPr>
          <a:xfrm>
            <a:off x="6239768" y="2954627"/>
            <a:ext cx="2262952" cy="133350"/>
          </a:xfrm>
          <a:prstGeom prst="rect">
            <a:avLst/>
          </a:prstGeom>
          <a:noFill/>
          <a:ln/>
        </p:spPr>
        <p:txBody>
          <a:bodyPr wrap="square" lIns="0" tIns="0" rIns="0" bIns="0" rtlCol="0" anchor="t"/>
          <a:lstStyle/>
          <a:p>
            <a:pPr marL="0" indent="0" algn="l">
              <a:spcBef>
                <a:spcPts val="400"/>
              </a:spcBef>
              <a:buNone/>
            </a:pPr>
            <a:r>
              <a:rPr lang="en-US" sz="900" dirty="0">
                <a:solidFill>
                  <a:srgbClr val="87B89D"/>
                </a:solidFill>
                <a:latin typeface="Arial" pitchFamily="34" charset="0"/>
                <a:ea typeface="Arial" pitchFamily="34" charset="-122"/>
                <a:cs typeface="Arial" pitchFamily="34" charset="-120"/>
              </a:rPr>
              <a:t>TIAA/GFLEC P-Fin Index, 2025</a:t>
            </a:r>
            <a:endParaRPr lang="en-US" sz="900" dirty="0"/>
          </a:p>
        </p:txBody>
      </p:sp>
      <p:sp>
        <p:nvSpPr>
          <p:cNvPr id="16" name="Text 14"/>
          <p:cNvSpPr/>
          <p:nvPr/>
        </p:nvSpPr>
        <p:spPr>
          <a:xfrm>
            <a:off x="507950" y="3985243"/>
            <a:ext cx="8128099" cy="729407"/>
          </a:xfrm>
          <a:prstGeom prst="rect">
            <a:avLst/>
          </a:prstGeom>
          <a:solidFill>
            <a:srgbClr val="F2F7F4"/>
          </a:solidFill>
          <a:ln/>
        </p:spPr>
        <p:txBody>
          <a:bodyPr wrap="square" rtlCol="0" anchor="ctr"/>
          <a:lstStyle/>
          <a:p>
            <a:pPr marL="0" indent="0">
              <a:buNone/>
            </a:pPr>
            <a:endParaRPr lang="en-US" dirty="0"/>
          </a:p>
        </p:txBody>
      </p:sp>
      <p:sp>
        <p:nvSpPr>
          <p:cNvPr id="17" name="Shape 15"/>
          <p:cNvSpPr/>
          <p:nvPr/>
        </p:nvSpPr>
        <p:spPr>
          <a:xfrm>
            <a:off x="527000" y="3985243"/>
            <a:ext cx="0" cy="729407"/>
          </a:xfrm>
          <a:prstGeom prst="line">
            <a:avLst/>
          </a:prstGeom>
          <a:noFill/>
          <a:ln w="38100">
            <a:solidFill>
              <a:srgbClr val="5A9171"/>
            </a:solidFill>
            <a:prstDash val="solid"/>
          </a:ln>
        </p:spPr>
        <p:txBody>
          <a:bodyPr/>
          <a:lstStyle/>
          <a:p>
            <a:endParaRPr lang="en-US" dirty="0"/>
          </a:p>
        </p:txBody>
      </p:sp>
      <p:sp>
        <p:nvSpPr>
          <p:cNvPr id="18" name="Text 16"/>
          <p:cNvSpPr/>
          <p:nvPr/>
        </p:nvSpPr>
        <p:spPr>
          <a:xfrm>
            <a:off x="749201" y="4137643"/>
            <a:ext cx="7837372" cy="230981"/>
          </a:xfrm>
          <a:prstGeom prst="rect">
            <a:avLst/>
          </a:prstGeom>
          <a:noFill/>
          <a:ln/>
        </p:spPr>
        <p:txBody>
          <a:bodyPr wrap="square" lIns="0" tIns="0" rIns="0" bIns="0" rtlCol="0" anchor="t"/>
          <a:lstStyle/>
          <a:p>
            <a:pPr marL="0" indent="0" algn="l">
              <a:lnSpc>
                <a:spcPts val="1820"/>
              </a:lnSpc>
              <a:buNone/>
            </a:pPr>
            <a:r>
              <a:rPr lang="en-US" sz="1300" i="1" dirty="0">
                <a:solidFill>
                  <a:srgbClr val="2D2D2D"/>
                </a:solidFill>
                <a:latin typeface="Arial" pitchFamily="34" charset="0"/>
                <a:ea typeface="Arial" pitchFamily="34" charset="-122"/>
                <a:cs typeface="Arial" pitchFamily="34" charset="-120"/>
              </a:rPr>
              <a:t>"I double-think my purchases, but my fix is just shop smarter. I do not have a system."</a:t>
            </a:r>
            <a:endParaRPr lang="en-US" sz="1300" dirty="0"/>
          </a:p>
        </p:txBody>
      </p:sp>
      <p:sp>
        <p:nvSpPr>
          <p:cNvPr id="19" name="Text 17"/>
          <p:cNvSpPr/>
          <p:nvPr/>
        </p:nvSpPr>
        <p:spPr>
          <a:xfrm>
            <a:off x="749201" y="4419375"/>
            <a:ext cx="7837372" cy="142875"/>
          </a:xfrm>
          <a:prstGeom prst="rect">
            <a:avLst/>
          </a:prstGeom>
          <a:noFill/>
          <a:ln/>
        </p:spPr>
        <p:txBody>
          <a:bodyPr wrap="square" lIns="0" tIns="0" rIns="0" bIns="0" rtlCol="0" anchor="t"/>
          <a:lstStyle/>
          <a:p>
            <a:pPr marL="0" indent="0" algn="l">
              <a:spcBef>
                <a:spcPts val="400"/>
              </a:spcBef>
              <a:buNone/>
            </a:pPr>
            <a:r>
              <a:rPr lang="en-US" sz="1000" dirty="0">
                <a:solidFill>
                  <a:srgbClr val="5A9171"/>
                </a:solidFill>
                <a:latin typeface="Arial" pitchFamily="34" charset="0"/>
                <a:ea typeface="Arial" pitchFamily="34" charset="-122"/>
                <a:cs typeface="Arial" pitchFamily="34" charset="-120"/>
              </a:rPr>
              <a:t>Noor, 24, target customer interview</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2F7F4"/>
        </a:solidFill>
        <a:effectLst/>
      </p:bgPr>
    </p:bg>
    <p:spTree>
      <p:nvGrpSpPr>
        <p:cNvPr id="1" name=""/>
        <p:cNvGrpSpPr/>
        <p:nvPr/>
      </p:nvGrpSpPr>
      <p:grpSpPr>
        <a:xfrm>
          <a:off x="0" y="0"/>
          <a:ext cx="0" cy="0"/>
          <a:chOff x="0" y="0"/>
          <a:chExt cx="0" cy="0"/>
        </a:xfrm>
      </p:grpSpPr>
      <p:sp>
        <p:nvSpPr>
          <p:cNvPr id="2" name="Text 0"/>
          <p:cNvSpPr/>
          <p:nvPr/>
        </p:nvSpPr>
        <p:spPr>
          <a:xfrm>
            <a:off x="507950" y="355550"/>
            <a:ext cx="8290661" cy="171450"/>
          </a:xfrm>
          <a:prstGeom prst="rect">
            <a:avLst/>
          </a:prstGeom>
          <a:noFill/>
          <a:ln/>
        </p:spPr>
        <p:txBody>
          <a:bodyPr wrap="square" lIns="0" tIns="0" rIns="0" bIns="0" rtlCol="0" anchor="t"/>
          <a:lstStyle/>
          <a:p>
            <a:pPr marL="0" indent="0" algn="l">
              <a:spcAft>
                <a:spcPts val="400"/>
              </a:spcAft>
              <a:buNone/>
            </a:pPr>
            <a:r>
              <a:rPr lang="en-US" sz="1400" b="1" dirty="0">
                <a:solidFill>
                  <a:srgbClr val="5A9171"/>
                </a:solidFill>
                <a:latin typeface="Arial" pitchFamily="34" charset="0"/>
                <a:ea typeface="Arial" pitchFamily="34" charset="-122"/>
                <a:cs typeface="Arial" pitchFamily="34" charset="-120"/>
              </a:rPr>
              <a:t>THE OPPORTUNITY</a:t>
            </a:r>
            <a:endParaRPr lang="en-US" sz="1400" dirty="0"/>
          </a:p>
        </p:txBody>
      </p:sp>
      <p:sp>
        <p:nvSpPr>
          <p:cNvPr id="3" name="Text 1"/>
          <p:cNvSpPr/>
          <p:nvPr/>
        </p:nvSpPr>
        <p:spPr>
          <a:xfrm>
            <a:off x="515519" y="730683"/>
            <a:ext cx="8290661" cy="731341"/>
          </a:xfrm>
          <a:prstGeom prst="rect">
            <a:avLst/>
          </a:prstGeom>
          <a:noFill/>
          <a:ln/>
        </p:spPr>
        <p:txBody>
          <a:bodyPr wrap="square" lIns="0" tIns="0" rIns="0" bIns="0" rtlCol="0" anchor="t"/>
          <a:lstStyle/>
          <a:p>
            <a:pPr marL="0" indent="0" algn="l">
              <a:lnSpc>
                <a:spcPts val="2880"/>
              </a:lnSpc>
              <a:spcAft>
                <a:spcPts val="1400"/>
              </a:spcAft>
              <a:buNone/>
            </a:pPr>
            <a:r>
              <a:rPr lang="en-US" sz="2400" dirty="0">
                <a:solidFill>
                  <a:srgbClr val="2D2D2D"/>
                </a:solidFill>
                <a:latin typeface="Arial" pitchFamily="34" charset="0"/>
                <a:ea typeface="Arial" pitchFamily="34" charset="-122"/>
                <a:cs typeface="Arial" pitchFamily="34" charset="-120"/>
              </a:rPr>
              <a:t>Mint is gone. Nobody replaced it</a:t>
            </a:r>
            <a:endParaRPr lang="en-US" sz="2400" dirty="0"/>
          </a:p>
          <a:p>
            <a:pPr marL="0" indent="0" algn="l">
              <a:lnSpc>
                <a:spcPts val="2880"/>
              </a:lnSpc>
              <a:spcAft>
                <a:spcPts val="1400"/>
              </a:spcAft>
              <a:buNone/>
            </a:pPr>
            <a:r>
              <a:rPr lang="en-US" sz="2400" dirty="0">
                <a:solidFill>
                  <a:srgbClr val="2D2D2D"/>
                </a:solidFill>
                <a:latin typeface="Arial" pitchFamily="34" charset="0"/>
                <a:ea typeface="Arial" pitchFamily="34" charset="-122"/>
                <a:cs typeface="Arial" pitchFamily="34" charset="-120"/>
              </a:rPr>
              <a:t>for the people who need it most.</a:t>
            </a:r>
            <a:endParaRPr lang="en-US" sz="2400" dirty="0"/>
          </a:p>
        </p:txBody>
      </p:sp>
      <p:sp>
        <p:nvSpPr>
          <p:cNvPr id="4" name="Text 2"/>
          <p:cNvSpPr/>
          <p:nvPr/>
        </p:nvSpPr>
        <p:spPr>
          <a:xfrm>
            <a:off x="507950" y="1855497"/>
            <a:ext cx="3975199" cy="1198364"/>
          </a:xfrm>
          <a:prstGeom prst="roundRect">
            <a:avLst>
              <a:gd name="adj" fmla="val 8478"/>
            </a:avLst>
          </a:prstGeom>
          <a:solidFill>
            <a:srgbClr val="FFFFFF"/>
          </a:solidFill>
          <a:ln/>
        </p:spPr>
        <p:txBody>
          <a:bodyPr wrap="square" rtlCol="0" anchor="ctr"/>
          <a:lstStyle/>
          <a:p>
            <a:pPr marL="0" indent="0">
              <a:buNone/>
            </a:pPr>
            <a:endParaRPr lang="en-US" dirty="0"/>
          </a:p>
        </p:txBody>
      </p:sp>
      <p:sp>
        <p:nvSpPr>
          <p:cNvPr id="5" name="Text 3"/>
          <p:cNvSpPr/>
          <p:nvPr/>
        </p:nvSpPr>
        <p:spPr>
          <a:xfrm>
            <a:off x="685651" y="2047946"/>
            <a:ext cx="3692194" cy="152400"/>
          </a:xfrm>
          <a:prstGeom prst="rect">
            <a:avLst/>
          </a:prstGeom>
          <a:noFill/>
          <a:ln/>
        </p:spPr>
        <p:txBody>
          <a:bodyPr wrap="square" lIns="0" tIns="0" rIns="0" bIns="0" rtlCol="0" anchor="t"/>
          <a:lstStyle/>
          <a:p>
            <a:pPr marL="0" indent="0" algn="l">
              <a:spcAft>
                <a:spcPts val="400"/>
              </a:spcAft>
              <a:buNone/>
            </a:pPr>
            <a:r>
              <a:rPr lang="en-US" sz="1100" b="1" dirty="0">
                <a:solidFill>
                  <a:srgbClr val="D64545"/>
                </a:solidFill>
                <a:latin typeface="Arial" pitchFamily="34" charset="0"/>
                <a:ea typeface="Arial" pitchFamily="34" charset="-122"/>
                <a:cs typeface="Arial" pitchFamily="34" charset="-120"/>
              </a:rPr>
              <a:t>MINT SHUT DOWN (MARCH 2024)</a:t>
            </a:r>
            <a:endParaRPr lang="en-US" sz="1100" dirty="0"/>
          </a:p>
        </p:txBody>
      </p:sp>
      <p:sp>
        <p:nvSpPr>
          <p:cNvPr id="6" name="Text 4"/>
          <p:cNvSpPr/>
          <p:nvPr/>
        </p:nvSpPr>
        <p:spPr>
          <a:xfrm>
            <a:off x="685651" y="2251096"/>
            <a:ext cx="3692194" cy="639812"/>
          </a:xfrm>
          <a:prstGeom prst="rect">
            <a:avLst/>
          </a:prstGeom>
          <a:noFill/>
          <a:ln/>
        </p:spPr>
        <p:txBody>
          <a:bodyPr wrap="square" lIns="0" tIns="0" rIns="0" bIns="0" rtlCol="0" anchor="t"/>
          <a:lstStyle/>
          <a:p>
            <a:pPr marL="0" indent="0" algn="l">
              <a:lnSpc>
                <a:spcPts val="1680"/>
              </a:lnSpc>
              <a:buNone/>
            </a:pPr>
            <a:r>
              <a:rPr lang="en-US" sz="1200" dirty="0">
                <a:solidFill>
                  <a:srgbClr val="2D2D2D"/>
                </a:solidFill>
                <a:latin typeface="Arial" pitchFamily="34" charset="0"/>
                <a:ea typeface="Arial" pitchFamily="34" charset="-122"/>
                <a:cs typeface="Arial" pitchFamily="34" charset="-120"/>
              </a:rPr>
              <a:t>3.6 million users left without a home. Intuit pushed them to Credit Karma, which sells financial products, not financial health.</a:t>
            </a:r>
            <a:endParaRPr lang="en-US" sz="1200" dirty="0"/>
          </a:p>
        </p:txBody>
      </p:sp>
      <p:sp>
        <p:nvSpPr>
          <p:cNvPr id="7" name="Text 5"/>
          <p:cNvSpPr/>
          <p:nvPr/>
        </p:nvSpPr>
        <p:spPr>
          <a:xfrm>
            <a:off x="507950" y="3170110"/>
            <a:ext cx="3975199" cy="1198364"/>
          </a:xfrm>
          <a:prstGeom prst="roundRect">
            <a:avLst>
              <a:gd name="adj" fmla="val 8478"/>
            </a:avLst>
          </a:prstGeom>
          <a:solidFill>
            <a:srgbClr val="FFFFFF"/>
          </a:solidFill>
          <a:ln/>
        </p:spPr>
        <p:txBody>
          <a:bodyPr wrap="square" rtlCol="0" anchor="ctr"/>
          <a:lstStyle/>
          <a:p>
            <a:pPr marL="0" indent="0">
              <a:buNone/>
            </a:pPr>
            <a:endParaRPr lang="en-US" dirty="0"/>
          </a:p>
        </p:txBody>
      </p:sp>
      <p:sp>
        <p:nvSpPr>
          <p:cNvPr id="8" name="Text 6"/>
          <p:cNvSpPr/>
          <p:nvPr/>
        </p:nvSpPr>
        <p:spPr>
          <a:xfrm>
            <a:off x="685651" y="3347811"/>
            <a:ext cx="3692194" cy="152400"/>
          </a:xfrm>
          <a:prstGeom prst="rect">
            <a:avLst/>
          </a:prstGeom>
          <a:noFill/>
          <a:ln/>
        </p:spPr>
        <p:txBody>
          <a:bodyPr wrap="square" lIns="0" tIns="0" rIns="0" bIns="0" rtlCol="0" anchor="t"/>
          <a:lstStyle/>
          <a:p>
            <a:pPr marL="0" indent="0" algn="l">
              <a:spcAft>
                <a:spcPts val="400"/>
              </a:spcAft>
              <a:buNone/>
            </a:pPr>
            <a:r>
              <a:rPr lang="en-US" sz="1100" b="1" dirty="0">
                <a:solidFill>
                  <a:srgbClr val="5A9171"/>
                </a:solidFill>
                <a:latin typeface="Arial" pitchFamily="34" charset="0"/>
                <a:ea typeface="Arial" pitchFamily="34" charset="-122"/>
                <a:cs typeface="Arial" pitchFamily="34" charset="-120"/>
              </a:rPr>
              <a:t>THE GAP</a:t>
            </a:r>
            <a:endParaRPr lang="en-US" sz="1100" dirty="0"/>
          </a:p>
        </p:txBody>
      </p:sp>
      <p:sp>
        <p:nvSpPr>
          <p:cNvPr id="9" name="Text 7"/>
          <p:cNvSpPr/>
          <p:nvPr/>
        </p:nvSpPr>
        <p:spPr>
          <a:xfrm>
            <a:off x="685651" y="3550961"/>
            <a:ext cx="3692194" cy="639812"/>
          </a:xfrm>
          <a:prstGeom prst="rect">
            <a:avLst/>
          </a:prstGeom>
          <a:noFill/>
          <a:ln/>
        </p:spPr>
        <p:txBody>
          <a:bodyPr wrap="square" lIns="0" tIns="0" rIns="0" bIns="0" rtlCol="0" anchor="t"/>
          <a:lstStyle/>
          <a:p>
            <a:pPr marL="0" indent="0" algn="l">
              <a:lnSpc>
                <a:spcPts val="1680"/>
              </a:lnSpc>
              <a:buNone/>
            </a:pPr>
            <a:r>
              <a:rPr lang="en-US" sz="1200" dirty="0">
                <a:solidFill>
                  <a:srgbClr val="2D2D2D"/>
                </a:solidFill>
                <a:latin typeface="Arial" pitchFamily="34" charset="0"/>
                <a:ea typeface="Arial" pitchFamily="34" charset="-122"/>
                <a:cs typeface="Arial" pitchFamily="34" charset="-120"/>
              </a:rPr>
              <a:t>Every replacement (YNAB, Monarch, Copilot) costs $95-$109 per year and is built for people who already budget. Nobody builds for the step before.</a:t>
            </a:r>
            <a:endParaRPr lang="en-US" sz="1200" dirty="0"/>
          </a:p>
        </p:txBody>
      </p:sp>
      <p:sp>
        <p:nvSpPr>
          <p:cNvPr id="10" name="Text 8"/>
          <p:cNvSpPr/>
          <p:nvPr/>
        </p:nvSpPr>
        <p:spPr>
          <a:xfrm>
            <a:off x="4660850" y="1855497"/>
            <a:ext cx="3975199" cy="1101477"/>
          </a:xfrm>
          <a:prstGeom prst="roundRect">
            <a:avLst>
              <a:gd name="adj" fmla="val 9224"/>
            </a:avLst>
          </a:prstGeom>
          <a:solidFill>
            <a:srgbClr val="FFFFFF"/>
          </a:solidFill>
          <a:ln/>
        </p:spPr>
        <p:txBody>
          <a:bodyPr wrap="square" rtlCol="0" anchor="ctr"/>
          <a:lstStyle/>
          <a:p>
            <a:pPr marL="0" indent="0">
              <a:buNone/>
            </a:pPr>
            <a:endParaRPr lang="en-US" dirty="0"/>
          </a:p>
        </p:txBody>
      </p:sp>
      <p:sp>
        <p:nvSpPr>
          <p:cNvPr id="11" name="Text 9"/>
          <p:cNvSpPr/>
          <p:nvPr/>
        </p:nvSpPr>
        <p:spPr>
          <a:xfrm>
            <a:off x="4838551" y="2047946"/>
            <a:ext cx="3692194" cy="152400"/>
          </a:xfrm>
          <a:prstGeom prst="rect">
            <a:avLst/>
          </a:prstGeom>
          <a:noFill/>
          <a:ln/>
        </p:spPr>
        <p:txBody>
          <a:bodyPr wrap="square" lIns="0" tIns="0" rIns="0" bIns="0" rtlCol="0" anchor="t"/>
          <a:lstStyle/>
          <a:p>
            <a:pPr marL="0" indent="0" algn="l">
              <a:spcAft>
                <a:spcPts val="400"/>
              </a:spcAft>
              <a:buNone/>
            </a:pPr>
            <a:r>
              <a:rPr lang="en-US" sz="1100" b="1" dirty="0">
                <a:solidFill>
                  <a:srgbClr val="5A9171"/>
                </a:solidFill>
                <a:latin typeface="Arial" pitchFamily="34" charset="0"/>
                <a:ea typeface="Arial" pitchFamily="34" charset="-122"/>
                <a:cs typeface="Arial" pitchFamily="34" charset="-120"/>
              </a:rPr>
              <a:t>MARKET GROWTH</a:t>
            </a:r>
            <a:endParaRPr lang="en-US" sz="1100" dirty="0"/>
          </a:p>
        </p:txBody>
      </p:sp>
      <p:sp>
        <p:nvSpPr>
          <p:cNvPr id="12" name="Text 10"/>
          <p:cNvSpPr/>
          <p:nvPr/>
        </p:nvSpPr>
        <p:spPr>
          <a:xfrm>
            <a:off x="4838551" y="2251096"/>
            <a:ext cx="3692194" cy="371475"/>
          </a:xfrm>
          <a:prstGeom prst="rect">
            <a:avLst/>
          </a:prstGeom>
          <a:noFill/>
          <a:ln/>
        </p:spPr>
        <p:txBody>
          <a:bodyPr wrap="square" lIns="0" tIns="0" rIns="0" bIns="0" rtlCol="0" anchor="t"/>
          <a:lstStyle/>
          <a:p>
            <a:pPr marL="0" indent="0" algn="l">
              <a:buNone/>
            </a:pPr>
            <a:r>
              <a:rPr lang="en-US" sz="2600" b="1" dirty="0">
                <a:solidFill>
                  <a:srgbClr val="2D2D2D"/>
                </a:solidFill>
                <a:latin typeface="Arial" pitchFamily="34" charset="0"/>
                <a:ea typeface="Arial" pitchFamily="34" charset="-122"/>
                <a:cs typeface="Arial" pitchFamily="34" charset="-120"/>
              </a:rPr>
              <a:t>25%</a:t>
            </a:r>
            <a:endParaRPr lang="en-US" sz="2600" dirty="0"/>
          </a:p>
        </p:txBody>
      </p:sp>
      <p:sp>
        <p:nvSpPr>
          <p:cNvPr id="13" name="Text 11"/>
          <p:cNvSpPr/>
          <p:nvPr/>
        </p:nvSpPr>
        <p:spPr>
          <a:xfrm>
            <a:off x="4838551" y="2622571"/>
            <a:ext cx="3692194" cy="171450"/>
          </a:xfrm>
          <a:prstGeom prst="rect">
            <a:avLst/>
          </a:prstGeom>
          <a:noFill/>
          <a:ln/>
        </p:spPr>
        <p:txBody>
          <a:bodyPr wrap="square" lIns="0" tIns="0" rIns="0" bIns="0" rtlCol="0" anchor="t"/>
          <a:lstStyle/>
          <a:p>
            <a:pPr marL="0" indent="0" algn="l">
              <a:buNone/>
            </a:pPr>
            <a:r>
              <a:rPr lang="en-US" sz="1200" dirty="0">
                <a:solidFill>
                  <a:srgbClr val="87B89D"/>
                </a:solidFill>
                <a:latin typeface="Arial" pitchFamily="34" charset="0"/>
                <a:ea typeface="Arial" pitchFamily="34" charset="-122"/>
                <a:cs typeface="Arial" pitchFamily="34" charset="-120"/>
              </a:rPr>
              <a:t>CAGR for personal finance apps through 2030</a:t>
            </a:r>
            <a:endParaRPr lang="en-US" sz="1200" dirty="0"/>
          </a:p>
        </p:txBody>
      </p:sp>
      <p:sp>
        <p:nvSpPr>
          <p:cNvPr id="14" name="Text 12"/>
          <p:cNvSpPr/>
          <p:nvPr/>
        </p:nvSpPr>
        <p:spPr>
          <a:xfrm>
            <a:off x="4660850" y="3073223"/>
            <a:ext cx="3975199" cy="1101477"/>
          </a:xfrm>
          <a:prstGeom prst="roundRect">
            <a:avLst>
              <a:gd name="adj" fmla="val 9224"/>
            </a:avLst>
          </a:prstGeom>
          <a:solidFill>
            <a:srgbClr val="FFFFFF"/>
          </a:solidFill>
          <a:ln/>
        </p:spPr>
        <p:txBody>
          <a:bodyPr wrap="square" rtlCol="0" anchor="ctr"/>
          <a:lstStyle/>
          <a:p>
            <a:pPr marL="0" indent="0">
              <a:buNone/>
            </a:pPr>
            <a:endParaRPr lang="en-US" dirty="0"/>
          </a:p>
        </p:txBody>
      </p:sp>
      <p:sp>
        <p:nvSpPr>
          <p:cNvPr id="15" name="Text 13"/>
          <p:cNvSpPr/>
          <p:nvPr/>
        </p:nvSpPr>
        <p:spPr>
          <a:xfrm>
            <a:off x="4838551" y="3250923"/>
            <a:ext cx="3692194" cy="152400"/>
          </a:xfrm>
          <a:prstGeom prst="rect">
            <a:avLst/>
          </a:prstGeom>
          <a:noFill/>
          <a:ln/>
        </p:spPr>
        <p:txBody>
          <a:bodyPr wrap="square" lIns="0" tIns="0" rIns="0" bIns="0" rtlCol="0" anchor="t"/>
          <a:lstStyle/>
          <a:p>
            <a:pPr marL="0" indent="0" algn="l">
              <a:spcAft>
                <a:spcPts val="400"/>
              </a:spcAft>
              <a:buNone/>
            </a:pPr>
            <a:r>
              <a:rPr lang="en-US" sz="1100" b="1" dirty="0">
                <a:solidFill>
                  <a:srgbClr val="5A9171"/>
                </a:solidFill>
                <a:latin typeface="Arial" pitchFamily="34" charset="0"/>
                <a:ea typeface="Arial" pitchFamily="34" charset="-122"/>
                <a:cs typeface="Arial" pitchFamily="34" charset="-120"/>
              </a:rPr>
              <a:t>NEW GRADS EVERY YEAR</a:t>
            </a:r>
            <a:endParaRPr lang="en-US" sz="1100" dirty="0"/>
          </a:p>
        </p:txBody>
      </p:sp>
      <p:sp>
        <p:nvSpPr>
          <p:cNvPr id="16" name="Text 14"/>
          <p:cNvSpPr/>
          <p:nvPr/>
        </p:nvSpPr>
        <p:spPr>
          <a:xfrm>
            <a:off x="4838551" y="3454074"/>
            <a:ext cx="3692194" cy="371475"/>
          </a:xfrm>
          <a:prstGeom prst="rect">
            <a:avLst/>
          </a:prstGeom>
          <a:noFill/>
          <a:ln/>
        </p:spPr>
        <p:txBody>
          <a:bodyPr wrap="square" lIns="0" tIns="0" rIns="0" bIns="0" rtlCol="0" anchor="t"/>
          <a:lstStyle/>
          <a:p>
            <a:pPr marL="0" indent="0" algn="l">
              <a:buNone/>
            </a:pPr>
            <a:r>
              <a:rPr lang="en-US" sz="2600" b="1" dirty="0">
                <a:solidFill>
                  <a:srgbClr val="2D2D2D"/>
                </a:solidFill>
                <a:latin typeface="Arial" pitchFamily="34" charset="0"/>
                <a:ea typeface="Arial" pitchFamily="34" charset="-122"/>
                <a:cs typeface="Arial" pitchFamily="34" charset="-120"/>
              </a:rPr>
              <a:t>2.17M</a:t>
            </a:r>
            <a:endParaRPr lang="en-US" sz="2600" dirty="0"/>
          </a:p>
        </p:txBody>
      </p:sp>
      <p:sp>
        <p:nvSpPr>
          <p:cNvPr id="17" name="Text 15"/>
          <p:cNvSpPr/>
          <p:nvPr/>
        </p:nvSpPr>
        <p:spPr>
          <a:xfrm>
            <a:off x="4838551" y="3825549"/>
            <a:ext cx="3692194" cy="171450"/>
          </a:xfrm>
          <a:prstGeom prst="rect">
            <a:avLst/>
          </a:prstGeom>
          <a:noFill/>
          <a:ln/>
        </p:spPr>
        <p:txBody>
          <a:bodyPr wrap="square" lIns="0" tIns="0" rIns="0" bIns="0" rtlCol="0" anchor="t"/>
          <a:lstStyle/>
          <a:p>
            <a:pPr marL="0" indent="0" algn="l">
              <a:buNone/>
            </a:pPr>
            <a:r>
              <a:rPr lang="en-US" sz="1200" dirty="0">
                <a:solidFill>
                  <a:srgbClr val="87B89D"/>
                </a:solidFill>
                <a:latin typeface="Arial" pitchFamily="34" charset="0"/>
                <a:ea typeface="Arial" pitchFamily="34" charset="-122"/>
                <a:cs typeface="Arial" pitchFamily="34" charset="-120"/>
              </a:rPr>
              <a:t>bachelor’s degrees conferred annually in the US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2F7F4"/>
        </a:solidFill>
        <a:effectLst/>
      </p:bgPr>
    </p:bg>
    <p:spTree>
      <p:nvGrpSpPr>
        <p:cNvPr id="1" name=""/>
        <p:cNvGrpSpPr/>
        <p:nvPr/>
      </p:nvGrpSpPr>
      <p:grpSpPr>
        <a:xfrm>
          <a:off x="0" y="0"/>
          <a:ext cx="0" cy="0"/>
          <a:chOff x="0" y="0"/>
          <a:chExt cx="0" cy="0"/>
        </a:xfrm>
      </p:grpSpPr>
      <p:sp>
        <p:nvSpPr>
          <p:cNvPr id="2" name="Text 0"/>
          <p:cNvSpPr/>
          <p:nvPr/>
        </p:nvSpPr>
        <p:spPr>
          <a:xfrm>
            <a:off x="507950" y="355550"/>
            <a:ext cx="8290661" cy="171450"/>
          </a:xfrm>
          <a:prstGeom prst="rect">
            <a:avLst/>
          </a:prstGeom>
          <a:noFill/>
          <a:ln/>
        </p:spPr>
        <p:txBody>
          <a:bodyPr wrap="square" lIns="0" tIns="0" rIns="0" bIns="0" rtlCol="0" anchor="t"/>
          <a:lstStyle/>
          <a:p>
            <a:pPr marL="0" indent="0" algn="l">
              <a:spcAft>
                <a:spcPts val="400"/>
              </a:spcAft>
              <a:buNone/>
            </a:pPr>
            <a:r>
              <a:rPr lang="en-US" sz="1400" b="1" dirty="0">
                <a:solidFill>
                  <a:srgbClr val="5A9171"/>
                </a:solidFill>
                <a:latin typeface="Arial" pitchFamily="34" charset="0"/>
                <a:ea typeface="Arial" pitchFamily="34" charset="-122"/>
                <a:cs typeface="Arial" pitchFamily="34" charset="-120"/>
              </a:rPr>
              <a:t>THE SOLUTION</a:t>
            </a:r>
            <a:endParaRPr lang="en-US" sz="1400" dirty="0"/>
          </a:p>
        </p:txBody>
      </p:sp>
      <p:sp>
        <p:nvSpPr>
          <p:cNvPr id="3" name="Text 1"/>
          <p:cNvSpPr/>
          <p:nvPr/>
        </p:nvSpPr>
        <p:spPr>
          <a:xfrm>
            <a:off x="507950" y="577751"/>
            <a:ext cx="8290661" cy="365671"/>
          </a:xfrm>
          <a:prstGeom prst="rect">
            <a:avLst/>
          </a:prstGeom>
          <a:noFill/>
          <a:ln/>
        </p:spPr>
        <p:txBody>
          <a:bodyPr wrap="square" lIns="0" tIns="0" rIns="0" bIns="0" rtlCol="0" anchor="t"/>
          <a:lstStyle/>
          <a:p>
            <a:pPr marL="0" indent="0" algn="l">
              <a:lnSpc>
                <a:spcPts val="2880"/>
              </a:lnSpc>
              <a:spcAft>
                <a:spcPts val="800"/>
              </a:spcAft>
              <a:buNone/>
            </a:pPr>
            <a:r>
              <a:rPr lang="en-US" sz="2400" b="1" dirty="0">
                <a:solidFill>
                  <a:srgbClr val="2D2D2D"/>
                </a:solidFill>
                <a:latin typeface="Arial" pitchFamily="34" charset="0"/>
                <a:ea typeface="Arial" pitchFamily="34" charset="-122"/>
                <a:cs typeface="Arial" pitchFamily="34" charset="-120"/>
              </a:rPr>
              <a:t>It turns after into before.</a:t>
            </a:r>
            <a:endParaRPr lang="en-US" sz="2400" dirty="0"/>
          </a:p>
        </p:txBody>
      </p:sp>
      <p:sp>
        <p:nvSpPr>
          <p:cNvPr id="4" name="Text 2"/>
          <p:cNvSpPr/>
          <p:nvPr/>
        </p:nvSpPr>
        <p:spPr>
          <a:xfrm>
            <a:off x="507950" y="1103914"/>
            <a:ext cx="8290661" cy="419100"/>
          </a:xfrm>
          <a:prstGeom prst="rect">
            <a:avLst/>
          </a:prstGeom>
          <a:noFill/>
          <a:ln/>
        </p:spPr>
        <p:txBody>
          <a:bodyPr wrap="square" lIns="0" tIns="0" rIns="0" bIns="0" rtlCol="0" anchor="t"/>
          <a:lstStyle/>
          <a:p>
            <a:pPr marL="0" indent="0" algn="l">
              <a:spcAft>
                <a:spcPts val="1600"/>
              </a:spcAft>
              <a:buNone/>
            </a:pPr>
            <a:r>
              <a:rPr lang="en-US" sz="1400" dirty="0">
                <a:solidFill>
                  <a:srgbClr val="87B89D"/>
                </a:solidFill>
                <a:latin typeface="Arial" pitchFamily="34" charset="0"/>
                <a:ea typeface="Arial" pitchFamily="34" charset="-122"/>
                <a:cs typeface="Arial" pitchFamily="34" charset="-120"/>
              </a:rPr>
              <a:t>Money in Plain English reads your past spending and sends you forward guidance. Not an alarm. A coach.</a:t>
            </a:r>
            <a:endParaRPr lang="en-US" sz="1400" dirty="0"/>
          </a:p>
        </p:txBody>
      </p:sp>
      <p:sp>
        <p:nvSpPr>
          <p:cNvPr id="5" name="Text 3"/>
          <p:cNvSpPr/>
          <p:nvPr/>
        </p:nvSpPr>
        <p:spPr>
          <a:xfrm>
            <a:off x="507950" y="2035873"/>
            <a:ext cx="2573834" cy="1634133"/>
          </a:xfrm>
          <a:prstGeom prst="roundRect">
            <a:avLst>
              <a:gd name="adj" fmla="val 6217"/>
            </a:avLst>
          </a:prstGeom>
          <a:solidFill>
            <a:srgbClr val="FFFFFF"/>
          </a:solidFill>
          <a:ln/>
        </p:spPr>
        <p:txBody>
          <a:bodyPr wrap="square" rtlCol="0" anchor="ctr"/>
          <a:lstStyle/>
          <a:p>
            <a:pPr marL="0" indent="0">
              <a:buNone/>
            </a:pPr>
            <a:endParaRPr lang="en-US" dirty="0"/>
          </a:p>
        </p:txBody>
      </p:sp>
      <p:sp>
        <p:nvSpPr>
          <p:cNvPr id="6" name="Shape 4"/>
          <p:cNvSpPr/>
          <p:nvPr/>
        </p:nvSpPr>
        <p:spPr>
          <a:xfrm>
            <a:off x="507950" y="2054923"/>
            <a:ext cx="2573834" cy="0"/>
          </a:xfrm>
          <a:prstGeom prst="line">
            <a:avLst/>
          </a:prstGeom>
          <a:noFill/>
          <a:ln w="38100">
            <a:solidFill>
              <a:srgbClr val="5A9171"/>
            </a:solidFill>
            <a:prstDash val="solid"/>
          </a:ln>
        </p:spPr>
        <p:txBody>
          <a:bodyPr/>
          <a:lstStyle/>
          <a:p>
            <a:endParaRPr lang="en-US" dirty="0"/>
          </a:p>
        </p:txBody>
      </p:sp>
      <p:sp>
        <p:nvSpPr>
          <p:cNvPr id="7" name="Text 5"/>
          <p:cNvSpPr/>
          <p:nvPr/>
        </p:nvSpPr>
        <p:spPr>
          <a:xfrm>
            <a:off x="685651" y="2251673"/>
            <a:ext cx="2262801" cy="352425"/>
          </a:xfrm>
          <a:prstGeom prst="rect">
            <a:avLst/>
          </a:prstGeom>
          <a:noFill/>
          <a:ln/>
        </p:spPr>
        <p:txBody>
          <a:bodyPr wrap="square" lIns="0" tIns="0" rIns="0" bIns="0" rtlCol="0" anchor="t"/>
          <a:lstStyle/>
          <a:p>
            <a:pPr marL="0" indent="0" algn="l">
              <a:spcAft>
                <a:spcPts val="400"/>
              </a:spcAft>
              <a:buNone/>
            </a:pPr>
            <a:r>
              <a:rPr lang="en-US" sz="2400" b="1" dirty="0">
                <a:solidFill>
                  <a:srgbClr val="5A9171"/>
                </a:solidFill>
                <a:latin typeface="Arial" pitchFamily="34" charset="0"/>
                <a:ea typeface="Arial" pitchFamily="34" charset="-122"/>
                <a:cs typeface="Arial" pitchFamily="34" charset="-120"/>
              </a:rPr>
              <a:t>1</a:t>
            </a:r>
            <a:endParaRPr lang="en-US" sz="2400" dirty="0"/>
          </a:p>
        </p:txBody>
      </p:sp>
      <p:sp>
        <p:nvSpPr>
          <p:cNvPr id="8" name="Text 6"/>
          <p:cNvSpPr/>
          <p:nvPr/>
        </p:nvSpPr>
        <p:spPr>
          <a:xfrm>
            <a:off x="685651" y="2654849"/>
            <a:ext cx="2262801" cy="200025"/>
          </a:xfrm>
          <a:prstGeom prst="rect">
            <a:avLst/>
          </a:prstGeom>
          <a:noFill/>
          <a:ln/>
        </p:spPr>
        <p:txBody>
          <a:bodyPr wrap="square" lIns="0" tIns="0" rIns="0" bIns="0" rtlCol="0" anchor="t"/>
          <a:lstStyle/>
          <a:p>
            <a:pPr marL="0" indent="0" algn="l">
              <a:spcAft>
                <a:spcPts val="400"/>
              </a:spcAft>
              <a:buNone/>
            </a:pPr>
            <a:r>
              <a:rPr lang="en-US" sz="1300" b="1" dirty="0">
                <a:solidFill>
                  <a:srgbClr val="2D2D2D"/>
                </a:solidFill>
                <a:latin typeface="Arial" pitchFamily="34" charset="0"/>
                <a:ea typeface="Arial" pitchFamily="34" charset="-122"/>
                <a:cs typeface="Arial" pitchFamily="34" charset="-120"/>
              </a:rPr>
              <a:t>Connect</a:t>
            </a:r>
            <a:endParaRPr lang="en-US" sz="1300" dirty="0"/>
          </a:p>
        </p:txBody>
      </p:sp>
      <p:sp>
        <p:nvSpPr>
          <p:cNvPr id="9" name="Text 7"/>
          <p:cNvSpPr/>
          <p:nvPr/>
        </p:nvSpPr>
        <p:spPr>
          <a:xfrm>
            <a:off x="685651" y="2905623"/>
            <a:ext cx="2262801" cy="815133"/>
          </a:xfrm>
          <a:prstGeom prst="rect">
            <a:avLst/>
          </a:prstGeom>
          <a:noFill/>
          <a:ln/>
        </p:spPr>
        <p:txBody>
          <a:bodyPr wrap="square" lIns="0" tIns="0" rIns="0" bIns="0" rtlCol="0" anchor="t"/>
          <a:lstStyle/>
          <a:p>
            <a:pPr marL="0" indent="0" algn="l">
              <a:lnSpc>
                <a:spcPts val="1540"/>
              </a:lnSpc>
              <a:buNone/>
            </a:pPr>
            <a:r>
              <a:rPr lang="en-US" sz="1100" dirty="0">
                <a:solidFill>
                  <a:srgbClr val="87B89D"/>
                </a:solidFill>
                <a:latin typeface="Arial" pitchFamily="34" charset="0"/>
                <a:ea typeface="Arial" pitchFamily="34" charset="-122"/>
                <a:cs typeface="Arial" pitchFamily="34" charset="-120"/>
              </a:rPr>
              <a:t>Upload a bank CSV to start. Plaid bank-sync is next on the roadmap. Set your monthly budget whenever you’re ready.</a:t>
            </a:r>
            <a:endParaRPr lang="en-US" sz="1100" dirty="0"/>
          </a:p>
        </p:txBody>
      </p:sp>
      <p:sp>
        <p:nvSpPr>
          <p:cNvPr id="10" name="Text 8"/>
          <p:cNvSpPr/>
          <p:nvPr/>
        </p:nvSpPr>
        <p:spPr>
          <a:xfrm>
            <a:off x="3284934" y="2035873"/>
            <a:ext cx="2573982" cy="1634133"/>
          </a:xfrm>
          <a:prstGeom prst="roundRect">
            <a:avLst>
              <a:gd name="adj" fmla="val 6217"/>
            </a:avLst>
          </a:prstGeom>
          <a:solidFill>
            <a:srgbClr val="FFFFFF"/>
          </a:solidFill>
          <a:ln/>
        </p:spPr>
        <p:txBody>
          <a:bodyPr wrap="square" rtlCol="0" anchor="ctr"/>
          <a:lstStyle/>
          <a:p>
            <a:pPr marL="0" indent="0">
              <a:buNone/>
            </a:pPr>
            <a:endParaRPr lang="en-US" dirty="0"/>
          </a:p>
        </p:txBody>
      </p:sp>
      <p:sp>
        <p:nvSpPr>
          <p:cNvPr id="11" name="Shape 9"/>
          <p:cNvSpPr/>
          <p:nvPr/>
        </p:nvSpPr>
        <p:spPr>
          <a:xfrm>
            <a:off x="3284934" y="2054923"/>
            <a:ext cx="2573982" cy="0"/>
          </a:xfrm>
          <a:prstGeom prst="line">
            <a:avLst/>
          </a:prstGeom>
          <a:noFill/>
          <a:ln w="38100">
            <a:solidFill>
              <a:srgbClr val="5A9171"/>
            </a:solidFill>
            <a:prstDash val="solid"/>
          </a:ln>
        </p:spPr>
        <p:txBody>
          <a:bodyPr/>
          <a:lstStyle/>
          <a:p>
            <a:endParaRPr lang="en-US" dirty="0"/>
          </a:p>
        </p:txBody>
      </p:sp>
      <p:sp>
        <p:nvSpPr>
          <p:cNvPr id="12" name="Text 10"/>
          <p:cNvSpPr/>
          <p:nvPr/>
        </p:nvSpPr>
        <p:spPr>
          <a:xfrm>
            <a:off x="3462635" y="2251673"/>
            <a:ext cx="2262952" cy="352425"/>
          </a:xfrm>
          <a:prstGeom prst="rect">
            <a:avLst/>
          </a:prstGeom>
          <a:noFill/>
          <a:ln/>
        </p:spPr>
        <p:txBody>
          <a:bodyPr wrap="square" lIns="0" tIns="0" rIns="0" bIns="0" rtlCol="0" anchor="t"/>
          <a:lstStyle/>
          <a:p>
            <a:pPr marL="0" indent="0" algn="l">
              <a:spcAft>
                <a:spcPts val="400"/>
              </a:spcAft>
              <a:buNone/>
            </a:pPr>
            <a:r>
              <a:rPr lang="en-US" sz="2400" b="1" dirty="0">
                <a:solidFill>
                  <a:srgbClr val="5A9171"/>
                </a:solidFill>
                <a:latin typeface="Arial" pitchFamily="34" charset="0"/>
                <a:ea typeface="Arial" pitchFamily="34" charset="-122"/>
                <a:cs typeface="Arial" pitchFamily="34" charset="-120"/>
              </a:rPr>
              <a:t>2</a:t>
            </a:r>
            <a:endParaRPr lang="en-US" sz="2400" dirty="0"/>
          </a:p>
        </p:txBody>
      </p:sp>
      <p:sp>
        <p:nvSpPr>
          <p:cNvPr id="13" name="Text 11"/>
          <p:cNvSpPr/>
          <p:nvPr/>
        </p:nvSpPr>
        <p:spPr>
          <a:xfrm>
            <a:off x="3462635" y="2654849"/>
            <a:ext cx="2262952" cy="200025"/>
          </a:xfrm>
          <a:prstGeom prst="rect">
            <a:avLst/>
          </a:prstGeom>
          <a:noFill/>
          <a:ln/>
        </p:spPr>
        <p:txBody>
          <a:bodyPr wrap="square" lIns="0" tIns="0" rIns="0" bIns="0" rtlCol="0" anchor="t"/>
          <a:lstStyle/>
          <a:p>
            <a:pPr marL="0" indent="0" algn="l">
              <a:spcAft>
                <a:spcPts val="400"/>
              </a:spcAft>
              <a:buNone/>
            </a:pPr>
            <a:r>
              <a:rPr lang="en-US" sz="1300" b="1" dirty="0">
                <a:solidFill>
                  <a:srgbClr val="2D2D2D"/>
                </a:solidFill>
                <a:latin typeface="Arial" pitchFamily="34" charset="0"/>
                <a:ea typeface="Arial" pitchFamily="34" charset="-122"/>
                <a:cs typeface="Arial" pitchFamily="34" charset="-120"/>
              </a:rPr>
              <a:t>Learn</a:t>
            </a:r>
            <a:endParaRPr lang="en-US" sz="1300" dirty="0"/>
          </a:p>
        </p:txBody>
      </p:sp>
      <p:sp>
        <p:nvSpPr>
          <p:cNvPr id="14" name="Text 12"/>
          <p:cNvSpPr/>
          <p:nvPr/>
        </p:nvSpPr>
        <p:spPr>
          <a:xfrm>
            <a:off x="3462635" y="2905624"/>
            <a:ext cx="2262952" cy="586680"/>
          </a:xfrm>
          <a:prstGeom prst="rect">
            <a:avLst/>
          </a:prstGeom>
          <a:noFill/>
          <a:ln/>
        </p:spPr>
        <p:txBody>
          <a:bodyPr wrap="square" lIns="0" tIns="0" rIns="0" bIns="0" rtlCol="0" anchor="t"/>
          <a:lstStyle/>
          <a:p>
            <a:pPr marL="0" indent="0" algn="l">
              <a:lnSpc>
                <a:spcPts val="1540"/>
              </a:lnSpc>
              <a:buNone/>
            </a:pPr>
            <a:r>
              <a:rPr lang="en-US" sz="1100" dirty="0">
                <a:solidFill>
                  <a:srgbClr val="87B89D"/>
                </a:solidFill>
                <a:latin typeface="Arial" pitchFamily="34" charset="0"/>
                <a:ea typeface="Arial" pitchFamily="34" charset="-122"/>
                <a:cs typeface="Arial" pitchFamily="34" charset="-120"/>
              </a:rPr>
              <a:t>The app reads your transactions and auto-categorizes them using rules built from real spending data.</a:t>
            </a:r>
            <a:endParaRPr lang="en-US" sz="1100" dirty="0"/>
          </a:p>
        </p:txBody>
      </p:sp>
      <p:sp>
        <p:nvSpPr>
          <p:cNvPr id="15" name="Text 13"/>
          <p:cNvSpPr/>
          <p:nvPr/>
        </p:nvSpPr>
        <p:spPr>
          <a:xfrm>
            <a:off x="6062067" y="2035873"/>
            <a:ext cx="2573982" cy="1634133"/>
          </a:xfrm>
          <a:prstGeom prst="roundRect">
            <a:avLst>
              <a:gd name="adj" fmla="val 6217"/>
            </a:avLst>
          </a:prstGeom>
          <a:solidFill>
            <a:srgbClr val="FFFFFF"/>
          </a:solidFill>
          <a:ln/>
        </p:spPr>
        <p:txBody>
          <a:bodyPr wrap="square" rtlCol="0" anchor="ctr"/>
          <a:lstStyle/>
          <a:p>
            <a:pPr marL="0" indent="0">
              <a:buNone/>
            </a:pPr>
            <a:endParaRPr lang="en-US" dirty="0"/>
          </a:p>
        </p:txBody>
      </p:sp>
      <p:sp>
        <p:nvSpPr>
          <p:cNvPr id="16" name="Shape 14"/>
          <p:cNvSpPr/>
          <p:nvPr/>
        </p:nvSpPr>
        <p:spPr>
          <a:xfrm>
            <a:off x="6062067" y="2054923"/>
            <a:ext cx="2573982" cy="0"/>
          </a:xfrm>
          <a:prstGeom prst="line">
            <a:avLst/>
          </a:prstGeom>
          <a:noFill/>
          <a:ln w="38100">
            <a:solidFill>
              <a:srgbClr val="5A9171"/>
            </a:solidFill>
            <a:prstDash val="solid"/>
          </a:ln>
        </p:spPr>
        <p:txBody>
          <a:bodyPr/>
          <a:lstStyle/>
          <a:p>
            <a:endParaRPr lang="en-US" dirty="0"/>
          </a:p>
        </p:txBody>
      </p:sp>
      <p:sp>
        <p:nvSpPr>
          <p:cNvPr id="17" name="Text 15"/>
          <p:cNvSpPr/>
          <p:nvPr/>
        </p:nvSpPr>
        <p:spPr>
          <a:xfrm>
            <a:off x="6239768" y="2251673"/>
            <a:ext cx="2262952" cy="352425"/>
          </a:xfrm>
          <a:prstGeom prst="rect">
            <a:avLst/>
          </a:prstGeom>
          <a:noFill/>
          <a:ln/>
        </p:spPr>
        <p:txBody>
          <a:bodyPr wrap="square" lIns="0" tIns="0" rIns="0" bIns="0" rtlCol="0" anchor="t"/>
          <a:lstStyle/>
          <a:p>
            <a:pPr marL="0" indent="0" algn="l">
              <a:spcAft>
                <a:spcPts val="400"/>
              </a:spcAft>
              <a:buNone/>
            </a:pPr>
            <a:r>
              <a:rPr lang="en-US" sz="2400" b="1" dirty="0">
                <a:solidFill>
                  <a:srgbClr val="5A9171"/>
                </a:solidFill>
                <a:latin typeface="Arial" pitchFamily="34" charset="0"/>
                <a:ea typeface="Arial" pitchFamily="34" charset="-122"/>
                <a:cs typeface="Arial" pitchFamily="34" charset="-120"/>
              </a:rPr>
              <a:t>3</a:t>
            </a:r>
            <a:endParaRPr lang="en-US" sz="2400" dirty="0"/>
          </a:p>
        </p:txBody>
      </p:sp>
      <p:sp>
        <p:nvSpPr>
          <p:cNvPr id="18" name="Text 16"/>
          <p:cNvSpPr/>
          <p:nvPr/>
        </p:nvSpPr>
        <p:spPr>
          <a:xfrm>
            <a:off x="6239768" y="2654849"/>
            <a:ext cx="2262952" cy="200025"/>
          </a:xfrm>
          <a:prstGeom prst="rect">
            <a:avLst/>
          </a:prstGeom>
          <a:noFill/>
          <a:ln/>
        </p:spPr>
        <p:txBody>
          <a:bodyPr wrap="square" lIns="0" tIns="0" rIns="0" bIns="0" rtlCol="0" anchor="t"/>
          <a:lstStyle/>
          <a:p>
            <a:pPr marL="0" indent="0" algn="l">
              <a:spcAft>
                <a:spcPts val="400"/>
              </a:spcAft>
              <a:buNone/>
            </a:pPr>
            <a:r>
              <a:rPr lang="en-US" sz="1300" b="1" dirty="0">
                <a:solidFill>
                  <a:srgbClr val="2D2D2D"/>
                </a:solidFill>
                <a:latin typeface="Arial" pitchFamily="34" charset="0"/>
                <a:ea typeface="Arial" pitchFamily="34" charset="-122"/>
                <a:cs typeface="Arial" pitchFamily="34" charset="-120"/>
              </a:rPr>
              <a:t>Nudge</a:t>
            </a:r>
            <a:endParaRPr lang="en-US" sz="1300" dirty="0"/>
          </a:p>
        </p:txBody>
      </p:sp>
      <p:sp>
        <p:nvSpPr>
          <p:cNvPr id="19" name="Text 17"/>
          <p:cNvSpPr/>
          <p:nvPr/>
        </p:nvSpPr>
        <p:spPr>
          <a:xfrm>
            <a:off x="6239768" y="2905624"/>
            <a:ext cx="2262952" cy="586680"/>
          </a:xfrm>
          <a:prstGeom prst="rect">
            <a:avLst/>
          </a:prstGeom>
          <a:noFill/>
          <a:ln/>
        </p:spPr>
        <p:txBody>
          <a:bodyPr wrap="square" lIns="0" tIns="0" rIns="0" bIns="0" rtlCol="0" anchor="t"/>
          <a:lstStyle/>
          <a:p>
            <a:pPr marL="0" indent="0" algn="l">
              <a:lnSpc>
                <a:spcPts val="1540"/>
              </a:lnSpc>
              <a:buNone/>
            </a:pPr>
            <a:r>
              <a:rPr lang="en-US" sz="1100" dirty="0">
                <a:solidFill>
                  <a:srgbClr val="87B89D"/>
                </a:solidFill>
                <a:latin typeface="Arial" pitchFamily="34" charset="0"/>
                <a:ea typeface="Arial" pitchFamily="34" charset="-122"/>
                <a:cs typeface="Arial" pitchFamily="34" charset="-120"/>
              </a:rPr>
              <a:t>Weekly push notifications in three tones: a suggestion, a pace-check, or praise. Short, plain language.</a:t>
            </a:r>
            <a:endParaRPr lang="en-US" sz="1100" dirty="0"/>
          </a:p>
        </p:txBody>
      </p:sp>
      <p:sp>
        <p:nvSpPr>
          <p:cNvPr id="20" name="Text 18"/>
          <p:cNvSpPr/>
          <p:nvPr/>
        </p:nvSpPr>
        <p:spPr>
          <a:xfrm>
            <a:off x="507950" y="3822405"/>
            <a:ext cx="8128099" cy="680442"/>
          </a:xfrm>
          <a:prstGeom prst="roundRect">
            <a:avLst>
              <a:gd name="adj" fmla="val 11199"/>
            </a:avLst>
          </a:prstGeom>
          <a:solidFill>
            <a:srgbClr val="F2F7F4"/>
          </a:solidFill>
          <a:ln/>
        </p:spPr>
        <p:txBody>
          <a:bodyPr wrap="square" rtlCol="0" anchor="ctr"/>
          <a:lstStyle/>
          <a:p>
            <a:pPr marL="0" indent="0">
              <a:buNone/>
            </a:pPr>
            <a:endParaRPr lang="en-US" dirty="0"/>
          </a:p>
        </p:txBody>
      </p:sp>
      <p:sp>
        <p:nvSpPr>
          <p:cNvPr id="21" name="Text 19"/>
          <p:cNvSpPr/>
          <p:nvPr/>
        </p:nvSpPr>
        <p:spPr>
          <a:xfrm>
            <a:off x="711101" y="3949356"/>
            <a:ext cx="7876234" cy="426541"/>
          </a:xfrm>
          <a:prstGeom prst="rect">
            <a:avLst/>
          </a:prstGeom>
          <a:noFill/>
          <a:ln/>
        </p:spPr>
        <p:txBody>
          <a:bodyPr wrap="square" lIns="0" tIns="0" rIns="0" bIns="0" rtlCol="0" anchor="t"/>
          <a:lstStyle/>
          <a:p>
            <a:pPr marL="0" indent="0" algn="l">
              <a:lnSpc>
                <a:spcPts val="1680"/>
              </a:lnSpc>
              <a:buNone/>
            </a:pPr>
            <a:r>
              <a:rPr lang="en-US" sz="1200" i="1" dirty="0">
                <a:solidFill>
                  <a:srgbClr val="2D2D2D"/>
                </a:solidFill>
                <a:latin typeface="Arial" pitchFamily="34" charset="0"/>
                <a:ea typeface="Arial" pitchFamily="34" charset="-122"/>
                <a:cs typeface="Arial" pitchFamily="34" charset="-120"/>
              </a:rPr>
              <a:t>"Hey, you are about 50% into your food budget and we are only 30% into the month. Let’s slow down and get back on pace."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2F7F4"/>
        </a:solidFill>
        <a:effectLst/>
      </p:bgPr>
    </p:bg>
    <p:spTree>
      <p:nvGrpSpPr>
        <p:cNvPr id="1" name=""/>
        <p:cNvGrpSpPr/>
        <p:nvPr/>
      </p:nvGrpSpPr>
      <p:grpSpPr>
        <a:xfrm>
          <a:off x="0" y="0"/>
          <a:ext cx="0" cy="0"/>
          <a:chOff x="0" y="0"/>
          <a:chExt cx="0" cy="0"/>
        </a:xfrm>
      </p:grpSpPr>
      <p:sp>
        <p:nvSpPr>
          <p:cNvPr id="2" name="Text 0"/>
          <p:cNvSpPr/>
          <p:nvPr/>
        </p:nvSpPr>
        <p:spPr>
          <a:xfrm>
            <a:off x="507950" y="355550"/>
            <a:ext cx="8290661" cy="171450"/>
          </a:xfrm>
          <a:prstGeom prst="rect">
            <a:avLst/>
          </a:prstGeom>
          <a:noFill/>
          <a:ln/>
        </p:spPr>
        <p:txBody>
          <a:bodyPr wrap="square" lIns="0" tIns="0" rIns="0" bIns="0" rtlCol="0" anchor="t"/>
          <a:lstStyle/>
          <a:p>
            <a:pPr marL="0" indent="0" algn="l">
              <a:spcAft>
                <a:spcPts val="400"/>
              </a:spcAft>
              <a:buNone/>
            </a:pPr>
            <a:r>
              <a:rPr lang="en-US" sz="1400" b="1" dirty="0">
                <a:solidFill>
                  <a:srgbClr val="5A9171"/>
                </a:solidFill>
                <a:latin typeface="Arial" pitchFamily="34" charset="0"/>
                <a:ea typeface="Arial" pitchFamily="34" charset="-122"/>
                <a:cs typeface="Arial" pitchFamily="34" charset="-120"/>
              </a:rPr>
              <a:t>HOW IT WORKS</a:t>
            </a:r>
            <a:endParaRPr lang="en-US" sz="1400" dirty="0"/>
          </a:p>
        </p:txBody>
      </p:sp>
      <p:sp>
        <p:nvSpPr>
          <p:cNvPr id="3" name="Text 1"/>
          <p:cNvSpPr/>
          <p:nvPr/>
        </p:nvSpPr>
        <p:spPr>
          <a:xfrm>
            <a:off x="507950" y="621995"/>
            <a:ext cx="8290661" cy="365671"/>
          </a:xfrm>
          <a:prstGeom prst="rect">
            <a:avLst/>
          </a:prstGeom>
          <a:noFill/>
          <a:ln/>
        </p:spPr>
        <p:txBody>
          <a:bodyPr wrap="square" lIns="0" tIns="0" rIns="0" bIns="0" rtlCol="0" anchor="t"/>
          <a:lstStyle/>
          <a:p>
            <a:pPr marL="0" indent="0" algn="l">
              <a:lnSpc>
                <a:spcPts val="2880"/>
              </a:lnSpc>
              <a:spcAft>
                <a:spcPts val="1400"/>
              </a:spcAft>
              <a:buNone/>
            </a:pPr>
            <a:r>
              <a:rPr lang="en-US" sz="2400" b="1" dirty="0">
                <a:solidFill>
                  <a:srgbClr val="2D2D2D"/>
                </a:solidFill>
                <a:latin typeface="Arial" pitchFamily="34" charset="0"/>
                <a:ea typeface="Arial" pitchFamily="34" charset="-122"/>
                <a:cs typeface="Arial" pitchFamily="34" charset="-120"/>
              </a:rPr>
              <a:t>Three notification tones, one weekly cadence</a:t>
            </a:r>
            <a:endParaRPr lang="en-US" sz="2400" dirty="0"/>
          </a:p>
        </p:txBody>
      </p:sp>
      <p:sp>
        <p:nvSpPr>
          <p:cNvPr id="4" name="Text 2"/>
          <p:cNvSpPr/>
          <p:nvPr/>
        </p:nvSpPr>
        <p:spPr>
          <a:xfrm>
            <a:off x="507950" y="1430832"/>
            <a:ext cx="2573834" cy="1359843"/>
          </a:xfrm>
          <a:prstGeom prst="roundRect">
            <a:avLst>
              <a:gd name="adj" fmla="val 7471"/>
            </a:avLst>
          </a:prstGeom>
          <a:solidFill>
            <a:srgbClr val="FFFFFF"/>
          </a:solidFill>
          <a:ln/>
        </p:spPr>
        <p:txBody>
          <a:bodyPr wrap="square" rtlCol="0" anchor="ctr"/>
          <a:lstStyle/>
          <a:p>
            <a:pPr marL="0" indent="0">
              <a:buNone/>
            </a:pPr>
            <a:endParaRPr lang="en-US" dirty="0"/>
          </a:p>
        </p:txBody>
      </p:sp>
      <p:sp>
        <p:nvSpPr>
          <p:cNvPr id="5" name="Shape 3"/>
          <p:cNvSpPr/>
          <p:nvPr/>
        </p:nvSpPr>
        <p:spPr>
          <a:xfrm>
            <a:off x="527000" y="1430832"/>
            <a:ext cx="0" cy="1359843"/>
          </a:xfrm>
          <a:prstGeom prst="line">
            <a:avLst/>
          </a:prstGeom>
          <a:noFill/>
          <a:ln w="38100">
            <a:solidFill>
              <a:srgbClr val="5A9171"/>
            </a:solidFill>
            <a:prstDash val="solid"/>
          </a:ln>
        </p:spPr>
        <p:txBody>
          <a:bodyPr/>
          <a:lstStyle/>
          <a:p>
            <a:endParaRPr lang="en-US" dirty="0"/>
          </a:p>
        </p:txBody>
      </p:sp>
      <p:sp>
        <p:nvSpPr>
          <p:cNvPr id="6" name="Text 4"/>
          <p:cNvSpPr/>
          <p:nvPr/>
        </p:nvSpPr>
        <p:spPr>
          <a:xfrm>
            <a:off x="723751" y="1608533"/>
            <a:ext cx="2223939" cy="171450"/>
          </a:xfrm>
          <a:prstGeom prst="rect">
            <a:avLst/>
          </a:prstGeom>
          <a:noFill/>
          <a:ln/>
        </p:spPr>
        <p:txBody>
          <a:bodyPr wrap="square" lIns="0" tIns="0" rIns="0" bIns="0" rtlCol="0" anchor="t"/>
          <a:lstStyle/>
          <a:p>
            <a:pPr marL="0" indent="0" algn="l">
              <a:spcAft>
                <a:spcPts val="400"/>
              </a:spcAft>
              <a:buNone/>
            </a:pPr>
            <a:r>
              <a:rPr lang="en-US" sz="1200" b="1" dirty="0">
                <a:solidFill>
                  <a:srgbClr val="5A9171"/>
                </a:solidFill>
                <a:latin typeface="Arial" pitchFamily="34" charset="0"/>
                <a:ea typeface="Arial" pitchFamily="34" charset="-122"/>
                <a:cs typeface="Arial" pitchFamily="34" charset="-120"/>
              </a:rPr>
              <a:t>SUGGESTION</a:t>
            </a:r>
            <a:endParaRPr lang="en-US" sz="1200" dirty="0"/>
          </a:p>
        </p:txBody>
      </p:sp>
      <p:sp>
        <p:nvSpPr>
          <p:cNvPr id="7" name="Text 5"/>
          <p:cNvSpPr/>
          <p:nvPr/>
        </p:nvSpPr>
        <p:spPr>
          <a:xfrm>
            <a:off x="723751" y="1830733"/>
            <a:ext cx="2223939" cy="782241"/>
          </a:xfrm>
          <a:prstGeom prst="rect">
            <a:avLst/>
          </a:prstGeom>
          <a:noFill/>
          <a:ln/>
        </p:spPr>
        <p:txBody>
          <a:bodyPr wrap="square" lIns="0" tIns="0" rIns="0" bIns="0" rtlCol="0" anchor="t"/>
          <a:lstStyle/>
          <a:p>
            <a:pPr marL="0" indent="0" algn="l">
              <a:lnSpc>
                <a:spcPts val="1540"/>
              </a:lnSpc>
              <a:buNone/>
            </a:pPr>
            <a:r>
              <a:rPr lang="en-US" sz="1100" dirty="0">
                <a:solidFill>
                  <a:srgbClr val="2D2D2D"/>
                </a:solidFill>
                <a:latin typeface="Arial" pitchFamily="34" charset="0"/>
                <a:ea typeface="Arial" pitchFamily="34" charset="-122"/>
                <a:cs typeface="Arial" pitchFamily="34" charset="-120"/>
              </a:rPr>
              <a:t>"You spent $47 on coffee this week. That is more than last week. Try brewing at home on Tuesday and Thursday."</a:t>
            </a:r>
            <a:endParaRPr lang="en-US" sz="1100" dirty="0"/>
          </a:p>
        </p:txBody>
      </p:sp>
      <p:sp>
        <p:nvSpPr>
          <p:cNvPr id="8" name="Text 6"/>
          <p:cNvSpPr/>
          <p:nvPr/>
        </p:nvSpPr>
        <p:spPr>
          <a:xfrm>
            <a:off x="3284934" y="1430832"/>
            <a:ext cx="2573982" cy="1359843"/>
          </a:xfrm>
          <a:prstGeom prst="roundRect">
            <a:avLst>
              <a:gd name="adj" fmla="val 7471"/>
            </a:avLst>
          </a:prstGeom>
          <a:solidFill>
            <a:srgbClr val="FFFFFF"/>
          </a:solidFill>
          <a:ln/>
        </p:spPr>
        <p:txBody>
          <a:bodyPr wrap="square" rtlCol="0" anchor="ctr"/>
          <a:lstStyle/>
          <a:p>
            <a:pPr marL="0" indent="0">
              <a:buNone/>
            </a:pPr>
            <a:endParaRPr lang="en-US" dirty="0"/>
          </a:p>
        </p:txBody>
      </p:sp>
      <p:sp>
        <p:nvSpPr>
          <p:cNvPr id="9" name="Shape 7"/>
          <p:cNvSpPr/>
          <p:nvPr/>
        </p:nvSpPr>
        <p:spPr>
          <a:xfrm>
            <a:off x="3303984" y="1430832"/>
            <a:ext cx="0" cy="1359843"/>
          </a:xfrm>
          <a:prstGeom prst="line">
            <a:avLst/>
          </a:prstGeom>
          <a:noFill/>
          <a:ln w="38100">
            <a:solidFill>
              <a:srgbClr val="C98F1D"/>
            </a:solidFill>
            <a:prstDash val="solid"/>
          </a:ln>
        </p:spPr>
        <p:txBody>
          <a:bodyPr/>
          <a:lstStyle/>
          <a:p>
            <a:endParaRPr lang="en-US" dirty="0"/>
          </a:p>
        </p:txBody>
      </p:sp>
      <p:sp>
        <p:nvSpPr>
          <p:cNvPr id="10" name="Text 8"/>
          <p:cNvSpPr/>
          <p:nvPr/>
        </p:nvSpPr>
        <p:spPr>
          <a:xfrm>
            <a:off x="3500735" y="1608533"/>
            <a:ext cx="2224090" cy="171450"/>
          </a:xfrm>
          <a:prstGeom prst="rect">
            <a:avLst/>
          </a:prstGeom>
          <a:noFill/>
          <a:ln/>
        </p:spPr>
        <p:txBody>
          <a:bodyPr wrap="square" lIns="0" tIns="0" rIns="0" bIns="0" rtlCol="0" anchor="t"/>
          <a:lstStyle/>
          <a:p>
            <a:pPr marL="0" indent="0" algn="l">
              <a:spcAft>
                <a:spcPts val="400"/>
              </a:spcAft>
              <a:buNone/>
            </a:pPr>
            <a:r>
              <a:rPr lang="en-US" sz="1200" b="1" dirty="0">
                <a:solidFill>
                  <a:srgbClr val="C98F1D"/>
                </a:solidFill>
                <a:latin typeface="Arial" pitchFamily="34" charset="0"/>
                <a:ea typeface="Arial" pitchFamily="34" charset="-122"/>
                <a:cs typeface="Arial" pitchFamily="34" charset="-120"/>
              </a:rPr>
              <a:t>PACE-CHECK</a:t>
            </a:r>
            <a:endParaRPr lang="en-US" sz="1200" dirty="0"/>
          </a:p>
        </p:txBody>
      </p:sp>
      <p:sp>
        <p:nvSpPr>
          <p:cNvPr id="11" name="Text 9"/>
          <p:cNvSpPr/>
          <p:nvPr/>
        </p:nvSpPr>
        <p:spPr>
          <a:xfrm>
            <a:off x="3500735" y="1830733"/>
            <a:ext cx="2224090" cy="782241"/>
          </a:xfrm>
          <a:prstGeom prst="rect">
            <a:avLst/>
          </a:prstGeom>
          <a:noFill/>
          <a:ln/>
        </p:spPr>
        <p:txBody>
          <a:bodyPr wrap="square" lIns="0" tIns="0" rIns="0" bIns="0" rtlCol="0" anchor="t"/>
          <a:lstStyle/>
          <a:p>
            <a:pPr marL="0" indent="0" algn="l">
              <a:lnSpc>
                <a:spcPts val="1540"/>
              </a:lnSpc>
              <a:buNone/>
            </a:pPr>
            <a:r>
              <a:rPr lang="en-US" sz="1100" dirty="0">
                <a:solidFill>
                  <a:srgbClr val="2D2D2D"/>
                </a:solidFill>
                <a:latin typeface="Arial" pitchFamily="34" charset="0"/>
                <a:ea typeface="Arial" pitchFamily="34" charset="-122"/>
                <a:cs typeface="Arial" pitchFamily="34" charset="-120"/>
              </a:rPr>
              <a:t>"You are 50% into your food budget and we are only 30% into the month. Let us slow down to stay under budget."</a:t>
            </a:r>
            <a:endParaRPr lang="en-US" sz="1100" dirty="0"/>
          </a:p>
        </p:txBody>
      </p:sp>
      <p:sp>
        <p:nvSpPr>
          <p:cNvPr id="12" name="Text 10"/>
          <p:cNvSpPr/>
          <p:nvPr/>
        </p:nvSpPr>
        <p:spPr>
          <a:xfrm>
            <a:off x="6062067" y="1430832"/>
            <a:ext cx="2573982" cy="1359843"/>
          </a:xfrm>
          <a:prstGeom prst="roundRect">
            <a:avLst>
              <a:gd name="adj" fmla="val 7471"/>
            </a:avLst>
          </a:prstGeom>
          <a:solidFill>
            <a:srgbClr val="FFFFFF"/>
          </a:solidFill>
          <a:ln/>
        </p:spPr>
        <p:txBody>
          <a:bodyPr wrap="square" rtlCol="0" anchor="ctr"/>
          <a:lstStyle/>
          <a:p>
            <a:pPr marL="0" indent="0">
              <a:buNone/>
            </a:pPr>
            <a:endParaRPr lang="en-US" dirty="0"/>
          </a:p>
        </p:txBody>
      </p:sp>
      <p:sp>
        <p:nvSpPr>
          <p:cNvPr id="13" name="Shape 11"/>
          <p:cNvSpPr/>
          <p:nvPr/>
        </p:nvSpPr>
        <p:spPr>
          <a:xfrm>
            <a:off x="6081117" y="1430832"/>
            <a:ext cx="0" cy="1359843"/>
          </a:xfrm>
          <a:prstGeom prst="line">
            <a:avLst/>
          </a:prstGeom>
          <a:noFill/>
          <a:ln w="38100">
            <a:solidFill>
              <a:srgbClr val="3F9F5B"/>
            </a:solidFill>
            <a:prstDash val="solid"/>
          </a:ln>
        </p:spPr>
        <p:txBody>
          <a:bodyPr/>
          <a:lstStyle/>
          <a:p>
            <a:endParaRPr lang="en-US" dirty="0"/>
          </a:p>
        </p:txBody>
      </p:sp>
      <p:sp>
        <p:nvSpPr>
          <p:cNvPr id="14" name="Text 12"/>
          <p:cNvSpPr/>
          <p:nvPr/>
        </p:nvSpPr>
        <p:spPr>
          <a:xfrm>
            <a:off x="6277868" y="1608533"/>
            <a:ext cx="2224090" cy="171450"/>
          </a:xfrm>
          <a:prstGeom prst="rect">
            <a:avLst/>
          </a:prstGeom>
          <a:noFill/>
          <a:ln/>
        </p:spPr>
        <p:txBody>
          <a:bodyPr wrap="square" lIns="0" tIns="0" rIns="0" bIns="0" rtlCol="0" anchor="t"/>
          <a:lstStyle/>
          <a:p>
            <a:pPr marL="0" indent="0" algn="l">
              <a:spcAft>
                <a:spcPts val="400"/>
              </a:spcAft>
              <a:buNone/>
            </a:pPr>
            <a:r>
              <a:rPr lang="en-US" sz="1200" b="1" dirty="0">
                <a:solidFill>
                  <a:srgbClr val="3F9F5B"/>
                </a:solidFill>
                <a:latin typeface="Arial" pitchFamily="34" charset="0"/>
                <a:ea typeface="Arial" pitchFamily="34" charset="-122"/>
                <a:cs typeface="Arial" pitchFamily="34" charset="-120"/>
              </a:rPr>
              <a:t>PRAISE</a:t>
            </a:r>
            <a:endParaRPr lang="en-US" sz="1200" dirty="0"/>
          </a:p>
        </p:txBody>
      </p:sp>
      <p:sp>
        <p:nvSpPr>
          <p:cNvPr id="15" name="Text 13"/>
          <p:cNvSpPr/>
          <p:nvPr/>
        </p:nvSpPr>
        <p:spPr>
          <a:xfrm>
            <a:off x="6277868" y="1830733"/>
            <a:ext cx="2224090" cy="586680"/>
          </a:xfrm>
          <a:prstGeom prst="rect">
            <a:avLst/>
          </a:prstGeom>
          <a:noFill/>
          <a:ln/>
        </p:spPr>
        <p:txBody>
          <a:bodyPr wrap="square" lIns="0" tIns="0" rIns="0" bIns="0" rtlCol="0" anchor="t"/>
          <a:lstStyle/>
          <a:p>
            <a:pPr marL="0" indent="0" algn="l">
              <a:lnSpc>
                <a:spcPts val="1540"/>
              </a:lnSpc>
              <a:buNone/>
            </a:pPr>
            <a:r>
              <a:rPr lang="en-US" sz="1100" dirty="0">
                <a:solidFill>
                  <a:srgbClr val="2D2D2D"/>
                </a:solidFill>
                <a:latin typeface="Arial" pitchFamily="34" charset="0"/>
                <a:ea typeface="Arial" pitchFamily="34" charset="-122"/>
                <a:cs typeface="Arial" pitchFamily="34" charset="-120"/>
              </a:rPr>
              <a:t>"You stayed under your dining budget this week. That is two weeks in a row. Keep going."</a:t>
            </a:r>
            <a:endParaRPr lang="en-US" sz="1100" dirty="0"/>
          </a:p>
        </p:txBody>
      </p:sp>
      <p:sp>
        <p:nvSpPr>
          <p:cNvPr id="16" name="Text 14"/>
          <p:cNvSpPr/>
          <p:nvPr/>
        </p:nvSpPr>
        <p:spPr>
          <a:xfrm>
            <a:off x="507950" y="2968376"/>
            <a:ext cx="2573834" cy="1340793"/>
          </a:xfrm>
          <a:prstGeom prst="roundRect">
            <a:avLst>
              <a:gd name="adj" fmla="val 7578"/>
            </a:avLst>
          </a:prstGeom>
          <a:solidFill>
            <a:srgbClr val="FFFFFF"/>
          </a:solidFill>
          <a:ln/>
        </p:spPr>
        <p:txBody>
          <a:bodyPr wrap="square" rtlCol="0" anchor="ctr"/>
          <a:lstStyle/>
          <a:p>
            <a:pPr marL="0" indent="0">
              <a:buNone/>
            </a:pPr>
            <a:endParaRPr lang="en-US" dirty="0"/>
          </a:p>
        </p:txBody>
      </p:sp>
      <p:sp>
        <p:nvSpPr>
          <p:cNvPr id="17" name="Text 15"/>
          <p:cNvSpPr/>
          <p:nvPr/>
        </p:nvSpPr>
        <p:spPr>
          <a:xfrm>
            <a:off x="685651" y="3146076"/>
            <a:ext cx="2262801" cy="152400"/>
          </a:xfrm>
          <a:prstGeom prst="rect">
            <a:avLst/>
          </a:prstGeom>
          <a:noFill/>
          <a:ln/>
        </p:spPr>
        <p:txBody>
          <a:bodyPr wrap="square" lIns="0" tIns="0" rIns="0" bIns="0" rtlCol="0" anchor="t"/>
          <a:lstStyle/>
          <a:p>
            <a:pPr marL="0" indent="0" algn="l">
              <a:spcAft>
                <a:spcPts val="400"/>
              </a:spcAft>
              <a:buNone/>
            </a:pPr>
            <a:r>
              <a:rPr lang="en-US" sz="1100" b="1" dirty="0">
                <a:solidFill>
                  <a:srgbClr val="5A9171"/>
                </a:solidFill>
                <a:latin typeface="Arial" pitchFamily="34" charset="0"/>
                <a:ea typeface="Arial" pitchFamily="34" charset="-122"/>
                <a:cs typeface="Arial" pitchFamily="34" charset="-120"/>
              </a:rPr>
              <a:t>DELIVERY</a:t>
            </a:r>
            <a:endParaRPr lang="en-US" sz="1100" dirty="0"/>
          </a:p>
        </p:txBody>
      </p:sp>
      <p:sp>
        <p:nvSpPr>
          <p:cNvPr id="18" name="Text 16"/>
          <p:cNvSpPr/>
          <p:nvPr/>
        </p:nvSpPr>
        <p:spPr>
          <a:xfrm>
            <a:off x="685651" y="3349227"/>
            <a:ext cx="2262801" cy="586680"/>
          </a:xfrm>
          <a:prstGeom prst="rect">
            <a:avLst/>
          </a:prstGeom>
          <a:noFill/>
          <a:ln/>
        </p:spPr>
        <p:txBody>
          <a:bodyPr wrap="square" lIns="0" tIns="0" rIns="0" bIns="0" rtlCol="0" anchor="t"/>
          <a:lstStyle/>
          <a:p>
            <a:pPr marL="0" indent="0" algn="l">
              <a:lnSpc>
                <a:spcPts val="1540"/>
              </a:lnSpc>
              <a:buNone/>
            </a:pPr>
            <a:r>
              <a:rPr lang="en-US" sz="1100" dirty="0">
                <a:solidFill>
                  <a:srgbClr val="87B89D"/>
                </a:solidFill>
                <a:latin typeface="Arial" pitchFamily="34" charset="0"/>
                <a:ea typeface="Arial" pitchFamily="34" charset="-122"/>
                <a:cs typeface="Arial" pitchFamily="34" charset="-120"/>
              </a:rPr>
              <a:t>Short push notifications lead to an Inbox tab (log of all nudges) and a Summaries tab (weekly history).</a:t>
            </a:r>
            <a:endParaRPr lang="en-US" sz="1100" dirty="0"/>
          </a:p>
        </p:txBody>
      </p:sp>
      <p:sp>
        <p:nvSpPr>
          <p:cNvPr id="22" name="Text 20"/>
          <p:cNvSpPr/>
          <p:nvPr/>
        </p:nvSpPr>
        <p:spPr>
          <a:xfrm>
            <a:off x="3284934" y="2968376"/>
            <a:ext cx="2573982" cy="1340793"/>
          </a:xfrm>
          <a:prstGeom prst="roundRect">
            <a:avLst>
              <a:gd name="adj" fmla="val 7578"/>
            </a:avLst>
          </a:prstGeom>
          <a:solidFill>
            <a:srgbClr val="FFFFFF"/>
          </a:solidFill>
          <a:ln/>
        </p:spPr>
        <p:txBody>
          <a:bodyPr wrap="square" rtlCol="0" anchor="ctr"/>
          <a:lstStyle/>
          <a:p>
            <a:pPr marL="0" indent="0">
              <a:buNone/>
            </a:pPr>
            <a:endParaRPr lang="en-US" dirty="0"/>
          </a:p>
        </p:txBody>
      </p:sp>
      <p:sp>
        <p:nvSpPr>
          <p:cNvPr id="23" name="Text 21"/>
          <p:cNvSpPr/>
          <p:nvPr/>
        </p:nvSpPr>
        <p:spPr>
          <a:xfrm>
            <a:off x="3462635" y="3146076"/>
            <a:ext cx="2262952" cy="152400"/>
          </a:xfrm>
          <a:prstGeom prst="rect">
            <a:avLst/>
          </a:prstGeom>
          <a:noFill/>
          <a:ln/>
        </p:spPr>
        <p:txBody>
          <a:bodyPr wrap="square" lIns="0" tIns="0" rIns="0" bIns="0" rtlCol="0" anchor="t"/>
          <a:lstStyle/>
          <a:p>
            <a:pPr marL="0" indent="0" algn="l">
              <a:spcAft>
                <a:spcPts val="400"/>
              </a:spcAft>
              <a:buNone/>
            </a:pPr>
            <a:r>
              <a:rPr lang="en-US" sz="1100" b="1" dirty="0">
                <a:solidFill>
                  <a:srgbClr val="5A9171"/>
                </a:solidFill>
                <a:latin typeface="Arial" pitchFamily="34" charset="0"/>
                <a:ea typeface="Arial" pitchFamily="34" charset="-122"/>
                <a:cs typeface="Arial" pitchFamily="34" charset="-120"/>
              </a:rPr>
              <a:t>MULTI-ACCOUNT</a:t>
            </a:r>
            <a:endParaRPr lang="en-US" sz="1100" dirty="0"/>
          </a:p>
        </p:txBody>
      </p:sp>
      <p:sp>
        <p:nvSpPr>
          <p:cNvPr id="24" name="Text 22"/>
          <p:cNvSpPr/>
          <p:nvPr/>
        </p:nvSpPr>
        <p:spPr>
          <a:xfrm>
            <a:off x="3462635" y="3349227"/>
            <a:ext cx="2262952" cy="782241"/>
          </a:xfrm>
          <a:prstGeom prst="rect">
            <a:avLst/>
          </a:prstGeom>
          <a:noFill/>
          <a:ln/>
        </p:spPr>
        <p:txBody>
          <a:bodyPr wrap="square" lIns="0" tIns="0" rIns="0" bIns="0" rtlCol="0" anchor="t"/>
          <a:lstStyle/>
          <a:p>
            <a:pPr marL="0" indent="0" algn="l">
              <a:lnSpc>
                <a:spcPts val="1540"/>
              </a:lnSpc>
              <a:buNone/>
            </a:pPr>
            <a:r>
              <a:rPr lang="en-US" sz="1100" dirty="0">
                <a:solidFill>
                  <a:srgbClr val="87B89D"/>
                </a:solidFill>
                <a:latin typeface="Arial" pitchFamily="34" charset="0"/>
                <a:ea typeface="Arial" pitchFamily="34" charset="-122"/>
                <a:cs typeface="Arial" pitchFamily="34" charset="-120"/>
              </a:rPr>
              <a:t>Add checking and credit card accounts — spend rolls up together automatically. Avoiding double-counted card payments is next on the roadmap.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2F7F4"/>
        </a:solidFill>
        <a:effectLst/>
      </p:bgPr>
    </p:bg>
    <p:spTree>
      <p:nvGrpSpPr>
        <p:cNvPr id="1" name=""/>
        <p:cNvGrpSpPr/>
        <p:nvPr/>
      </p:nvGrpSpPr>
      <p:grpSpPr>
        <a:xfrm>
          <a:off x="0" y="0"/>
          <a:ext cx="0" cy="0"/>
          <a:chOff x="0" y="0"/>
          <a:chExt cx="0" cy="0"/>
        </a:xfrm>
      </p:grpSpPr>
      <p:sp>
        <p:nvSpPr>
          <p:cNvPr id="2" name="Text 0"/>
          <p:cNvSpPr/>
          <p:nvPr/>
        </p:nvSpPr>
        <p:spPr>
          <a:xfrm>
            <a:off x="507950" y="355550"/>
            <a:ext cx="8290661" cy="171450"/>
          </a:xfrm>
          <a:prstGeom prst="rect">
            <a:avLst/>
          </a:prstGeom>
          <a:noFill/>
          <a:ln/>
        </p:spPr>
        <p:txBody>
          <a:bodyPr wrap="square" lIns="0" tIns="0" rIns="0" bIns="0" rtlCol="0" anchor="t"/>
          <a:lstStyle/>
          <a:p>
            <a:pPr marL="0" indent="0" algn="l">
              <a:spcAft>
                <a:spcPts val="400"/>
              </a:spcAft>
              <a:buNone/>
            </a:pPr>
            <a:r>
              <a:rPr lang="en-US" sz="1400" b="1" dirty="0">
                <a:solidFill>
                  <a:srgbClr val="5A9171"/>
                </a:solidFill>
                <a:latin typeface="Arial" pitchFamily="34" charset="0"/>
                <a:ea typeface="Arial" pitchFamily="34" charset="-122"/>
                <a:cs typeface="Arial" pitchFamily="34" charset="-120"/>
              </a:rPr>
              <a:t>CUSTOMER DISCOVERY</a:t>
            </a:r>
            <a:endParaRPr lang="en-US" sz="1400" dirty="0"/>
          </a:p>
        </p:txBody>
      </p:sp>
      <p:sp>
        <p:nvSpPr>
          <p:cNvPr id="3" name="Text 1"/>
          <p:cNvSpPr/>
          <p:nvPr/>
        </p:nvSpPr>
        <p:spPr>
          <a:xfrm>
            <a:off x="507950" y="621995"/>
            <a:ext cx="8290661" cy="365671"/>
          </a:xfrm>
          <a:prstGeom prst="rect">
            <a:avLst/>
          </a:prstGeom>
          <a:noFill/>
          <a:ln/>
        </p:spPr>
        <p:txBody>
          <a:bodyPr wrap="square" lIns="0" tIns="0" rIns="0" bIns="0" rtlCol="0" anchor="t"/>
          <a:lstStyle/>
          <a:p>
            <a:pPr marL="0" indent="0" algn="l">
              <a:lnSpc>
                <a:spcPts val="2880"/>
              </a:lnSpc>
              <a:spcAft>
                <a:spcPts val="1400"/>
              </a:spcAft>
              <a:buNone/>
            </a:pPr>
            <a:r>
              <a:rPr lang="en-US" sz="2400" b="1" dirty="0">
                <a:solidFill>
                  <a:srgbClr val="2D2D2D"/>
                </a:solidFill>
                <a:latin typeface="Arial" pitchFamily="34" charset="0"/>
                <a:ea typeface="Arial" pitchFamily="34" charset="-122"/>
                <a:cs typeface="Arial" pitchFamily="34" charset="-120"/>
              </a:rPr>
              <a:t>Every product decision was grounded in interview data</a:t>
            </a:r>
            <a:endParaRPr lang="en-US" sz="2400" dirty="0"/>
          </a:p>
        </p:txBody>
      </p:sp>
      <p:sp>
        <p:nvSpPr>
          <p:cNvPr id="4" name="Text 2"/>
          <p:cNvSpPr/>
          <p:nvPr/>
        </p:nvSpPr>
        <p:spPr>
          <a:xfrm>
            <a:off x="507950" y="1268602"/>
            <a:ext cx="3975199" cy="1444377"/>
          </a:xfrm>
          <a:prstGeom prst="roundRect">
            <a:avLst>
              <a:gd name="adj" fmla="val 7034"/>
            </a:avLst>
          </a:prstGeom>
          <a:solidFill>
            <a:srgbClr val="FFFFFF"/>
          </a:solidFill>
          <a:ln/>
        </p:spPr>
        <p:txBody>
          <a:bodyPr wrap="square" rtlCol="0" anchor="ctr"/>
          <a:lstStyle/>
          <a:p>
            <a:pPr marL="0" indent="0">
              <a:buNone/>
            </a:pPr>
            <a:endParaRPr lang="en-US" dirty="0"/>
          </a:p>
        </p:txBody>
      </p:sp>
      <p:sp>
        <p:nvSpPr>
          <p:cNvPr id="5" name="Text 3"/>
          <p:cNvSpPr/>
          <p:nvPr/>
        </p:nvSpPr>
        <p:spPr>
          <a:xfrm>
            <a:off x="685651" y="1446303"/>
            <a:ext cx="3692194" cy="200025"/>
          </a:xfrm>
          <a:prstGeom prst="rect">
            <a:avLst/>
          </a:prstGeom>
          <a:noFill/>
          <a:ln/>
        </p:spPr>
        <p:txBody>
          <a:bodyPr wrap="square" lIns="0" tIns="0" rIns="0" bIns="0" rtlCol="0" anchor="t"/>
          <a:lstStyle/>
          <a:p>
            <a:pPr marL="0" indent="0" algn="l">
              <a:spcAft>
                <a:spcPts val="400"/>
              </a:spcAft>
              <a:buNone/>
            </a:pPr>
            <a:r>
              <a:rPr lang="en-US" sz="1300" b="1" dirty="0">
                <a:solidFill>
                  <a:srgbClr val="5A9171"/>
                </a:solidFill>
                <a:latin typeface="Arial" pitchFamily="34" charset="0"/>
                <a:ea typeface="Arial" pitchFamily="34" charset="-122"/>
                <a:cs typeface="Arial" pitchFamily="34" charset="-120"/>
              </a:rPr>
              <a:t>Target Customer: "Aware But Doesn’t Act"</a:t>
            </a:r>
            <a:endParaRPr lang="en-US" sz="1300" dirty="0"/>
          </a:p>
        </p:txBody>
      </p:sp>
      <p:sp>
        <p:nvSpPr>
          <p:cNvPr id="6" name="Text 4"/>
          <p:cNvSpPr/>
          <p:nvPr/>
        </p:nvSpPr>
        <p:spPr>
          <a:xfrm>
            <a:off x="685651" y="1697078"/>
            <a:ext cx="3692194" cy="838200"/>
          </a:xfrm>
          <a:prstGeom prst="rect">
            <a:avLst/>
          </a:prstGeom>
          <a:noFill/>
          <a:ln/>
        </p:spPr>
        <p:txBody>
          <a:bodyPr wrap="square" lIns="0" tIns="0" rIns="0" bIns="0" rtlCol="0" anchor="t"/>
          <a:lstStyle/>
          <a:p>
            <a:pPr marL="0" indent="0" algn="l">
              <a:lnSpc>
                <a:spcPts val="1650"/>
              </a:lnSpc>
              <a:buNone/>
            </a:pPr>
            <a:r>
              <a:rPr lang="en-US" sz="1100" dirty="0">
                <a:solidFill>
                  <a:srgbClr val="2D2D2D"/>
                </a:solidFill>
                <a:latin typeface="Arial" pitchFamily="34" charset="0"/>
                <a:ea typeface="Arial" pitchFamily="34" charset="-122"/>
                <a:cs typeface="Arial" pitchFamily="34" charset="-120"/>
              </a:rPr>
              <a:t>Noor (24) and Emely already know they overspend. They double-think purchases. Their fix is behavioral ("shop smarter"), not informational. They pay $0 for financial tools. They need a system, not more awareness.</a:t>
            </a:r>
            <a:endParaRPr lang="en-US" sz="1100" dirty="0"/>
          </a:p>
        </p:txBody>
      </p:sp>
      <p:sp>
        <p:nvSpPr>
          <p:cNvPr id="7" name="Text 5"/>
          <p:cNvSpPr/>
          <p:nvPr/>
        </p:nvSpPr>
        <p:spPr>
          <a:xfrm>
            <a:off x="507950" y="2814480"/>
            <a:ext cx="3975199" cy="1444377"/>
          </a:xfrm>
          <a:prstGeom prst="roundRect">
            <a:avLst>
              <a:gd name="adj" fmla="val 7034"/>
            </a:avLst>
          </a:prstGeom>
          <a:solidFill>
            <a:srgbClr val="FFFFFF"/>
          </a:solidFill>
          <a:ln/>
        </p:spPr>
        <p:txBody>
          <a:bodyPr wrap="square" rtlCol="0" anchor="ctr"/>
          <a:lstStyle/>
          <a:p>
            <a:pPr marL="0" indent="0">
              <a:buNone/>
            </a:pPr>
            <a:endParaRPr lang="en-US" dirty="0"/>
          </a:p>
        </p:txBody>
      </p:sp>
      <p:sp>
        <p:nvSpPr>
          <p:cNvPr id="8" name="Text 6"/>
          <p:cNvSpPr/>
          <p:nvPr/>
        </p:nvSpPr>
        <p:spPr>
          <a:xfrm>
            <a:off x="685651" y="2992181"/>
            <a:ext cx="3692194" cy="200025"/>
          </a:xfrm>
          <a:prstGeom prst="rect">
            <a:avLst/>
          </a:prstGeom>
          <a:noFill/>
          <a:ln/>
        </p:spPr>
        <p:txBody>
          <a:bodyPr wrap="square" lIns="0" tIns="0" rIns="0" bIns="0" rtlCol="0" anchor="t"/>
          <a:lstStyle/>
          <a:p>
            <a:pPr marL="0" indent="0" algn="l">
              <a:spcAft>
                <a:spcPts val="400"/>
              </a:spcAft>
              <a:buNone/>
            </a:pPr>
            <a:r>
              <a:rPr lang="en-US" sz="1300" b="1" dirty="0">
                <a:solidFill>
                  <a:srgbClr val="D64545"/>
                </a:solidFill>
                <a:latin typeface="Arial" pitchFamily="34" charset="0"/>
                <a:ea typeface="Arial" pitchFamily="34" charset="-122"/>
                <a:cs typeface="Arial" pitchFamily="34" charset="-120"/>
              </a:rPr>
              <a:t>Who We Are NOT Building For</a:t>
            </a:r>
            <a:endParaRPr lang="en-US" sz="1300" dirty="0"/>
          </a:p>
        </p:txBody>
      </p:sp>
      <p:sp>
        <p:nvSpPr>
          <p:cNvPr id="9" name="Text 7"/>
          <p:cNvSpPr/>
          <p:nvPr/>
        </p:nvSpPr>
        <p:spPr>
          <a:xfrm>
            <a:off x="685651" y="3242956"/>
            <a:ext cx="3692194" cy="838200"/>
          </a:xfrm>
          <a:prstGeom prst="rect">
            <a:avLst/>
          </a:prstGeom>
          <a:noFill/>
          <a:ln/>
        </p:spPr>
        <p:txBody>
          <a:bodyPr wrap="square" lIns="0" tIns="0" rIns="0" bIns="0" rtlCol="0" anchor="t"/>
          <a:lstStyle/>
          <a:p>
            <a:pPr marL="0" indent="0" algn="l">
              <a:lnSpc>
                <a:spcPts val="1650"/>
              </a:lnSpc>
              <a:buNone/>
            </a:pPr>
            <a:r>
              <a:rPr lang="en-US" sz="1100" dirty="0">
                <a:solidFill>
                  <a:srgbClr val="2D2D2D"/>
                </a:solidFill>
                <a:latin typeface="Arial" pitchFamily="34" charset="0"/>
                <a:ea typeface="Arial" pitchFamily="34" charset="-122"/>
                <a:cs typeface="Arial" pitchFamily="34" charset="-120"/>
              </a:rPr>
              <a:t>Tamara’s profile: someone who lacks basic visibility into their spending. That is a different product. We are building for the person one step ahead, who sees the problem but does not act.</a:t>
            </a:r>
            <a:endParaRPr lang="en-US" sz="1100" dirty="0"/>
          </a:p>
        </p:txBody>
      </p:sp>
      <p:sp>
        <p:nvSpPr>
          <p:cNvPr id="10" name="Text 8"/>
          <p:cNvSpPr/>
          <p:nvPr/>
        </p:nvSpPr>
        <p:spPr>
          <a:xfrm>
            <a:off x="4660850" y="1268602"/>
            <a:ext cx="3975199" cy="2073920"/>
          </a:xfrm>
          <a:prstGeom prst="roundRect">
            <a:avLst>
              <a:gd name="adj" fmla="val 4899"/>
            </a:avLst>
          </a:prstGeom>
          <a:solidFill>
            <a:srgbClr val="FFFFFF"/>
          </a:solidFill>
          <a:ln/>
        </p:spPr>
        <p:txBody>
          <a:bodyPr wrap="square" rtlCol="0" anchor="ctr"/>
          <a:lstStyle/>
          <a:p>
            <a:pPr marL="0" indent="0">
              <a:buNone/>
            </a:pPr>
            <a:endParaRPr lang="en-US" dirty="0"/>
          </a:p>
        </p:txBody>
      </p:sp>
      <p:sp>
        <p:nvSpPr>
          <p:cNvPr id="11" name="Text 9"/>
          <p:cNvSpPr/>
          <p:nvPr/>
        </p:nvSpPr>
        <p:spPr>
          <a:xfrm>
            <a:off x="4838551" y="1446303"/>
            <a:ext cx="3692194" cy="200025"/>
          </a:xfrm>
          <a:prstGeom prst="rect">
            <a:avLst/>
          </a:prstGeom>
          <a:noFill/>
          <a:ln/>
        </p:spPr>
        <p:txBody>
          <a:bodyPr wrap="square" lIns="0" tIns="0" rIns="0" bIns="0" rtlCol="0" anchor="t"/>
          <a:lstStyle/>
          <a:p>
            <a:pPr marL="0" indent="0" algn="l">
              <a:spcAft>
                <a:spcPts val="400"/>
              </a:spcAft>
              <a:buNone/>
            </a:pPr>
            <a:r>
              <a:rPr lang="en-US" sz="1300" b="1" dirty="0">
                <a:solidFill>
                  <a:srgbClr val="5A9171"/>
                </a:solidFill>
                <a:latin typeface="Arial" pitchFamily="34" charset="0"/>
                <a:ea typeface="Arial" pitchFamily="34" charset="-122"/>
                <a:cs typeface="Arial" pitchFamily="34" charset="-120"/>
              </a:rPr>
              <a:t>Key Decisions from Interviews</a:t>
            </a:r>
            <a:endParaRPr lang="en-US" sz="1300" dirty="0"/>
          </a:p>
        </p:txBody>
      </p:sp>
      <p:sp>
        <p:nvSpPr>
          <p:cNvPr id="12" name="Text 10"/>
          <p:cNvSpPr/>
          <p:nvPr/>
        </p:nvSpPr>
        <p:spPr>
          <a:xfrm>
            <a:off x="4838551" y="1697078"/>
            <a:ext cx="3619798" cy="1442442"/>
          </a:xfrm>
          <a:prstGeom prst="rect">
            <a:avLst/>
          </a:prstGeom>
          <a:noFill/>
          <a:ln/>
        </p:spPr>
        <p:txBody>
          <a:bodyPr wrap="square" lIns="88900" tIns="0" rIns="0" bIns="0" rtlCol="0" anchor="t"/>
          <a:lstStyle/>
          <a:p>
            <a:pPr marL="88900" indent="-88900" algn="l">
              <a:lnSpc>
                <a:spcPts val="176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$5.99/mo subscription (3 interviewees named a direct price)</a:t>
            </a:r>
            <a:endParaRPr lang="en-US" sz="1100" dirty="0"/>
          </a:p>
          <a:p>
            <a:pPr marL="88900" indent="-88900" algn="l">
              <a:lnSpc>
                <a:spcPts val="176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CSV import first, Plaid after core loop validated</a:t>
            </a:r>
            <a:endParaRPr lang="en-US" sz="1100" dirty="0"/>
          </a:p>
          <a:p>
            <a:pPr marL="88900" indent="-88900" algn="l">
              <a:lnSpc>
                <a:spcPts val="176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Weekly cadence, not daily (avoids notification fatigue)</a:t>
            </a:r>
            <a:endParaRPr lang="en-US" sz="1100" dirty="0"/>
          </a:p>
          <a:p>
            <a:pPr marL="88900" indent="-88900" algn="l">
              <a:lnSpc>
                <a:spcPts val="176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Three tones, not one alarm mode</a:t>
            </a:r>
            <a:endParaRPr lang="en-US" sz="1100" dirty="0"/>
          </a:p>
          <a:p>
            <a:pPr marL="88900" indent="-88900" algn="l">
              <a:lnSpc>
                <a:spcPts val="176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Plain language, not financial jargon</a:t>
            </a:r>
            <a:endParaRPr lang="en-US" sz="1100" dirty="0"/>
          </a:p>
        </p:txBody>
      </p:sp>
      <p:sp>
        <p:nvSpPr>
          <p:cNvPr id="13" name="Text 11"/>
          <p:cNvSpPr/>
          <p:nvPr/>
        </p:nvSpPr>
        <p:spPr>
          <a:xfrm>
            <a:off x="4660850" y="3444023"/>
            <a:ext cx="3975199" cy="558701"/>
          </a:xfrm>
          <a:prstGeom prst="roundRect">
            <a:avLst>
              <a:gd name="adj" fmla="val 13639"/>
            </a:avLst>
          </a:prstGeom>
          <a:solidFill>
            <a:srgbClr val="F2F7F4"/>
          </a:solidFill>
          <a:ln/>
        </p:spPr>
        <p:txBody>
          <a:bodyPr wrap="square" rtlCol="0" anchor="ctr"/>
          <a:lstStyle/>
          <a:p>
            <a:pPr marL="0" indent="0">
              <a:buNone/>
            </a:pPr>
            <a:endParaRPr lang="en-US" dirty="0"/>
          </a:p>
        </p:txBody>
      </p:sp>
      <p:sp>
        <p:nvSpPr>
          <p:cNvPr id="14" name="Text 12"/>
          <p:cNvSpPr/>
          <p:nvPr/>
        </p:nvSpPr>
        <p:spPr>
          <a:xfrm>
            <a:off x="4838551" y="3570973"/>
            <a:ext cx="3692194" cy="3048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5 assumptions tested across 5 interviews. 3 revised, 2 confirmed. Sample size flagged as a risk.</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2F7F4"/>
        </a:solidFill>
        <a:effectLst/>
      </p:bgPr>
    </p:bg>
    <p:spTree>
      <p:nvGrpSpPr>
        <p:cNvPr id="1" name=""/>
        <p:cNvGrpSpPr/>
        <p:nvPr/>
      </p:nvGrpSpPr>
      <p:grpSpPr>
        <a:xfrm>
          <a:off x="0" y="0"/>
          <a:ext cx="0" cy="0"/>
          <a:chOff x="0" y="0"/>
          <a:chExt cx="0" cy="0"/>
        </a:xfrm>
      </p:grpSpPr>
      <p:sp>
        <p:nvSpPr>
          <p:cNvPr id="2" name="Text 0"/>
          <p:cNvSpPr/>
          <p:nvPr/>
        </p:nvSpPr>
        <p:spPr>
          <a:xfrm>
            <a:off x="507950" y="355550"/>
            <a:ext cx="8290661" cy="171450"/>
          </a:xfrm>
          <a:prstGeom prst="rect">
            <a:avLst/>
          </a:prstGeom>
          <a:noFill/>
          <a:ln/>
        </p:spPr>
        <p:txBody>
          <a:bodyPr wrap="square" lIns="0" tIns="0" rIns="0" bIns="0" rtlCol="0" anchor="t"/>
          <a:lstStyle/>
          <a:p>
            <a:pPr marL="0" indent="0" algn="l">
              <a:spcAft>
                <a:spcPts val="400"/>
              </a:spcAft>
              <a:buNone/>
            </a:pPr>
            <a:r>
              <a:rPr lang="en-US" sz="1400" b="1" dirty="0">
                <a:solidFill>
                  <a:srgbClr val="5A9171"/>
                </a:solidFill>
                <a:latin typeface="Arial" pitchFamily="34" charset="0"/>
                <a:ea typeface="Arial" pitchFamily="34" charset="-122"/>
                <a:cs typeface="Arial" pitchFamily="34" charset="-120"/>
              </a:rPr>
              <a:t>TRACTION</a:t>
            </a:r>
            <a:endParaRPr lang="en-US" sz="1400" dirty="0"/>
          </a:p>
        </p:txBody>
      </p:sp>
      <p:sp>
        <p:nvSpPr>
          <p:cNvPr id="3" name="Text 1"/>
          <p:cNvSpPr/>
          <p:nvPr/>
        </p:nvSpPr>
        <p:spPr>
          <a:xfrm>
            <a:off x="507950" y="577751"/>
            <a:ext cx="8290661" cy="365671"/>
          </a:xfrm>
          <a:prstGeom prst="rect">
            <a:avLst/>
          </a:prstGeom>
          <a:noFill/>
          <a:ln/>
        </p:spPr>
        <p:txBody>
          <a:bodyPr wrap="square" lIns="0" tIns="0" rIns="0" bIns="0" rtlCol="0" anchor="t"/>
          <a:lstStyle/>
          <a:p>
            <a:pPr marL="0" indent="0" algn="l">
              <a:lnSpc>
                <a:spcPts val="2880"/>
              </a:lnSpc>
              <a:spcAft>
                <a:spcPts val="1400"/>
              </a:spcAft>
              <a:buNone/>
            </a:pPr>
            <a:r>
              <a:rPr lang="en-US" sz="2400" b="1" dirty="0">
                <a:solidFill>
                  <a:srgbClr val="2D2D2D"/>
                </a:solidFill>
                <a:latin typeface="Arial" pitchFamily="34" charset="0"/>
                <a:ea typeface="Arial" pitchFamily="34" charset="-122"/>
                <a:cs typeface="Arial" pitchFamily="34" charset="-120"/>
              </a:rPr>
              <a:t>Early signal from a small account. Real product built.</a:t>
            </a:r>
            <a:endParaRPr lang="en-US" sz="2400" dirty="0"/>
          </a:p>
        </p:txBody>
      </p:sp>
      <p:sp>
        <p:nvSpPr>
          <p:cNvPr id="4" name="Text 2"/>
          <p:cNvSpPr/>
          <p:nvPr/>
        </p:nvSpPr>
        <p:spPr>
          <a:xfrm>
            <a:off x="507950" y="1283351"/>
            <a:ext cx="4054703" cy="200025"/>
          </a:xfrm>
          <a:prstGeom prst="rect">
            <a:avLst/>
          </a:prstGeom>
          <a:noFill/>
          <a:ln/>
        </p:spPr>
        <p:txBody>
          <a:bodyPr wrap="square" lIns="0" tIns="0" rIns="0" bIns="0" rtlCol="0" anchor="t"/>
          <a:lstStyle/>
          <a:p>
            <a:pPr marL="0" indent="0" algn="l">
              <a:spcAft>
                <a:spcPts val="800"/>
              </a:spcAft>
              <a:buNone/>
            </a:pPr>
            <a:r>
              <a:rPr lang="en-US" sz="1300" b="1" dirty="0">
                <a:solidFill>
                  <a:srgbClr val="5A9171"/>
                </a:solidFill>
                <a:latin typeface="Arial" pitchFamily="34" charset="0"/>
                <a:ea typeface="Arial" pitchFamily="34" charset="-122"/>
                <a:cs typeface="Arial" pitchFamily="34" charset="-120"/>
              </a:rPr>
              <a:t>Channel Performance</a:t>
            </a:r>
            <a:endParaRPr lang="en-US" sz="1300" dirty="0"/>
          </a:p>
        </p:txBody>
      </p:sp>
      <p:sp>
        <p:nvSpPr>
          <p:cNvPr id="5" name="Text 3"/>
          <p:cNvSpPr/>
          <p:nvPr/>
        </p:nvSpPr>
        <p:spPr>
          <a:xfrm>
            <a:off x="507950" y="1584877"/>
            <a:ext cx="1936849" cy="720626"/>
          </a:xfrm>
          <a:prstGeom prst="roundRect">
            <a:avLst>
              <a:gd name="adj" fmla="val 10574"/>
            </a:avLst>
          </a:prstGeom>
          <a:solidFill>
            <a:srgbClr val="FFFFFF"/>
          </a:solidFill>
          <a:ln/>
        </p:spPr>
        <p:txBody>
          <a:bodyPr wrap="square" rtlCol="0" anchor="ctr"/>
          <a:lstStyle/>
          <a:p>
            <a:pPr marL="0" indent="0">
              <a:buNone/>
            </a:pPr>
            <a:endParaRPr lang="en-US" dirty="0"/>
          </a:p>
        </p:txBody>
      </p:sp>
      <p:sp>
        <p:nvSpPr>
          <p:cNvPr id="6" name="Text 4"/>
          <p:cNvSpPr/>
          <p:nvPr/>
        </p:nvSpPr>
        <p:spPr>
          <a:xfrm>
            <a:off x="618071" y="1711827"/>
            <a:ext cx="1716607" cy="323850"/>
          </a:xfrm>
          <a:prstGeom prst="rect">
            <a:avLst/>
          </a:prstGeom>
          <a:noFill/>
          <a:ln/>
        </p:spPr>
        <p:txBody>
          <a:bodyPr wrap="square" lIns="0" tIns="0" rIns="0" bIns="0" rtlCol="0" anchor="t"/>
          <a:lstStyle/>
          <a:p>
            <a:pPr marL="0" indent="0" algn="ctr">
              <a:buNone/>
            </a:pPr>
            <a:r>
              <a:rPr lang="en-US" sz="2200" b="1" dirty="0">
                <a:solidFill>
                  <a:srgbClr val="2D2D2D"/>
                </a:solidFill>
                <a:latin typeface="Arial" pitchFamily="34" charset="0"/>
                <a:ea typeface="Arial" pitchFamily="34" charset="-122"/>
                <a:cs typeface="Arial" pitchFamily="34" charset="-120"/>
              </a:rPr>
              <a:t>1,917</a:t>
            </a:r>
            <a:endParaRPr lang="en-US" sz="2200" dirty="0"/>
          </a:p>
        </p:txBody>
      </p:sp>
      <p:sp>
        <p:nvSpPr>
          <p:cNvPr id="7" name="Text 5"/>
          <p:cNvSpPr/>
          <p:nvPr/>
        </p:nvSpPr>
        <p:spPr>
          <a:xfrm>
            <a:off x="618071" y="2035677"/>
            <a:ext cx="1716607" cy="142875"/>
          </a:xfrm>
          <a:prstGeom prst="rect">
            <a:avLst/>
          </a:prstGeom>
          <a:noFill/>
          <a:ln/>
        </p:spPr>
        <p:txBody>
          <a:bodyPr wrap="square" lIns="0" tIns="0" rIns="0" bIns="0" rtlCol="0" anchor="t"/>
          <a:lstStyle/>
          <a:p>
            <a:pPr marL="0" indent="0" algn="ctr">
              <a:buNone/>
            </a:pPr>
            <a:r>
              <a:rPr lang="en-US" sz="1000" dirty="0">
                <a:solidFill>
                  <a:srgbClr val="87B89D"/>
                </a:solidFill>
                <a:latin typeface="Arial" pitchFamily="34" charset="0"/>
                <a:ea typeface="Arial" pitchFamily="34" charset="-122"/>
                <a:cs typeface="Arial" pitchFamily="34" charset="-120"/>
              </a:rPr>
              <a:t>Instagram views</a:t>
            </a:r>
            <a:endParaRPr lang="en-US" sz="1000" dirty="0"/>
          </a:p>
        </p:txBody>
      </p:sp>
      <p:sp>
        <p:nvSpPr>
          <p:cNvPr id="8" name="Text 6"/>
          <p:cNvSpPr/>
          <p:nvPr/>
        </p:nvSpPr>
        <p:spPr>
          <a:xfrm>
            <a:off x="2546300" y="1584877"/>
            <a:ext cx="1936849" cy="720626"/>
          </a:xfrm>
          <a:prstGeom prst="roundRect">
            <a:avLst>
              <a:gd name="adj" fmla="val 10574"/>
            </a:avLst>
          </a:prstGeom>
          <a:solidFill>
            <a:srgbClr val="FFFFFF"/>
          </a:solidFill>
          <a:ln/>
        </p:spPr>
        <p:txBody>
          <a:bodyPr wrap="square" rtlCol="0" anchor="ctr"/>
          <a:lstStyle/>
          <a:p>
            <a:pPr marL="0" indent="0">
              <a:buNone/>
            </a:pPr>
            <a:endParaRPr lang="en-US" dirty="0"/>
          </a:p>
        </p:txBody>
      </p:sp>
      <p:sp>
        <p:nvSpPr>
          <p:cNvPr id="9" name="Text 7"/>
          <p:cNvSpPr/>
          <p:nvPr/>
        </p:nvSpPr>
        <p:spPr>
          <a:xfrm>
            <a:off x="2656421" y="1711827"/>
            <a:ext cx="1716607" cy="323850"/>
          </a:xfrm>
          <a:prstGeom prst="rect">
            <a:avLst/>
          </a:prstGeom>
          <a:noFill/>
          <a:ln/>
        </p:spPr>
        <p:txBody>
          <a:bodyPr wrap="square" lIns="0" tIns="0" rIns="0" bIns="0" rtlCol="0" anchor="t"/>
          <a:lstStyle/>
          <a:p>
            <a:pPr marL="0" indent="0" algn="ctr">
              <a:buNone/>
            </a:pPr>
            <a:r>
              <a:rPr lang="en-US" sz="2200" b="1" dirty="0">
                <a:solidFill>
                  <a:srgbClr val="2D2D2D"/>
                </a:solidFill>
                <a:latin typeface="Arial" pitchFamily="34" charset="0"/>
                <a:ea typeface="Arial" pitchFamily="34" charset="-122"/>
                <a:cs typeface="Arial" pitchFamily="34" charset="-120"/>
              </a:rPr>
              <a:t>813</a:t>
            </a:r>
            <a:endParaRPr lang="en-US" sz="2200" dirty="0"/>
          </a:p>
        </p:txBody>
      </p:sp>
      <p:sp>
        <p:nvSpPr>
          <p:cNvPr id="10" name="Text 8"/>
          <p:cNvSpPr/>
          <p:nvPr/>
        </p:nvSpPr>
        <p:spPr>
          <a:xfrm>
            <a:off x="2656421" y="2035677"/>
            <a:ext cx="1716607" cy="142875"/>
          </a:xfrm>
          <a:prstGeom prst="rect">
            <a:avLst/>
          </a:prstGeom>
          <a:noFill/>
          <a:ln/>
        </p:spPr>
        <p:txBody>
          <a:bodyPr wrap="square" lIns="0" tIns="0" rIns="0" bIns="0" rtlCol="0" anchor="t"/>
          <a:lstStyle/>
          <a:p>
            <a:pPr marL="0" indent="0" algn="ctr">
              <a:buNone/>
            </a:pPr>
            <a:r>
              <a:rPr lang="en-US" sz="1000" dirty="0">
                <a:solidFill>
                  <a:srgbClr val="87B89D"/>
                </a:solidFill>
                <a:latin typeface="Arial" pitchFamily="34" charset="0"/>
                <a:ea typeface="Arial" pitchFamily="34" charset="-122"/>
                <a:cs typeface="Arial" pitchFamily="34" charset="-120"/>
              </a:rPr>
              <a:t>accounts reached</a:t>
            </a:r>
            <a:endParaRPr lang="en-US" sz="1000" dirty="0"/>
          </a:p>
        </p:txBody>
      </p:sp>
      <p:sp>
        <p:nvSpPr>
          <p:cNvPr id="11" name="Text 9"/>
          <p:cNvSpPr/>
          <p:nvPr/>
        </p:nvSpPr>
        <p:spPr>
          <a:xfrm>
            <a:off x="507950" y="2407004"/>
            <a:ext cx="1936849" cy="720626"/>
          </a:xfrm>
          <a:prstGeom prst="roundRect">
            <a:avLst>
              <a:gd name="adj" fmla="val 10574"/>
            </a:avLst>
          </a:prstGeom>
          <a:solidFill>
            <a:srgbClr val="FFFFFF"/>
          </a:solidFill>
          <a:ln/>
        </p:spPr>
        <p:txBody>
          <a:bodyPr wrap="square" rtlCol="0" anchor="ctr"/>
          <a:lstStyle/>
          <a:p>
            <a:pPr marL="0" indent="0">
              <a:buNone/>
            </a:pPr>
            <a:endParaRPr lang="en-US" dirty="0"/>
          </a:p>
        </p:txBody>
      </p:sp>
      <p:sp>
        <p:nvSpPr>
          <p:cNvPr id="12" name="Text 10"/>
          <p:cNvSpPr/>
          <p:nvPr/>
        </p:nvSpPr>
        <p:spPr>
          <a:xfrm>
            <a:off x="618071" y="2533954"/>
            <a:ext cx="1716607" cy="323850"/>
          </a:xfrm>
          <a:prstGeom prst="rect">
            <a:avLst/>
          </a:prstGeom>
          <a:noFill/>
          <a:ln/>
        </p:spPr>
        <p:txBody>
          <a:bodyPr wrap="square" lIns="0" tIns="0" rIns="0" bIns="0" rtlCol="0" anchor="t"/>
          <a:lstStyle/>
          <a:p>
            <a:pPr marL="0" indent="0" algn="ctr">
              <a:buNone/>
            </a:pPr>
            <a:r>
              <a:rPr lang="en-US" sz="2200" b="1" dirty="0">
                <a:solidFill>
                  <a:srgbClr val="2D2D2D"/>
                </a:solidFill>
                <a:latin typeface="Arial" pitchFamily="34" charset="0"/>
                <a:ea typeface="Arial" pitchFamily="34" charset="-122"/>
                <a:cs typeface="Arial" pitchFamily="34" charset="-120"/>
              </a:rPr>
              <a:t>26</a:t>
            </a:r>
            <a:endParaRPr lang="en-US" sz="2200" dirty="0"/>
          </a:p>
        </p:txBody>
      </p:sp>
      <p:sp>
        <p:nvSpPr>
          <p:cNvPr id="13" name="Text 11"/>
          <p:cNvSpPr/>
          <p:nvPr/>
        </p:nvSpPr>
        <p:spPr>
          <a:xfrm>
            <a:off x="618071" y="2857804"/>
            <a:ext cx="1716607" cy="142875"/>
          </a:xfrm>
          <a:prstGeom prst="rect">
            <a:avLst/>
          </a:prstGeom>
          <a:noFill/>
          <a:ln/>
        </p:spPr>
        <p:txBody>
          <a:bodyPr wrap="square" lIns="0" tIns="0" rIns="0" bIns="0" rtlCol="0" anchor="t"/>
          <a:lstStyle/>
          <a:p>
            <a:pPr marL="0" indent="0" algn="ctr">
              <a:buNone/>
            </a:pPr>
            <a:r>
              <a:rPr lang="en-US" sz="1000" dirty="0">
                <a:solidFill>
                  <a:srgbClr val="87B89D"/>
                </a:solidFill>
                <a:latin typeface="Arial" pitchFamily="34" charset="0"/>
                <a:ea typeface="Arial" pitchFamily="34" charset="-122"/>
                <a:cs typeface="Arial" pitchFamily="34" charset="-120"/>
              </a:rPr>
              <a:t>site visits</a:t>
            </a:r>
            <a:endParaRPr lang="en-US" sz="1000" dirty="0"/>
          </a:p>
        </p:txBody>
      </p:sp>
      <p:sp>
        <p:nvSpPr>
          <p:cNvPr id="14" name="Text 12"/>
          <p:cNvSpPr/>
          <p:nvPr/>
        </p:nvSpPr>
        <p:spPr>
          <a:xfrm>
            <a:off x="2546300" y="2407004"/>
            <a:ext cx="1936849" cy="720626"/>
          </a:xfrm>
          <a:prstGeom prst="roundRect">
            <a:avLst>
              <a:gd name="adj" fmla="val 10574"/>
            </a:avLst>
          </a:prstGeom>
          <a:solidFill>
            <a:srgbClr val="FFFFFF"/>
          </a:solidFill>
          <a:ln/>
        </p:spPr>
        <p:txBody>
          <a:bodyPr wrap="square" rtlCol="0" anchor="ctr"/>
          <a:lstStyle/>
          <a:p>
            <a:pPr marL="0" indent="0">
              <a:buNone/>
            </a:pPr>
            <a:endParaRPr lang="en-US" dirty="0"/>
          </a:p>
        </p:txBody>
      </p:sp>
      <p:sp>
        <p:nvSpPr>
          <p:cNvPr id="15" name="Text 13"/>
          <p:cNvSpPr/>
          <p:nvPr/>
        </p:nvSpPr>
        <p:spPr>
          <a:xfrm>
            <a:off x="2656421" y="2533954"/>
            <a:ext cx="1716607" cy="323850"/>
          </a:xfrm>
          <a:prstGeom prst="rect">
            <a:avLst/>
          </a:prstGeom>
          <a:noFill/>
          <a:ln/>
        </p:spPr>
        <p:txBody>
          <a:bodyPr wrap="square" lIns="0" tIns="0" rIns="0" bIns="0" rtlCol="0" anchor="t"/>
          <a:lstStyle/>
          <a:p>
            <a:pPr marL="0" indent="0" algn="ctr">
              <a:buNone/>
            </a:pPr>
            <a:r>
              <a:rPr lang="en-US" sz="2200" b="1" dirty="0">
                <a:solidFill>
                  <a:srgbClr val="D64545"/>
                </a:solidFill>
                <a:latin typeface="Arial" pitchFamily="34" charset="0"/>
                <a:ea typeface="Arial" pitchFamily="34" charset="-122"/>
                <a:cs typeface="Arial" pitchFamily="34" charset="-120"/>
              </a:rPr>
              <a:t>0</a:t>
            </a:r>
            <a:endParaRPr lang="en-US" sz="2200" dirty="0"/>
          </a:p>
        </p:txBody>
      </p:sp>
      <p:sp>
        <p:nvSpPr>
          <p:cNvPr id="16" name="Text 14"/>
          <p:cNvSpPr/>
          <p:nvPr/>
        </p:nvSpPr>
        <p:spPr>
          <a:xfrm>
            <a:off x="2656421" y="2857804"/>
            <a:ext cx="1716607" cy="142875"/>
          </a:xfrm>
          <a:prstGeom prst="rect">
            <a:avLst/>
          </a:prstGeom>
          <a:noFill/>
          <a:ln/>
        </p:spPr>
        <p:txBody>
          <a:bodyPr wrap="square" lIns="0" tIns="0" rIns="0" bIns="0" rtlCol="0" anchor="t"/>
          <a:lstStyle/>
          <a:p>
            <a:pPr marL="0" indent="0" algn="ctr">
              <a:buNone/>
            </a:pPr>
            <a:r>
              <a:rPr lang="en-US" sz="1000" dirty="0">
                <a:solidFill>
                  <a:srgbClr val="87B89D"/>
                </a:solidFill>
                <a:latin typeface="Arial" pitchFamily="34" charset="0"/>
                <a:ea typeface="Arial" pitchFamily="34" charset="-122"/>
                <a:cs typeface="Arial" pitchFamily="34" charset="-120"/>
              </a:rPr>
              <a:t>signups (landing page issue)</a:t>
            </a:r>
            <a:endParaRPr lang="en-US" sz="1000" dirty="0"/>
          </a:p>
        </p:txBody>
      </p:sp>
      <p:sp>
        <p:nvSpPr>
          <p:cNvPr id="17" name="Text 15"/>
          <p:cNvSpPr/>
          <p:nvPr/>
        </p:nvSpPr>
        <p:spPr>
          <a:xfrm>
            <a:off x="507950" y="3229130"/>
            <a:ext cx="3975199" cy="736104"/>
          </a:xfrm>
          <a:prstGeom prst="roundRect">
            <a:avLst>
              <a:gd name="adj" fmla="val 10352"/>
            </a:avLst>
          </a:prstGeom>
          <a:solidFill>
            <a:srgbClr val="F2F7F4"/>
          </a:solidFill>
          <a:ln/>
        </p:spPr>
        <p:txBody>
          <a:bodyPr wrap="square" rtlCol="0" anchor="ctr"/>
          <a:lstStyle/>
          <a:p>
            <a:pPr marL="0" indent="0">
              <a:buNone/>
            </a:pPr>
            <a:endParaRPr lang="en-US" dirty="0"/>
          </a:p>
        </p:txBody>
      </p:sp>
      <p:sp>
        <p:nvSpPr>
          <p:cNvPr id="18" name="Text 16"/>
          <p:cNvSpPr/>
          <p:nvPr/>
        </p:nvSpPr>
        <p:spPr>
          <a:xfrm>
            <a:off x="660350" y="3330631"/>
            <a:ext cx="3743807" cy="533102"/>
          </a:xfrm>
          <a:prstGeom prst="rect">
            <a:avLst/>
          </a:prstGeom>
          <a:noFill/>
          <a:ln/>
        </p:spPr>
        <p:txBody>
          <a:bodyPr wrap="square" lIns="0" tIns="0" rIns="0" bIns="0" rtlCol="0" anchor="t"/>
          <a:lstStyle/>
          <a:p>
            <a:pPr marL="0" indent="0" algn="l">
              <a:lnSpc>
                <a:spcPts val="1400"/>
              </a:lnSpc>
              <a:buNone/>
            </a:pPr>
            <a:r>
              <a:rPr lang="en-US" sz="1000" dirty="0">
                <a:solidFill>
                  <a:srgbClr val="2D2D2D"/>
                </a:solidFill>
                <a:latin typeface="Arial" pitchFamily="34" charset="0"/>
                <a:ea typeface="Arial" pitchFamily="34" charset="-122"/>
                <a:cs typeface="Arial" pitchFamily="34" charset="-120"/>
              </a:rPr>
              <a:t>Hook that worked: "You get paid, you are SO careful for like 3 days." Facebook cross-post: 402 views. Reddit and Rollins alumni channels designed, not yet posted.</a:t>
            </a:r>
            <a:endParaRPr lang="en-US" sz="1000" dirty="0"/>
          </a:p>
        </p:txBody>
      </p:sp>
      <p:sp>
        <p:nvSpPr>
          <p:cNvPr id="19" name="Text 17"/>
          <p:cNvSpPr/>
          <p:nvPr/>
        </p:nvSpPr>
        <p:spPr>
          <a:xfrm>
            <a:off x="4660850" y="1283351"/>
            <a:ext cx="4054703" cy="200025"/>
          </a:xfrm>
          <a:prstGeom prst="rect">
            <a:avLst/>
          </a:prstGeom>
          <a:noFill/>
          <a:ln/>
        </p:spPr>
        <p:txBody>
          <a:bodyPr wrap="square" lIns="0" tIns="0" rIns="0" bIns="0" rtlCol="0" anchor="t"/>
          <a:lstStyle/>
          <a:p>
            <a:pPr marL="0" indent="0" algn="l">
              <a:spcAft>
                <a:spcPts val="800"/>
              </a:spcAft>
              <a:buNone/>
            </a:pPr>
            <a:r>
              <a:rPr lang="en-US" sz="1300" b="1" dirty="0">
                <a:solidFill>
                  <a:srgbClr val="5A9171"/>
                </a:solidFill>
                <a:latin typeface="Arial" pitchFamily="34" charset="0"/>
                <a:ea typeface="Arial" pitchFamily="34" charset="-122"/>
                <a:cs typeface="Arial" pitchFamily="34" charset="-120"/>
              </a:rPr>
              <a:t>Product Built (Phase 0 Complete)</a:t>
            </a:r>
            <a:endParaRPr lang="en-US" sz="1300" dirty="0"/>
          </a:p>
        </p:txBody>
      </p:sp>
      <p:sp>
        <p:nvSpPr>
          <p:cNvPr id="20" name="Text 18"/>
          <p:cNvSpPr/>
          <p:nvPr/>
        </p:nvSpPr>
        <p:spPr>
          <a:xfrm>
            <a:off x="4660850" y="1584877"/>
            <a:ext cx="3975199" cy="2119313"/>
          </a:xfrm>
          <a:prstGeom prst="roundRect">
            <a:avLst>
              <a:gd name="adj" fmla="val 4794"/>
            </a:avLst>
          </a:prstGeom>
          <a:solidFill>
            <a:srgbClr val="FFFFFF"/>
          </a:solidFill>
          <a:ln/>
        </p:spPr>
        <p:txBody>
          <a:bodyPr wrap="square" rtlCol="0" anchor="ctr"/>
          <a:lstStyle/>
          <a:p>
            <a:pPr marL="0" indent="0">
              <a:buNone/>
            </a:pPr>
            <a:endParaRPr lang="en-US" dirty="0"/>
          </a:p>
        </p:txBody>
      </p:sp>
      <p:sp>
        <p:nvSpPr>
          <p:cNvPr id="21" name="Text 19"/>
          <p:cNvSpPr/>
          <p:nvPr/>
        </p:nvSpPr>
        <p:spPr>
          <a:xfrm>
            <a:off x="4813250" y="1737277"/>
            <a:ext cx="3670399" cy="1789212"/>
          </a:xfrm>
          <a:prstGeom prst="rect">
            <a:avLst/>
          </a:prstGeom>
          <a:noFill/>
          <a:ln/>
        </p:spPr>
        <p:txBody>
          <a:bodyPr wrap="square" lIns="88900" tIns="0" rIns="0" bIns="0" rtlCol="0" anchor="t"/>
          <a:lstStyle/>
          <a:p>
            <a:pPr marL="88900" indent="-88900" algn="l">
              <a:lnSpc>
                <a:spcPts val="187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SQLite schema: 6 entities (User, Account, Transaction, Category, Budget, Correction Rule)</a:t>
            </a:r>
            <a:endParaRPr lang="en-US" sz="1100" dirty="0"/>
          </a:p>
          <a:p>
            <a:pPr marL="88900" indent="-88900" algn="l">
              <a:lnSpc>
                <a:spcPts val="187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Auth and sessions with cross-user isolation</a:t>
            </a:r>
            <a:endParaRPr lang="en-US" sz="1100" dirty="0"/>
          </a:p>
          <a:p>
            <a:pPr marL="88900" indent="-88900" algn="l">
              <a:lnSpc>
                <a:spcPts val="187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App shell: Inbox, Summaries tabs</a:t>
            </a:r>
            <a:endParaRPr lang="en-US" sz="1100" dirty="0"/>
          </a:p>
          <a:p>
            <a:pPr marL="88900" indent="-88900" algn="l">
              <a:lnSpc>
                <a:spcPts val="187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Check-in engine: on-demand + automatic weekly, persisted with dates in Inbox and Summaries</a:t>
            </a:r>
            <a:endParaRPr lang="en-US" sz="1100" dirty="0"/>
          </a:p>
          <a:p>
            <a:pPr marL="88900" indent="-88900" algn="l">
              <a:lnSpc>
                <a:spcPts val="187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Deployed on Render ($7.25/mo)</a:t>
            </a:r>
            <a:endParaRPr lang="en-US" sz="1100" dirty="0"/>
          </a:p>
          <a:p>
            <a:pPr marL="88900" indent="-88900" algn="l">
              <a:lnSpc>
                <a:spcPts val="187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Sentry error monitoring live</a:t>
            </a:r>
            <a:endParaRPr lang="en-US" sz="1100" dirty="0"/>
          </a:p>
          <a:p>
            <a:pPr marL="88900" indent="-88900" algn="l">
              <a:lnSpc>
                <a:spcPts val="187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3 real bugs found and fixed during verification</a:t>
            </a:r>
            <a:endParaRPr lang="en-US" sz="1100" dirty="0"/>
          </a:p>
        </p:txBody>
      </p:sp>
      <p:sp>
        <p:nvSpPr>
          <p:cNvPr id="22" name="Text 20"/>
          <p:cNvSpPr/>
          <p:nvPr/>
        </p:nvSpPr>
        <p:spPr>
          <a:xfrm>
            <a:off x="4660850" y="3805690"/>
            <a:ext cx="3975199" cy="736104"/>
          </a:xfrm>
          <a:prstGeom prst="roundRect">
            <a:avLst>
              <a:gd name="adj" fmla="val 10352"/>
            </a:avLst>
          </a:prstGeom>
          <a:solidFill>
            <a:srgbClr val="FFFFFF"/>
          </a:solidFill>
          <a:ln/>
        </p:spPr>
        <p:txBody>
          <a:bodyPr wrap="square" rtlCol="0" anchor="ctr"/>
          <a:lstStyle/>
          <a:p>
            <a:pPr marL="0" indent="0">
              <a:buNone/>
            </a:pPr>
            <a:endParaRPr lang="en-US" dirty="0"/>
          </a:p>
        </p:txBody>
      </p:sp>
      <p:sp>
        <p:nvSpPr>
          <p:cNvPr id="23" name="Text 21"/>
          <p:cNvSpPr/>
          <p:nvPr/>
        </p:nvSpPr>
        <p:spPr>
          <a:xfrm>
            <a:off x="4813250" y="3907191"/>
            <a:ext cx="3743807" cy="533102"/>
          </a:xfrm>
          <a:prstGeom prst="rect">
            <a:avLst/>
          </a:prstGeom>
          <a:noFill/>
          <a:ln/>
        </p:spPr>
        <p:txBody>
          <a:bodyPr wrap="square" lIns="0" tIns="0" rIns="0" bIns="0" rtlCol="0" anchor="t"/>
          <a:lstStyle/>
          <a:p>
            <a:pPr marL="0" indent="0" algn="l">
              <a:lnSpc>
                <a:spcPts val="1400"/>
              </a:lnSpc>
              <a:buNone/>
            </a:pPr>
            <a:r>
              <a:rPr lang="en-US" sz="1000" dirty="0">
                <a:solidFill>
                  <a:srgbClr val="87B89D"/>
                </a:solidFill>
                <a:latin typeface="Arial" pitchFamily="34" charset="0"/>
                <a:ea typeface="Arial" pitchFamily="34" charset="-122"/>
                <a:cs typeface="Arial" pitchFamily="34" charset="-120"/>
              </a:rPr>
              <a:t>8-phase implementation plan. Senior-engineer audit caught 6 gaps. Plan rewritten. Phase 0 built and verified against acceptance criteria.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2F7F4"/>
        </a:solidFill>
        <a:effectLst/>
      </p:bgPr>
    </p:bg>
    <p:spTree>
      <p:nvGrpSpPr>
        <p:cNvPr id="1" name=""/>
        <p:cNvGrpSpPr/>
        <p:nvPr/>
      </p:nvGrpSpPr>
      <p:grpSpPr>
        <a:xfrm>
          <a:off x="0" y="0"/>
          <a:ext cx="0" cy="0"/>
          <a:chOff x="0" y="0"/>
          <a:chExt cx="0" cy="0"/>
        </a:xfrm>
      </p:grpSpPr>
      <p:sp>
        <p:nvSpPr>
          <p:cNvPr id="2" name="Text 0"/>
          <p:cNvSpPr/>
          <p:nvPr/>
        </p:nvSpPr>
        <p:spPr>
          <a:xfrm>
            <a:off x="507950" y="355550"/>
            <a:ext cx="8290661" cy="171450"/>
          </a:xfrm>
          <a:prstGeom prst="rect">
            <a:avLst/>
          </a:prstGeom>
          <a:noFill/>
          <a:ln/>
        </p:spPr>
        <p:txBody>
          <a:bodyPr wrap="square" lIns="0" tIns="0" rIns="0" bIns="0" rtlCol="0" anchor="t"/>
          <a:lstStyle/>
          <a:p>
            <a:pPr marL="0" indent="0" algn="l">
              <a:spcAft>
                <a:spcPts val="400"/>
              </a:spcAft>
              <a:buNone/>
            </a:pPr>
            <a:r>
              <a:rPr lang="en-US" sz="1400" b="1" dirty="0">
                <a:solidFill>
                  <a:srgbClr val="5A9171"/>
                </a:solidFill>
                <a:latin typeface="Arial" pitchFamily="34" charset="0"/>
                <a:ea typeface="Arial" pitchFamily="34" charset="-122"/>
                <a:cs typeface="Arial" pitchFamily="34" charset="-120"/>
              </a:rPr>
              <a:t>MARKET SIZE</a:t>
            </a:r>
            <a:endParaRPr lang="en-US" sz="1400" dirty="0"/>
          </a:p>
        </p:txBody>
      </p:sp>
      <p:sp>
        <p:nvSpPr>
          <p:cNvPr id="3" name="Text 1"/>
          <p:cNvSpPr/>
          <p:nvPr/>
        </p:nvSpPr>
        <p:spPr>
          <a:xfrm>
            <a:off x="507950" y="577751"/>
            <a:ext cx="8290661" cy="365671"/>
          </a:xfrm>
          <a:prstGeom prst="rect">
            <a:avLst/>
          </a:prstGeom>
          <a:noFill/>
          <a:ln/>
        </p:spPr>
        <p:txBody>
          <a:bodyPr wrap="square" lIns="0" tIns="0" rIns="0" bIns="0" rtlCol="0" anchor="t"/>
          <a:lstStyle/>
          <a:p>
            <a:pPr marL="0" indent="0" algn="l">
              <a:lnSpc>
                <a:spcPts val="2880"/>
              </a:lnSpc>
              <a:spcAft>
                <a:spcPts val="1600"/>
              </a:spcAft>
              <a:buNone/>
            </a:pPr>
            <a:r>
              <a:rPr lang="en-US" sz="2400" b="1" dirty="0">
                <a:solidFill>
                  <a:srgbClr val="2D2D2D"/>
                </a:solidFill>
                <a:latin typeface="Arial" pitchFamily="34" charset="0"/>
                <a:ea typeface="Arial" pitchFamily="34" charset="-122"/>
                <a:cs typeface="Arial" pitchFamily="34" charset="-120"/>
              </a:rPr>
              <a:t>A growing market with a built-in pipeline</a:t>
            </a:r>
            <a:endParaRPr lang="en-US" sz="2400" dirty="0"/>
          </a:p>
        </p:txBody>
      </p:sp>
      <p:sp>
        <p:nvSpPr>
          <p:cNvPr id="4" name="Text 2"/>
          <p:cNvSpPr/>
          <p:nvPr/>
        </p:nvSpPr>
        <p:spPr>
          <a:xfrm>
            <a:off x="507950" y="1456280"/>
            <a:ext cx="2590800" cy="1629073"/>
          </a:xfrm>
          <a:prstGeom prst="roundRect">
            <a:avLst>
              <a:gd name="adj" fmla="val 6237"/>
            </a:avLst>
          </a:prstGeom>
          <a:solidFill>
            <a:srgbClr val="FFFFFF"/>
          </a:solidFill>
          <a:ln/>
        </p:spPr>
        <p:txBody>
          <a:bodyPr wrap="square" rtlCol="0" anchor="ctr"/>
          <a:lstStyle/>
          <a:p>
            <a:pPr marL="0" indent="0">
              <a:buNone/>
            </a:pPr>
            <a:endParaRPr lang="en-US" dirty="0"/>
          </a:p>
        </p:txBody>
      </p:sp>
      <p:sp>
        <p:nvSpPr>
          <p:cNvPr id="5" name="Shape 3"/>
          <p:cNvSpPr/>
          <p:nvPr/>
        </p:nvSpPr>
        <p:spPr>
          <a:xfrm>
            <a:off x="507950" y="1475330"/>
            <a:ext cx="2590800" cy="0"/>
          </a:xfrm>
          <a:prstGeom prst="line">
            <a:avLst/>
          </a:prstGeom>
          <a:noFill/>
          <a:ln w="38100">
            <a:solidFill>
              <a:srgbClr val="5A9171"/>
            </a:solidFill>
            <a:prstDash val="solid"/>
          </a:ln>
        </p:spPr>
        <p:txBody>
          <a:bodyPr/>
          <a:lstStyle/>
          <a:p>
            <a:endParaRPr lang="en-US" dirty="0"/>
          </a:p>
        </p:txBody>
      </p:sp>
      <p:sp>
        <p:nvSpPr>
          <p:cNvPr id="6" name="Text 4"/>
          <p:cNvSpPr/>
          <p:nvPr/>
        </p:nvSpPr>
        <p:spPr>
          <a:xfrm>
            <a:off x="663297" y="1672081"/>
            <a:ext cx="2280106" cy="171450"/>
          </a:xfrm>
          <a:prstGeom prst="rect">
            <a:avLst/>
          </a:prstGeom>
          <a:noFill/>
          <a:ln/>
        </p:spPr>
        <p:txBody>
          <a:bodyPr wrap="square" lIns="0" tIns="0" rIns="0" bIns="0" rtlCol="0" anchor="t"/>
          <a:lstStyle/>
          <a:p>
            <a:pPr marL="0" indent="0" algn="ctr">
              <a:spcAft>
                <a:spcPts val="400"/>
              </a:spcAft>
              <a:buNone/>
            </a:pPr>
            <a:r>
              <a:rPr lang="en-US" sz="1200" dirty="0">
                <a:solidFill>
                  <a:srgbClr val="87B89D"/>
                </a:solidFill>
                <a:latin typeface="Arial" pitchFamily="34" charset="0"/>
                <a:ea typeface="Arial" pitchFamily="34" charset="-122"/>
                <a:cs typeface="Arial" pitchFamily="34" charset="-120"/>
              </a:rPr>
              <a:t>TAM</a:t>
            </a:r>
            <a:endParaRPr lang="en-US" sz="1200" dirty="0"/>
          </a:p>
        </p:txBody>
      </p:sp>
      <p:sp>
        <p:nvSpPr>
          <p:cNvPr id="7" name="Text 5"/>
          <p:cNvSpPr/>
          <p:nvPr/>
        </p:nvSpPr>
        <p:spPr>
          <a:xfrm>
            <a:off x="663297" y="1894281"/>
            <a:ext cx="2280106" cy="428625"/>
          </a:xfrm>
          <a:prstGeom prst="rect">
            <a:avLst/>
          </a:prstGeom>
          <a:noFill/>
          <a:ln/>
        </p:spPr>
        <p:txBody>
          <a:bodyPr wrap="square" lIns="0" tIns="0" rIns="0" bIns="0" rtlCol="0" anchor="t"/>
          <a:lstStyle/>
          <a:p>
            <a:pPr marL="0" indent="0" algn="ctr">
              <a:buNone/>
            </a:pPr>
            <a:r>
              <a:rPr lang="en-US" sz="3000" b="1" dirty="0">
                <a:solidFill>
                  <a:srgbClr val="2D2D2D"/>
                </a:solidFill>
                <a:latin typeface="Arial" pitchFamily="34" charset="0"/>
                <a:ea typeface="Arial" pitchFamily="34" charset="-122"/>
                <a:cs typeface="Arial" pitchFamily="34" charset="-120"/>
              </a:rPr>
              <a:t>$343M</a:t>
            </a:r>
            <a:endParaRPr lang="en-US" sz="3000" dirty="0"/>
          </a:p>
        </p:txBody>
      </p:sp>
      <p:sp>
        <p:nvSpPr>
          <p:cNvPr id="8" name="Text 6"/>
          <p:cNvSpPr/>
          <p:nvPr/>
        </p:nvSpPr>
        <p:spPr>
          <a:xfrm>
            <a:off x="663297" y="2322906"/>
            <a:ext cx="2280106" cy="391120"/>
          </a:xfrm>
          <a:prstGeom prst="rect">
            <a:avLst/>
          </a:prstGeom>
          <a:noFill/>
          <a:ln/>
        </p:spPr>
        <p:txBody>
          <a:bodyPr wrap="square" lIns="0" tIns="0" rIns="0" bIns="0" rtlCol="0" anchor="t"/>
          <a:lstStyle/>
          <a:p>
            <a:pPr marL="0" indent="0" algn="ctr">
              <a:lnSpc>
                <a:spcPts val="1540"/>
              </a:lnSpc>
              <a:buNone/>
            </a:pPr>
            <a:r>
              <a:rPr lang="en-US" sz="1100" dirty="0">
                <a:solidFill>
                  <a:srgbClr val="87B89D"/>
                </a:solidFill>
                <a:latin typeface="Arial" pitchFamily="34" charset="0"/>
                <a:ea typeface="Arial" pitchFamily="34" charset="-122"/>
                <a:cs typeface="Arial" pitchFamily="34" charset="-120"/>
              </a:rPr>
              <a:t>US personal finance software market (2026)</a:t>
            </a:r>
            <a:endParaRPr lang="en-US" sz="1100" dirty="0"/>
          </a:p>
        </p:txBody>
      </p:sp>
      <p:sp>
        <p:nvSpPr>
          <p:cNvPr id="9" name="Text 7"/>
          <p:cNvSpPr/>
          <p:nvPr/>
        </p:nvSpPr>
        <p:spPr>
          <a:xfrm>
            <a:off x="663297" y="2764777"/>
            <a:ext cx="2280106" cy="142875"/>
          </a:xfrm>
          <a:prstGeom prst="rect">
            <a:avLst/>
          </a:prstGeom>
          <a:noFill/>
          <a:ln/>
        </p:spPr>
        <p:txBody>
          <a:bodyPr wrap="square" lIns="0" tIns="0" rIns="0" bIns="0" rtlCol="0" anchor="t"/>
          <a:lstStyle/>
          <a:p>
            <a:pPr marL="0" indent="0" algn="ctr">
              <a:spcBef>
                <a:spcPts val="400"/>
              </a:spcBef>
              <a:buNone/>
            </a:pPr>
            <a:r>
              <a:rPr lang="en-US" sz="1000" dirty="0">
                <a:solidFill>
                  <a:srgbClr val="5A9171"/>
                </a:solidFill>
                <a:latin typeface="Arial" pitchFamily="34" charset="0"/>
                <a:ea typeface="Arial" pitchFamily="34" charset="-122"/>
                <a:cs typeface="Arial" pitchFamily="34" charset="-120"/>
              </a:rPr>
              <a:t>Growing 5% CAGR</a:t>
            </a:r>
            <a:endParaRPr lang="en-US" sz="1000" dirty="0"/>
          </a:p>
        </p:txBody>
      </p:sp>
      <p:sp>
        <p:nvSpPr>
          <p:cNvPr id="10" name="Text 8"/>
          <p:cNvSpPr/>
          <p:nvPr/>
        </p:nvSpPr>
        <p:spPr>
          <a:xfrm>
            <a:off x="3276451" y="1456280"/>
            <a:ext cx="2590949" cy="1629073"/>
          </a:xfrm>
          <a:prstGeom prst="roundRect">
            <a:avLst>
              <a:gd name="adj" fmla="val 6237"/>
            </a:avLst>
          </a:prstGeom>
          <a:solidFill>
            <a:srgbClr val="FFFFFF"/>
          </a:solidFill>
          <a:ln/>
        </p:spPr>
        <p:txBody>
          <a:bodyPr wrap="square" rtlCol="0" anchor="ctr"/>
          <a:lstStyle/>
          <a:p>
            <a:pPr marL="0" indent="0">
              <a:buNone/>
            </a:pPr>
            <a:endParaRPr lang="en-US" dirty="0"/>
          </a:p>
        </p:txBody>
      </p:sp>
      <p:sp>
        <p:nvSpPr>
          <p:cNvPr id="11" name="Shape 9"/>
          <p:cNvSpPr/>
          <p:nvPr/>
        </p:nvSpPr>
        <p:spPr>
          <a:xfrm>
            <a:off x="3276451" y="1475330"/>
            <a:ext cx="2590949" cy="0"/>
          </a:xfrm>
          <a:prstGeom prst="line">
            <a:avLst/>
          </a:prstGeom>
          <a:noFill/>
          <a:ln w="38100">
            <a:solidFill>
              <a:srgbClr val="5A9171"/>
            </a:solidFill>
            <a:prstDash val="solid"/>
          </a:ln>
        </p:spPr>
        <p:txBody>
          <a:bodyPr/>
          <a:lstStyle/>
          <a:p>
            <a:endParaRPr lang="en-US" dirty="0"/>
          </a:p>
        </p:txBody>
      </p:sp>
      <p:sp>
        <p:nvSpPr>
          <p:cNvPr id="12" name="Text 10"/>
          <p:cNvSpPr/>
          <p:nvPr/>
        </p:nvSpPr>
        <p:spPr>
          <a:xfrm>
            <a:off x="3431796" y="1672081"/>
            <a:ext cx="2280258" cy="171450"/>
          </a:xfrm>
          <a:prstGeom prst="rect">
            <a:avLst/>
          </a:prstGeom>
          <a:noFill/>
          <a:ln/>
        </p:spPr>
        <p:txBody>
          <a:bodyPr wrap="square" lIns="0" tIns="0" rIns="0" bIns="0" rtlCol="0" anchor="t"/>
          <a:lstStyle/>
          <a:p>
            <a:pPr marL="0" indent="0" algn="ctr">
              <a:spcAft>
                <a:spcPts val="400"/>
              </a:spcAft>
              <a:buNone/>
            </a:pPr>
            <a:r>
              <a:rPr lang="en-US" sz="1200" dirty="0">
                <a:solidFill>
                  <a:srgbClr val="87B89D"/>
                </a:solidFill>
                <a:latin typeface="Arial" pitchFamily="34" charset="0"/>
                <a:ea typeface="Arial" pitchFamily="34" charset="-122"/>
                <a:cs typeface="Arial" pitchFamily="34" charset="-120"/>
              </a:rPr>
              <a:t>SAM</a:t>
            </a:r>
            <a:endParaRPr lang="en-US" sz="1200" dirty="0"/>
          </a:p>
        </p:txBody>
      </p:sp>
      <p:sp>
        <p:nvSpPr>
          <p:cNvPr id="13" name="Text 11"/>
          <p:cNvSpPr/>
          <p:nvPr/>
        </p:nvSpPr>
        <p:spPr>
          <a:xfrm>
            <a:off x="3431796" y="1894281"/>
            <a:ext cx="2280258" cy="428625"/>
          </a:xfrm>
          <a:prstGeom prst="rect">
            <a:avLst/>
          </a:prstGeom>
          <a:noFill/>
          <a:ln/>
        </p:spPr>
        <p:txBody>
          <a:bodyPr wrap="square" lIns="0" tIns="0" rIns="0" bIns="0" rtlCol="0" anchor="t"/>
          <a:lstStyle/>
          <a:p>
            <a:pPr marL="0" indent="0" algn="ctr">
              <a:buNone/>
            </a:pPr>
            <a:r>
              <a:rPr lang="en-US" sz="3000" b="1" dirty="0">
                <a:solidFill>
                  <a:srgbClr val="2D2D2D"/>
                </a:solidFill>
                <a:latin typeface="Arial" pitchFamily="34" charset="0"/>
                <a:ea typeface="Arial" pitchFamily="34" charset="-122"/>
                <a:cs typeface="Arial" pitchFamily="34" charset="-120"/>
              </a:rPr>
              <a:t>$115M</a:t>
            </a:r>
            <a:endParaRPr lang="en-US" sz="3000" dirty="0"/>
          </a:p>
        </p:txBody>
      </p:sp>
      <p:sp>
        <p:nvSpPr>
          <p:cNvPr id="14" name="Text 12"/>
          <p:cNvSpPr/>
          <p:nvPr/>
        </p:nvSpPr>
        <p:spPr>
          <a:xfrm>
            <a:off x="3431796" y="2322906"/>
            <a:ext cx="2280258" cy="391120"/>
          </a:xfrm>
          <a:prstGeom prst="rect">
            <a:avLst/>
          </a:prstGeom>
          <a:noFill/>
          <a:ln/>
        </p:spPr>
        <p:txBody>
          <a:bodyPr wrap="square" lIns="0" tIns="0" rIns="0" bIns="0" rtlCol="0" anchor="t"/>
          <a:lstStyle/>
          <a:p>
            <a:pPr marL="0" indent="0" algn="ctr">
              <a:lnSpc>
                <a:spcPts val="1540"/>
              </a:lnSpc>
              <a:buNone/>
            </a:pPr>
            <a:r>
              <a:rPr lang="en-US" sz="1100" dirty="0">
                <a:solidFill>
                  <a:srgbClr val="87B89D"/>
                </a:solidFill>
                <a:latin typeface="Arial" pitchFamily="34" charset="0"/>
                <a:ea typeface="Arial" pitchFamily="34" charset="-122"/>
                <a:cs typeface="Arial" pitchFamily="34" charset="-120"/>
              </a:rPr>
              <a:t>US adults 22-28 living paycheck to paycheck willing to pay</a:t>
            </a:r>
            <a:endParaRPr lang="en-US" sz="1100" dirty="0"/>
          </a:p>
        </p:txBody>
      </p:sp>
      <p:sp>
        <p:nvSpPr>
          <p:cNvPr id="15" name="Text 13"/>
          <p:cNvSpPr/>
          <p:nvPr/>
        </p:nvSpPr>
        <p:spPr>
          <a:xfrm>
            <a:off x="3431796" y="2764777"/>
            <a:ext cx="2280258" cy="142875"/>
          </a:xfrm>
          <a:prstGeom prst="rect">
            <a:avLst/>
          </a:prstGeom>
          <a:noFill/>
          <a:ln/>
        </p:spPr>
        <p:txBody>
          <a:bodyPr wrap="square" lIns="0" tIns="0" rIns="0" bIns="0" rtlCol="0" anchor="t"/>
          <a:lstStyle/>
          <a:p>
            <a:pPr marL="0" indent="0" algn="ctr">
              <a:spcBef>
                <a:spcPts val="400"/>
              </a:spcBef>
              <a:buNone/>
            </a:pPr>
            <a:r>
              <a:rPr lang="en-US" sz="1000" dirty="0">
                <a:solidFill>
                  <a:srgbClr val="5A9171"/>
                </a:solidFill>
                <a:latin typeface="Arial" pitchFamily="34" charset="0"/>
                <a:ea typeface="Arial" pitchFamily="34" charset="-122"/>
                <a:cs typeface="Arial" pitchFamily="34" charset="-120"/>
              </a:rPr>
              <a:t>~1.6M potential users</a:t>
            </a:r>
            <a:endParaRPr lang="en-US" sz="1000" dirty="0"/>
          </a:p>
        </p:txBody>
      </p:sp>
      <p:sp>
        <p:nvSpPr>
          <p:cNvPr id="16" name="Text 14"/>
          <p:cNvSpPr/>
          <p:nvPr/>
        </p:nvSpPr>
        <p:spPr>
          <a:xfrm>
            <a:off x="6045101" y="1456280"/>
            <a:ext cx="2590949" cy="1629073"/>
          </a:xfrm>
          <a:prstGeom prst="roundRect">
            <a:avLst>
              <a:gd name="adj" fmla="val 6237"/>
            </a:avLst>
          </a:prstGeom>
          <a:solidFill>
            <a:srgbClr val="FFFFFF"/>
          </a:solidFill>
          <a:ln/>
        </p:spPr>
        <p:txBody>
          <a:bodyPr wrap="square" rtlCol="0" anchor="ctr"/>
          <a:lstStyle/>
          <a:p>
            <a:pPr marL="0" indent="0">
              <a:buNone/>
            </a:pPr>
            <a:endParaRPr lang="en-US" dirty="0"/>
          </a:p>
        </p:txBody>
      </p:sp>
      <p:sp>
        <p:nvSpPr>
          <p:cNvPr id="17" name="Shape 15"/>
          <p:cNvSpPr/>
          <p:nvPr/>
        </p:nvSpPr>
        <p:spPr>
          <a:xfrm>
            <a:off x="6045101" y="1475330"/>
            <a:ext cx="2590949" cy="0"/>
          </a:xfrm>
          <a:prstGeom prst="line">
            <a:avLst/>
          </a:prstGeom>
          <a:noFill/>
          <a:ln w="38100">
            <a:solidFill>
              <a:srgbClr val="5A9171"/>
            </a:solidFill>
            <a:prstDash val="solid"/>
          </a:ln>
        </p:spPr>
        <p:txBody>
          <a:bodyPr/>
          <a:lstStyle/>
          <a:p>
            <a:endParaRPr lang="en-US" dirty="0"/>
          </a:p>
        </p:txBody>
      </p:sp>
      <p:sp>
        <p:nvSpPr>
          <p:cNvPr id="18" name="Text 16"/>
          <p:cNvSpPr/>
          <p:nvPr/>
        </p:nvSpPr>
        <p:spPr>
          <a:xfrm>
            <a:off x="6200446" y="1672081"/>
            <a:ext cx="2280258" cy="171450"/>
          </a:xfrm>
          <a:prstGeom prst="rect">
            <a:avLst/>
          </a:prstGeom>
          <a:noFill/>
          <a:ln/>
        </p:spPr>
        <p:txBody>
          <a:bodyPr wrap="square" lIns="0" tIns="0" rIns="0" bIns="0" rtlCol="0" anchor="t"/>
          <a:lstStyle/>
          <a:p>
            <a:pPr marL="0" indent="0" algn="ctr">
              <a:spcAft>
                <a:spcPts val="400"/>
              </a:spcAft>
              <a:buNone/>
            </a:pPr>
            <a:r>
              <a:rPr lang="en-US" sz="1200" dirty="0">
                <a:solidFill>
                  <a:srgbClr val="87B89D"/>
                </a:solidFill>
                <a:latin typeface="Arial" pitchFamily="34" charset="0"/>
                <a:ea typeface="Arial" pitchFamily="34" charset="-122"/>
                <a:cs typeface="Arial" pitchFamily="34" charset="-120"/>
              </a:rPr>
              <a:t>SOM (Year 1)</a:t>
            </a:r>
            <a:endParaRPr lang="en-US" sz="1200" dirty="0"/>
          </a:p>
        </p:txBody>
      </p:sp>
      <p:sp>
        <p:nvSpPr>
          <p:cNvPr id="19" name="Text 17"/>
          <p:cNvSpPr/>
          <p:nvPr/>
        </p:nvSpPr>
        <p:spPr>
          <a:xfrm>
            <a:off x="6200446" y="1894281"/>
            <a:ext cx="2280258" cy="428625"/>
          </a:xfrm>
          <a:prstGeom prst="rect">
            <a:avLst/>
          </a:prstGeom>
          <a:noFill/>
          <a:ln/>
        </p:spPr>
        <p:txBody>
          <a:bodyPr wrap="square" lIns="0" tIns="0" rIns="0" bIns="0" rtlCol="0" anchor="t"/>
          <a:lstStyle/>
          <a:p>
            <a:pPr marL="0" indent="0" algn="ctr">
              <a:buNone/>
            </a:pPr>
            <a:r>
              <a:rPr lang="en-US" sz="3000" b="1" dirty="0">
                <a:solidFill>
                  <a:srgbClr val="2D2D2D"/>
                </a:solidFill>
                <a:latin typeface="Arial" pitchFamily="34" charset="0"/>
                <a:ea typeface="Arial" pitchFamily="34" charset="-122"/>
                <a:cs typeface="Arial" pitchFamily="34" charset="-120"/>
              </a:rPr>
              <a:t>$7K</a:t>
            </a:r>
            <a:endParaRPr lang="en-US" sz="3000" dirty="0"/>
          </a:p>
        </p:txBody>
      </p:sp>
      <p:sp>
        <p:nvSpPr>
          <p:cNvPr id="20" name="Text 18"/>
          <p:cNvSpPr/>
          <p:nvPr/>
        </p:nvSpPr>
        <p:spPr>
          <a:xfrm>
            <a:off x="6200446" y="2322906"/>
            <a:ext cx="2280258" cy="391120"/>
          </a:xfrm>
          <a:prstGeom prst="rect">
            <a:avLst/>
          </a:prstGeom>
          <a:noFill/>
          <a:ln/>
        </p:spPr>
        <p:txBody>
          <a:bodyPr wrap="square" lIns="0" tIns="0" rIns="0" bIns="0" rtlCol="0" anchor="t"/>
          <a:lstStyle/>
          <a:p>
            <a:pPr marL="0" indent="0" algn="ctr">
              <a:lnSpc>
                <a:spcPts val="1540"/>
              </a:lnSpc>
              <a:buNone/>
            </a:pPr>
            <a:r>
              <a:rPr lang="en-US" sz="1100" dirty="0">
                <a:solidFill>
                  <a:srgbClr val="87B89D"/>
                </a:solidFill>
                <a:latin typeface="Arial" pitchFamily="34" charset="0"/>
                <a:ea typeface="Arial" pitchFamily="34" charset="-122"/>
                <a:cs typeface="Arial" pitchFamily="34" charset="-120"/>
              </a:rPr>
              <a:t>1,000 free users, 100 paying subscribers</a:t>
            </a:r>
            <a:endParaRPr lang="en-US" sz="1100" dirty="0"/>
          </a:p>
        </p:txBody>
      </p:sp>
      <p:sp>
        <p:nvSpPr>
          <p:cNvPr id="21" name="Text 19"/>
          <p:cNvSpPr/>
          <p:nvPr/>
        </p:nvSpPr>
        <p:spPr>
          <a:xfrm>
            <a:off x="6200446" y="2764777"/>
            <a:ext cx="2280258" cy="142875"/>
          </a:xfrm>
          <a:prstGeom prst="rect">
            <a:avLst/>
          </a:prstGeom>
          <a:noFill/>
          <a:ln/>
        </p:spPr>
        <p:txBody>
          <a:bodyPr wrap="square" lIns="0" tIns="0" rIns="0" bIns="0" rtlCol="0" anchor="t"/>
          <a:lstStyle/>
          <a:p>
            <a:pPr marL="0" indent="0" algn="ctr">
              <a:spcBef>
                <a:spcPts val="400"/>
              </a:spcBef>
              <a:buNone/>
            </a:pPr>
            <a:r>
              <a:rPr lang="en-US" sz="1000" dirty="0">
                <a:solidFill>
                  <a:srgbClr val="5A9171"/>
                </a:solidFill>
                <a:latin typeface="Arial" pitchFamily="34" charset="0"/>
                <a:ea typeface="Arial" pitchFamily="34" charset="-122"/>
                <a:cs typeface="Arial" pitchFamily="34" charset="-120"/>
              </a:rPr>
              <a:t>ARR target</a:t>
            </a:r>
            <a:endParaRPr lang="en-US" sz="1000" dirty="0"/>
          </a:p>
        </p:txBody>
      </p:sp>
      <p:sp>
        <p:nvSpPr>
          <p:cNvPr id="22" name="Text 20"/>
          <p:cNvSpPr/>
          <p:nvPr/>
        </p:nvSpPr>
        <p:spPr>
          <a:xfrm>
            <a:off x="507950" y="2953345"/>
            <a:ext cx="8128099" cy="680442"/>
          </a:xfrm>
          <a:prstGeom prst="roundRect">
            <a:avLst>
              <a:gd name="adj" fmla="val 11199"/>
            </a:avLst>
          </a:prstGeom>
          <a:solidFill>
            <a:srgbClr val="F2F7F4"/>
          </a:solidFill>
          <a:ln/>
        </p:spPr>
        <p:txBody>
          <a:bodyPr wrap="square" rtlCol="0" anchor="ctr"/>
          <a:lstStyle/>
          <a:p>
            <a:pPr marL="0" indent="0">
              <a:buNone/>
            </a:pPr>
            <a:endParaRPr lang="en-US" dirty="0"/>
          </a:p>
        </p:txBody>
      </p:sp>
      <p:sp>
        <p:nvSpPr>
          <p:cNvPr id="23" name="Text 21"/>
          <p:cNvSpPr/>
          <p:nvPr/>
        </p:nvSpPr>
        <p:spPr>
          <a:xfrm>
            <a:off x="711101" y="3390004"/>
            <a:ext cx="7876234" cy="426541"/>
          </a:xfrm>
          <a:prstGeom prst="rect">
            <a:avLst/>
          </a:prstGeom>
          <a:noFill/>
          <a:ln/>
        </p:spPr>
        <p:txBody>
          <a:bodyPr wrap="square" lIns="0" tIns="0" rIns="0" bIns="0" rtlCol="0" anchor="t"/>
          <a:lstStyle/>
          <a:p>
            <a:pPr marL="0" indent="0" algn="l">
              <a:lnSpc>
                <a:spcPts val="1680"/>
              </a:lnSpc>
              <a:buNone/>
            </a:pPr>
            <a:r>
              <a:rPr lang="en-US" sz="1200" dirty="0">
                <a:solidFill>
                  <a:srgbClr val="2D2D2D"/>
                </a:solidFill>
                <a:latin typeface="Arial" pitchFamily="34" charset="0"/>
                <a:ea typeface="Arial" pitchFamily="34" charset="-122"/>
                <a:cs typeface="Arial" pitchFamily="34" charset="-120"/>
              </a:rPr>
              <a:t>2.17 million new bachelor’s degrees every year in the US. Every graduating class refreshes the customer pipeline. This is not a one-time market. It refills itself annually.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2F7F4"/>
        </a:solidFill>
        <a:effectLst/>
      </p:bgPr>
    </p:bg>
    <p:spTree>
      <p:nvGrpSpPr>
        <p:cNvPr id="1" name=""/>
        <p:cNvGrpSpPr/>
        <p:nvPr/>
      </p:nvGrpSpPr>
      <p:grpSpPr>
        <a:xfrm>
          <a:off x="0" y="0"/>
          <a:ext cx="0" cy="0"/>
          <a:chOff x="0" y="0"/>
          <a:chExt cx="0" cy="0"/>
        </a:xfrm>
      </p:grpSpPr>
      <p:sp>
        <p:nvSpPr>
          <p:cNvPr id="2" name="Text 0"/>
          <p:cNvSpPr/>
          <p:nvPr/>
        </p:nvSpPr>
        <p:spPr>
          <a:xfrm>
            <a:off x="507950" y="355550"/>
            <a:ext cx="8290661" cy="171450"/>
          </a:xfrm>
          <a:prstGeom prst="rect">
            <a:avLst/>
          </a:prstGeom>
          <a:noFill/>
          <a:ln/>
        </p:spPr>
        <p:txBody>
          <a:bodyPr wrap="square" lIns="0" tIns="0" rIns="0" bIns="0" rtlCol="0" anchor="t"/>
          <a:lstStyle/>
          <a:p>
            <a:pPr marL="0" indent="0" algn="l">
              <a:spcAft>
                <a:spcPts val="400"/>
              </a:spcAft>
              <a:buNone/>
            </a:pPr>
            <a:r>
              <a:rPr lang="en-US" sz="1400" b="1" dirty="0">
                <a:solidFill>
                  <a:srgbClr val="5A9171"/>
                </a:solidFill>
                <a:latin typeface="Arial" pitchFamily="34" charset="0"/>
                <a:ea typeface="Arial" pitchFamily="34" charset="-122"/>
                <a:cs typeface="Arial" pitchFamily="34" charset="-120"/>
              </a:rPr>
              <a:t>BUSINESS MODEL</a:t>
            </a:r>
            <a:endParaRPr lang="en-US" sz="1400" dirty="0"/>
          </a:p>
        </p:txBody>
      </p:sp>
      <p:sp>
        <p:nvSpPr>
          <p:cNvPr id="3" name="Text 1"/>
          <p:cNvSpPr/>
          <p:nvPr/>
        </p:nvSpPr>
        <p:spPr>
          <a:xfrm>
            <a:off x="507950" y="695735"/>
            <a:ext cx="8290661" cy="365671"/>
          </a:xfrm>
          <a:prstGeom prst="rect">
            <a:avLst/>
          </a:prstGeom>
          <a:noFill/>
          <a:ln/>
        </p:spPr>
        <p:txBody>
          <a:bodyPr wrap="square" lIns="0" tIns="0" rIns="0" bIns="0" rtlCol="0" anchor="t"/>
          <a:lstStyle/>
          <a:p>
            <a:pPr marL="0" indent="0" algn="l">
              <a:lnSpc>
                <a:spcPts val="2880"/>
              </a:lnSpc>
              <a:spcAft>
                <a:spcPts val="1400"/>
              </a:spcAft>
              <a:buNone/>
            </a:pPr>
            <a:r>
              <a:rPr lang="en-US" sz="2400" b="1" dirty="0">
                <a:solidFill>
                  <a:srgbClr val="2D2D2D"/>
                </a:solidFill>
                <a:latin typeface="Arial" pitchFamily="34" charset="0"/>
                <a:ea typeface="Arial" pitchFamily="34" charset="-122"/>
                <a:cs typeface="Arial" pitchFamily="34" charset="-120"/>
              </a:rPr>
              <a:t>$5.99/mo subscription. 85% gross margin.</a:t>
            </a:r>
            <a:endParaRPr lang="en-US" sz="2400" dirty="0"/>
          </a:p>
        </p:txBody>
      </p:sp>
      <p:sp>
        <p:nvSpPr>
          <p:cNvPr id="4" name="Text 2"/>
          <p:cNvSpPr/>
          <p:nvPr/>
        </p:nvSpPr>
        <p:spPr>
          <a:xfrm>
            <a:off x="507950" y="1401336"/>
            <a:ext cx="3975199" cy="1425178"/>
          </a:xfrm>
          <a:prstGeom prst="roundRect">
            <a:avLst>
              <a:gd name="adj" fmla="val 7129"/>
            </a:avLst>
          </a:prstGeom>
          <a:solidFill>
            <a:srgbClr val="FFFFFF"/>
          </a:solidFill>
          <a:ln/>
        </p:spPr>
        <p:txBody>
          <a:bodyPr wrap="square" rtlCol="0" anchor="ctr"/>
          <a:lstStyle/>
          <a:p>
            <a:pPr marL="0" indent="0">
              <a:buNone/>
            </a:pPr>
            <a:endParaRPr lang="en-US" dirty="0"/>
          </a:p>
        </p:txBody>
      </p:sp>
      <p:sp>
        <p:nvSpPr>
          <p:cNvPr id="5" name="Text 3"/>
          <p:cNvSpPr/>
          <p:nvPr/>
        </p:nvSpPr>
        <p:spPr>
          <a:xfrm>
            <a:off x="685651" y="1579037"/>
            <a:ext cx="3692194" cy="171450"/>
          </a:xfrm>
          <a:prstGeom prst="rect">
            <a:avLst/>
          </a:prstGeom>
          <a:noFill/>
          <a:ln/>
        </p:spPr>
        <p:txBody>
          <a:bodyPr wrap="square" lIns="0" tIns="0" rIns="0" bIns="0" rtlCol="0" anchor="t"/>
          <a:lstStyle/>
          <a:p>
            <a:pPr marL="0" indent="0" algn="l">
              <a:spcAft>
                <a:spcPts val="600"/>
              </a:spcAft>
              <a:buNone/>
            </a:pPr>
            <a:r>
              <a:rPr lang="en-US" sz="1200" b="1" dirty="0">
                <a:solidFill>
                  <a:srgbClr val="5A9171"/>
                </a:solidFill>
                <a:latin typeface="Arial" pitchFamily="34" charset="0"/>
                <a:ea typeface="Arial" pitchFamily="34" charset="-122"/>
                <a:cs typeface="Arial" pitchFamily="34" charset="-120"/>
              </a:rPr>
              <a:t>Unit Economics</a:t>
            </a:r>
            <a:endParaRPr lang="en-US" sz="1200" dirty="0"/>
          </a:p>
        </p:txBody>
      </p:sp>
      <p:sp>
        <p:nvSpPr>
          <p:cNvPr id="6" name="Text 4"/>
          <p:cNvSpPr/>
          <p:nvPr/>
        </p:nvSpPr>
        <p:spPr>
          <a:xfrm>
            <a:off x="685651" y="1826687"/>
            <a:ext cx="1567535"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Price per user per month</a:t>
            </a:r>
            <a:endParaRPr lang="en-US" sz="1100" dirty="0"/>
          </a:p>
        </p:txBody>
      </p:sp>
      <p:sp>
        <p:nvSpPr>
          <p:cNvPr id="7" name="Text 5"/>
          <p:cNvSpPr/>
          <p:nvPr/>
        </p:nvSpPr>
        <p:spPr>
          <a:xfrm>
            <a:off x="3956000" y="1826687"/>
            <a:ext cx="356437" cy="152400"/>
          </a:xfrm>
          <a:prstGeom prst="rect">
            <a:avLst/>
          </a:prstGeom>
          <a:noFill/>
          <a:ln/>
        </p:spPr>
        <p:txBody>
          <a:bodyPr wrap="square" lIns="0" tIns="0" rIns="0" bIns="0" rtlCol="0" anchor="t"/>
          <a:lstStyle/>
          <a:p>
            <a:pPr marL="0" indent="0" algn="l">
              <a:buNone/>
            </a:pPr>
            <a:r>
              <a:rPr lang="en-US" sz="1100" b="1" dirty="0">
                <a:solidFill>
                  <a:srgbClr val="2D2D2D"/>
                </a:solidFill>
                <a:latin typeface="Arial" pitchFamily="34" charset="0"/>
                <a:ea typeface="Arial" pitchFamily="34" charset="-122"/>
                <a:cs typeface="Arial" pitchFamily="34" charset="-120"/>
              </a:rPr>
              <a:t>$5.99</a:t>
            </a:r>
            <a:endParaRPr lang="en-US" sz="1100" dirty="0"/>
          </a:p>
        </p:txBody>
      </p:sp>
      <p:sp>
        <p:nvSpPr>
          <p:cNvPr id="8" name="Text 6"/>
          <p:cNvSpPr/>
          <p:nvPr/>
        </p:nvSpPr>
        <p:spPr>
          <a:xfrm>
            <a:off x="685651" y="2029837"/>
            <a:ext cx="1374895"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Variable cost per user</a:t>
            </a:r>
            <a:endParaRPr lang="en-US" sz="1100" dirty="0"/>
          </a:p>
        </p:txBody>
      </p:sp>
      <p:sp>
        <p:nvSpPr>
          <p:cNvPr id="9" name="Text 7"/>
          <p:cNvSpPr/>
          <p:nvPr/>
        </p:nvSpPr>
        <p:spPr>
          <a:xfrm>
            <a:off x="3956000" y="2029837"/>
            <a:ext cx="356437" cy="152400"/>
          </a:xfrm>
          <a:prstGeom prst="rect">
            <a:avLst/>
          </a:prstGeom>
          <a:noFill/>
          <a:ln/>
        </p:spPr>
        <p:txBody>
          <a:bodyPr wrap="square" lIns="0" tIns="0" rIns="0" bIns="0" rtlCol="0" anchor="t"/>
          <a:lstStyle/>
          <a:p>
            <a:pPr marL="0" indent="0" algn="l">
              <a:buNone/>
            </a:pPr>
            <a:r>
              <a:rPr lang="en-US" sz="1100" b="1" dirty="0">
                <a:solidFill>
                  <a:srgbClr val="2D2D2D"/>
                </a:solidFill>
                <a:latin typeface="Arial" pitchFamily="34" charset="0"/>
                <a:ea typeface="Arial" pitchFamily="34" charset="-122"/>
                <a:cs typeface="Arial" pitchFamily="34" charset="-120"/>
              </a:rPr>
              <a:t>$0.89</a:t>
            </a:r>
            <a:endParaRPr lang="en-US" sz="1100" dirty="0"/>
          </a:p>
        </p:txBody>
      </p:sp>
      <p:sp>
        <p:nvSpPr>
          <p:cNvPr id="10" name="Text 8"/>
          <p:cNvSpPr/>
          <p:nvPr/>
        </p:nvSpPr>
        <p:spPr>
          <a:xfrm>
            <a:off x="685651" y="2232988"/>
            <a:ext cx="1242977"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Contribution margin</a:t>
            </a:r>
            <a:endParaRPr lang="en-US" sz="1100" dirty="0"/>
          </a:p>
        </p:txBody>
      </p:sp>
      <p:sp>
        <p:nvSpPr>
          <p:cNvPr id="11" name="Text 9"/>
          <p:cNvSpPr/>
          <p:nvPr/>
        </p:nvSpPr>
        <p:spPr>
          <a:xfrm>
            <a:off x="3544639" y="2232988"/>
            <a:ext cx="776026" cy="152400"/>
          </a:xfrm>
          <a:prstGeom prst="rect">
            <a:avLst/>
          </a:prstGeom>
          <a:noFill/>
          <a:ln/>
        </p:spPr>
        <p:txBody>
          <a:bodyPr wrap="square" lIns="0" tIns="0" rIns="0" bIns="0" rtlCol="0" anchor="t"/>
          <a:lstStyle/>
          <a:p>
            <a:pPr marL="0" indent="0" algn="l">
              <a:buNone/>
            </a:pPr>
            <a:r>
              <a:rPr lang="en-US" sz="1100" b="1" dirty="0">
                <a:solidFill>
                  <a:srgbClr val="5A9171"/>
                </a:solidFill>
                <a:latin typeface="Arial" pitchFamily="34" charset="0"/>
                <a:ea typeface="Arial" pitchFamily="34" charset="-122"/>
                <a:cs typeface="Arial" pitchFamily="34" charset="-120"/>
              </a:rPr>
              <a:t>$5.10 (85%)</a:t>
            </a:r>
            <a:endParaRPr lang="en-US" sz="1100" dirty="0"/>
          </a:p>
        </p:txBody>
      </p:sp>
      <p:sp>
        <p:nvSpPr>
          <p:cNvPr id="12" name="Shape 10"/>
          <p:cNvSpPr/>
          <p:nvPr/>
        </p:nvSpPr>
        <p:spPr>
          <a:xfrm>
            <a:off x="685651" y="2440901"/>
            <a:ext cx="3619798" cy="0"/>
          </a:xfrm>
          <a:prstGeom prst="line">
            <a:avLst/>
          </a:prstGeom>
          <a:noFill/>
          <a:ln w="9525">
            <a:solidFill>
              <a:srgbClr val="87B89D"/>
            </a:solidFill>
            <a:prstDash val="solid"/>
          </a:ln>
        </p:spPr>
        <p:txBody>
          <a:bodyPr/>
          <a:lstStyle/>
          <a:p>
            <a:endParaRPr lang="en-US" dirty="0"/>
          </a:p>
        </p:txBody>
      </p:sp>
      <p:sp>
        <p:nvSpPr>
          <p:cNvPr id="13" name="Text 11"/>
          <p:cNvSpPr/>
          <p:nvPr/>
        </p:nvSpPr>
        <p:spPr>
          <a:xfrm>
            <a:off x="685651" y="2496414"/>
            <a:ext cx="1013296"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4-week free trial</a:t>
            </a:r>
            <a:endParaRPr lang="en-US" sz="1100" dirty="0"/>
          </a:p>
        </p:txBody>
      </p:sp>
      <p:sp>
        <p:nvSpPr>
          <p:cNvPr id="14" name="Text 12"/>
          <p:cNvSpPr/>
          <p:nvPr/>
        </p:nvSpPr>
        <p:spPr>
          <a:xfrm>
            <a:off x="3731270" y="2496414"/>
            <a:ext cx="585662" cy="152400"/>
          </a:xfrm>
          <a:prstGeom prst="rect">
            <a:avLst/>
          </a:prstGeom>
          <a:noFill/>
          <a:ln/>
        </p:spPr>
        <p:txBody>
          <a:bodyPr wrap="square" lIns="0" tIns="0" rIns="0" bIns="0" rtlCol="0" anchor="t"/>
          <a:lstStyle/>
          <a:p>
            <a:pPr marL="0" indent="0" algn="l">
              <a:buNone/>
            </a:pPr>
            <a:r>
              <a:rPr lang="en-US" sz="1100" b="1" dirty="0">
                <a:solidFill>
                  <a:srgbClr val="C98F1D"/>
                </a:solidFill>
                <a:latin typeface="Arial" pitchFamily="34" charset="0"/>
                <a:ea typeface="Arial" pitchFamily="34" charset="-122"/>
                <a:cs typeface="Arial" pitchFamily="34" charset="-120"/>
              </a:rPr>
              <a:t>Included</a:t>
            </a:r>
            <a:endParaRPr lang="en-US" sz="1100" dirty="0"/>
          </a:p>
        </p:txBody>
      </p:sp>
      <p:sp>
        <p:nvSpPr>
          <p:cNvPr id="15" name="Text 13"/>
          <p:cNvSpPr/>
          <p:nvPr/>
        </p:nvSpPr>
        <p:spPr>
          <a:xfrm>
            <a:off x="507950" y="2928015"/>
            <a:ext cx="3975199" cy="1364903"/>
          </a:xfrm>
          <a:prstGeom prst="roundRect">
            <a:avLst>
              <a:gd name="adj" fmla="val 7444"/>
            </a:avLst>
          </a:prstGeom>
          <a:solidFill>
            <a:srgbClr val="FFFFFF"/>
          </a:solidFill>
          <a:ln/>
        </p:spPr>
        <p:txBody>
          <a:bodyPr wrap="square" rtlCol="0" anchor="ctr"/>
          <a:lstStyle/>
          <a:p>
            <a:pPr marL="0" indent="0">
              <a:buNone/>
            </a:pPr>
            <a:endParaRPr lang="en-US" dirty="0"/>
          </a:p>
        </p:txBody>
      </p:sp>
      <p:sp>
        <p:nvSpPr>
          <p:cNvPr id="16" name="Text 14"/>
          <p:cNvSpPr/>
          <p:nvPr/>
        </p:nvSpPr>
        <p:spPr>
          <a:xfrm>
            <a:off x="685651" y="3105716"/>
            <a:ext cx="3692194" cy="171450"/>
          </a:xfrm>
          <a:prstGeom prst="rect">
            <a:avLst/>
          </a:prstGeom>
          <a:noFill/>
          <a:ln/>
        </p:spPr>
        <p:txBody>
          <a:bodyPr wrap="square" lIns="0" tIns="0" rIns="0" bIns="0" rtlCol="0" anchor="t"/>
          <a:lstStyle/>
          <a:p>
            <a:pPr marL="0" indent="0" algn="l">
              <a:spcAft>
                <a:spcPts val="600"/>
              </a:spcAft>
              <a:buNone/>
            </a:pPr>
            <a:r>
              <a:rPr lang="en-US" sz="1200" b="1" dirty="0">
                <a:solidFill>
                  <a:srgbClr val="5A9171"/>
                </a:solidFill>
                <a:latin typeface="Arial" pitchFamily="34" charset="0"/>
                <a:ea typeface="Arial" pitchFamily="34" charset="-122"/>
                <a:cs typeface="Arial" pitchFamily="34" charset="-120"/>
              </a:rPr>
              <a:t>Cost Breakdown (per user/mo)</a:t>
            </a:r>
            <a:endParaRPr lang="en-US" sz="1200" dirty="0"/>
          </a:p>
        </p:txBody>
      </p:sp>
      <p:sp>
        <p:nvSpPr>
          <p:cNvPr id="17" name="Text 15"/>
          <p:cNvSpPr/>
          <p:nvPr/>
        </p:nvSpPr>
        <p:spPr>
          <a:xfrm>
            <a:off x="685651" y="3353366"/>
            <a:ext cx="1488597"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Plaid (bank connection)</a:t>
            </a:r>
            <a:endParaRPr lang="en-US" sz="1100" dirty="0"/>
          </a:p>
        </p:txBody>
      </p:sp>
      <p:sp>
        <p:nvSpPr>
          <p:cNvPr id="18" name="Text 16"/>
          <p:cNvSpPr/>
          <p:nvPr/>
        </p:nvSpPr>
        <p:spPr>
          <a:xfrm>
            <a:off x="3956000" y="3353366"/>
            <a:ext cx="356437" cy="152400"/>
          </a:xfrm>
          <a:prstGeom prst="rect">
            <a:avLst/>
          </a:prstGeom>
          <a:noFill/>
          <a:ln/>
        </p:spPr>
        <p:txBody>
          <a:bodyPr wrap="square" lIns="0" tIns="0" rIns="0" bIns="0" rtlCol="0" anchor="t"/>
          <a:lstStyle/>
          <a:p>
            <a:pPr marL="0" indent="0" algn="l">
              <a:buNone/>
            </a:pPr>
            <a:r>
              <a:rPr lang="en-US" sz="1100" dirty="0">
                <a:solidFill>
                  <a:srgbClr val="2D2D2D"/>
                </a:solidFill>
                <a:latin typeface="Arial" pitchFamily="34" charset="0"/>
                <a:ea typeface="Arial" pitchFamily="34" charset="-122"/>
                <a:cs typeface="Arial" pitchFamily="34" charset="-120"/>
              </a:rPr>
              <a:t>$0.45</a:t>
            </a:r>
            <a:endParaRPr lang="en-US" sz="1100" dirty="0"/>
          </a:p>
        </p:txBody>
      </p:sp>
      <p:sp>
        <p:nvSpPr>
          <p:cNvPr id="19" name="Text 17"/>
          <p:cNvSpPr/>
          <p:nvPr/>
        </p:nvSpPr>
        <p:spPr>
          <a:xfrm>
            <a:off x="685651" y="3556516"/>
            <a:ext cx="483043"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Hosting</a:t>
            </a:r>
            <a:endParaRPr lang="en-US" sz="1100" dirty="0"/>
          </a:p>
        </p:txBody>
      </p:sp>
      <p:sp>
        <p:nvSpPr>
          <p:cNvPr id="20" name="Text 18"/>
          <p:cNvSpPr/>
          <p:nvPr/>
        </p:nvSpPr>
        <p:spPr>
          <a:xfrm>
            <a:off x="3956000" y="3556516"/>
            <a:ext cx="356437" cy="152400"/>
          </a:xfrm>
          <a:prstGeom prst="rect">
            <a:avLst/>
          </a:prstGeom>
          <a:noFill/>
          <a:ln/>
        </p:spPr>
        <p:txBody>
          <a:bodyPr wrap="square" lIns="0" tIns="0" rIns="0" bIns="0" rtlCol="0" anchor="t"/>
          <a:lstStyle/>
          <a:p>
            <a:pPr marL="0" indent="0" algn="l">
              <a:buNone/>
            </a:pPr>
            <a:r>
              <a:rPr lang="en-US" sz="1100" dirty="0">
                <a:solidFill>
                  <a:srgbClr val="2D2D2D"/>
                </a:solidFill>
                <a:latin typeface="Arial" pitchFamily="34" charset="0"/>
                <a:ea typeface="Arial" pitchFamily="34" charset="-122"/>
                <a:cs typeface="Arial" pitchFamily="34" charset="-120"/>
              </a:rPr>
              <a:t>$0.25</a:t>
            </a:r>
            <a:endParaRPr lang="en-US" sz="1100" dirty="0"/>
          </a:p>
        </p:txBody>
      </p:sp>
      <p:sp>
        <p:nvSpPr>
          <p:cNvPr id="21" name="Text 19"/>
          <p:cNvSpPr/>
          <p:nvPr/>
        </p:nvSpPr>
        <p:spPr>
          <a:xfrm>
            <a:off x="685651" y="3759667"/>
            <a:ext cx="863010"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AI processing</a:t>
            </a:r>
            <a:endParaRPr lang="en-US" sz="1100" dirty="0"/>
          </a:p>
        </p:txBody>
      </p:sp>
      <p:sp>
        <p:nvSpPr>
          <p:cNvPr id="22" name="Text 20"/>
          <p:cNvSpPr/>
          <p:nvPr/>
        </p:nvSpPr>
        <p:spPr>
          <a:xfrm>
            <a:off x="3956000" y="3759667"/>
            <a:ext cx="356437" cy="152400"/>
          </a:xfrm>
          <a:prstGeom prst="rect">
            <a:avLst/>
          </a:prstGeom>
          <a:noFill/>
          <a:ln/>
        </p:spPr>
        <p:txBody>
          <a:bodyPr wrap="square" lIns="0" tIns="0" rIns="0" bIns="0" rtlCol="0" anchor="t"/>
          <a:lstStyle/>
          <a:p>
            <a:pPr marL="0" indent="0" algn="l">
              <a:buNone/>
            </a:pPr>
            <a:r>
              <a:rPr lang="en-US" sz="1100" dirty="0">
                <a:solidFill>
                  <a:srgbClr val="2D2D2D"/>
                </a:solidFill>
                <a:latin typeface="Arial" pitchFamily="34" charset="0"/>
                <a:ea typeface="Arial" pitchFamily="34" charset="-122"/>
                <a:cs typeface="Arial" pitchFamily="34" charset="-120"/>
              </a:rPr>
              <a:t>$0.03</a:t>
            </a:r>
            <a:endParaRPr lang="en-US" sz="1100" dirty="0"/>
          </a:p>
        </p:txBody>
      </p:sp>
      <p:sp>
        <p:nvSpPr>
          <p:cNvPr id="23" name="Text 21"/>
          <p:cNvSpPr/>
          <p:nvPr/>
        </p:nvSpPr>
        <p:spPr>
          <a:xfrm>
            <a:off x="685651" y="3962817"/>
            <a:ext cx="1001607"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Support + email</a:t>
            </a:r>
            <a:endParaRPr lang="en-US" sz="1100" dirty="0"/>
          </a:p>
        </p:txBody>
      </p:sp>
      <p:sp>
        <p:nvSpPr>
          <p:cNvPr id="24" name="Text 22"/>
          <p:cNvSpPr/>
          <p:nvPr/>
        </p:nvSpPr>
        <p:spPr>
          <a:xfrm>
            <a:off x="3956000" y="3962817"/>
            <a:ext cx="356437" cy="152400"/>
          </a:xfrm>
          <a:prstGeom prst="rect">
            <a:avLst/>
          </a:prstGeom>
          <a:noFill/>
          <a:ln/>
        </p:spPr>
        <p:txBody>
          <a:bodyPr wrap="square" lIns="0" tIns="0" rIns="0" bIns="0" rtlCol="0" anchor="t"/>
          <a:lstStyle/>
          <a:p>
            <a:pPr marL="0" indent="0" algn="l">
              <a:buNone/>
            </a:pPr>
            <a:r>
              <a:rPr lang="en-US" sz="1100" dirty="0">
                <a:solidFill>
                  <a:srgbClr val="2D2D2D"/>
                </a:solidFill>
                <a:latin typeface="Arial" pitchFamily="34" charset="0"/>
                <a:ea typeface="Arial" pitchFamily="34" charset="-122"/>
                <a:cs typeface="Arial" pitchFamily="34" charset="-120"/>
              </a:rPr>
              <a:t>$0.16</a:t>
            </a:r>
            <a:endParaRPr lang="en-US" sz="1100" dirty="0"/>
          </a:p>
        </p:txBody>
      </p:sp>
      <p:sp>
        <p:nvSpPr>
          <p:cNvPr id="25" name="Text 23"/>
          <p:cNvSpPr/>
          <p:nvPr/>
        </p:nvSpPr>
        <p:spPr>
          <a:xfrm>
            <a:off x="4660850" y="1401336"/>
            <a:ext cx="3975199" cy="1336328"/>
          </a:xfrm>
          <a:prstGeom prst="roundRect">
            <a:avLst>
              <a:gd name="adj" fmla="val 7603"/>
            </a:avLst>
          </a:prstGeom>
          <a:solidFill>
            <a:srgbClr val="FFFFFF"/>
          </a:solidFill>
          <a:ln/>
        </p:spPr>
        <p:txBody>
          <a:bodyPr wrap="square" rtlCol="0" anchor="ctr"/>
          <a:lstStyle/>
          <a:p>
            <a:pPr marL="0" indent="0">
              <a:buNone/>
            </a:pPr>
            <a:endParaRPr lang="en-US" dirty="0"/>
          </a:p>
        </p:txBody>
      </p:sp>
      <p:sp>
        <p:nvSpPr>
          <p:cNvPr id="26" name="Text 24"/>
          <p:cNvSpPr/>
          <p:nvPr/>
        </p:nvSpPr>
        <p:spPr>
          <a:xfrm>
            <a:off x="4838551" y="1579037"/>
            <a:ext cx="3692194" cy="171450"/>
          </a:xfrm>
          <a:prstGeom prst="rect">
            <a:avLst/>
          </a:prstGeom>
          <a:noFill/>
          <a:ln/>
        </p:spPr>
        <p:txBody>
          <a:bodyPr wrap="square" lIns="0" tIns="0" rIns="0" bIns="0" rtlCol="0" anchor="t"/>
          <a:lstStyle/>
          <a:p>
            <a:pPr marL="0" indent="0" algn="l">
              <a:spcAft>
                <a:spcPts val="600"/>
              </a:spcAft>
              <a:buNone/>
            </a:pPr>
            <a:r>
              <a:rPr lang="en-US" sz="1200" b="1" dirty="0">
                <a:solidFill>
                  <a:srgbClr val="5A9171"/>
                </a:solidFill>
                <a:latin typeface="Arial" pitchFamily="34" charset="0"/>
                <a:ea typeface="Arial" pitchFamily="34" charset="-122"/>
                <a:cs typeface="Arial" pitchFamily="34" charset="-120"/>
              </a:rPr>
              <a:t>Revenue Scenarios (Monthly)</a:t>
            </a:r>
            <a:endParaRPr lang="en-US" sz="1200" dirty="0"/>
          </a:p>
        </p:txBody>
      </p:sp>
      <p:sp>
        <p:nvSpPr>
          <p:cNvPr id="27" name="Text 25"/>
          <p:cNvSpPr/>
          <p:nvPr/>
        </p:nvSpPr>
        <p:spPr>
          <a:xfrm>
            <a:off x="4838551" y="1826687"/>
            <a:ext cx="1138833" cy="733276"/>
          </a:xfrm>
          <a:prstGeom prst="roundRect">
            <a:avLst>
              <a:gd name="adj" fmla="val 6928"/>
            </a:avLst>
          </a:prstGeom>
          <a:solidFill>
            <a:srgbClr val="F2F7F4"/>
          </a:solidFill>
          <a:ln/>
        </p:spPr>
        <p:txBody>
          <a:bodyPr wrap="square" rtlCol="0" anchor="ctr"/>
          <a:lstStyle/>
          <a:p>
            <a:pPr marL="0" indent="0">
              <a:buNone/>
            </a:pPr>
            <a:endParaRPr lang="en-US" dirty="0"/>
          </a:p>
        </p:txBody>
      </p:sp>
      <p:sp>
        <p:nvSpPr>
          <p:cNvPr id="28" name="Text 26"/>
          <p:cNvSpPr/>
          <p:nvPr/>
        </p:nvSpPr>
        <p:spPr>
          <a:xfrm>
            <a:off x="4956652" y="1953637"/>
            <a:ext cx="902631" cy="142875"/>
          </a:xfrm>
          <a:prstGeom prst="rect">
            <a:avLst/>
          </a:prstGeom>
          <a:noFill/>
          <a:ln/>
        </p:spPr>
        <p:txBody>
          <a:bodyPr wrap="square" lIns="0" tIns="0" rIns="0" bIns="0" rtlCol="0" anchor="t"/>
          <a:lstStyle/>
          <a:p>
            <a:pPr marL="0" indent="0" algn="ctr">
              <a:spcAft>
                <a:spcPts val="400"/>
              </a:spcAft>
              <a:buNone/>
            </a:pPr>
            <a:r>
              <a:rPr lang="en-US" sz="1000" dirty="0">
                <a:solidFill>
                  <a:srgbClr val="87B89D"/>
                </a:solidFill>
                <a:latin typeface="Arial" pitchFamily="34" charset="0"/>
                <a:ea typeface="Arial" pitchFamily="34" charset="-122"/>
                <a:cs typeface="Arial" pitchFamily="34" charset="-120"/>
              </a:rPr>
              <a:t>Pessimistic</a:t>
            </a:r>
            <a:endParaRPr lang="en-US" sz="1000" dirty="0"/>
          </a:p>
        </p:txBody>
      </p:sp>
      <p:sp>
        <p:nvSpPr>
          <p:cNvPr id="29" name="Text 27"/>
          <p:cNvSpPr/>
          <p:nvPr/>
        </p:nvSpPr>
        <p:spPr>
          <a:xfrm>
            <a:off x="4956652" y="2147263"/>
            <a:ext cx="902631" cy="152400"/>
          </a:xfrm>
          <a:prstGeom prst="rect">
            <a:avLst/>
          </a:prstGeom>
          <a:noFill/>
          <a:ln/>
        </p:spPr>
        <p:txBody>
          <a:bodyPr wrap="square" lIns="0" tIns="0" rIns="0" bIns="0" rtlCol="0" anchor="t"/>
          <a:lstStyle/>
          <a:p>
            <a:pPr marL="0" indent="0" algn="ctr">
              <a:buNone/>
            </a:pPr>
            <a:r>
              <a:rPr lang="en-US" sz="1100" b="1" dirty="0">
                <a:solidFill>
                  <a:srgbClr val="D64545"/>
                </a:solidFill>
                <a:latin typeface="Arial" pitchFamily="34" charset="0"/>
                <a:ea typeface="Arial" pitchFamily="34" charset="-122"/>
                <a:cs typeface="Arial" pitchFamily="34" charset="-120"/>
              </a:rPr>
              <a:t>-$5,740</a:t>
            </a:r>
            <a:endParaRPr lang="en-US" sz="1100" dirty="0"/>
          </a:p>
        </p:txBody>
      </p:sp>
      <p:sp>
        <p:nvSpPr>
          <p:cNvPr id="30" name="Text 28"/>
          <p:cNvSpPr/>
          <p:nvPr/>
        </p:nvSpPr>
        <p:spPr>
          <a:xfrm>
            <a:off x="4956652" y="2299663"/>
            <a:ext cx="902631" cy="133350"/>
          </a:xfrm>
          <a:prstGeom prst="rect">
            <a:avLst/>
          </a:prstGeom>
          <a:noFill/>
          <a:ln/>
        </p:spPr>
        <p:txBody>
          <a:bodyPr wrap="square" lIns="0" tIns="0" rIns="0" bIns="0" rtlCol="0" anchor="t"/>
          <a:lstStyle/>
          <a:p>
            <a:pPr marL="0" indent="0" algn="ctr">
              <a:buNone/>
            </a:pPr>
            <a:r>
              <a:rPr lang="en-US" sz="900" dirty="0">
                <a:solidFill>
                  <a:srgbClr val="87B89D"/>
                </a:solidFill>
                <a:latin typeface="Arial" pitchFamily="34" charset="0"/>
                <a:ea typeface="Arial" pitchFamily="34" charset="-122"/>
                <a:cs typeface="Arial" pitchFamily="34" charset="-120"/>
              </a:rPr>
              <a:t>100 paid</a:t>
            </a:r>
            <a:endParaRPr lang="en-US" sz="900" dirty="0"/>
          </a:p>
        </p:txBody>
      </p:sp>
      <p:sp>
        <p:nvSpPr>
          <p:cNvPr id="31" name="Text 29"/>
          <p:cNvSpPr/>
          <p:nvPr/>
        </p:nvSpPr>
        <p:spPr>
          <a:xfrm>
            <a:off x="6078885" y="1826687"/>
            <a:ext cx="1138982" cy="733276"/>
          </a:xfrm>
          <a:prstGeom prst="roundRect">
            <a:avLst>
              <a:gd name="adj" fmla="val 6928"/>
            </a:avLst>
          </a:prstGeom>
          <a:solidFill>
            <a:srgbClr val="F2F7F4"/>
          </a:solidFill>
          <a:ln/>
        </p:spPr>
        <p:txBody>
          <a:bodyPr wrap="square" rtlCol="0" anchor="ctr"/>
          <a:lstStyle/>
          <a:p>
            <a:pPr marL="0" indent="0">
              <a:buNone/>
            </a:pPr>
            <a:endParaRPr lang="en-US" dirty="0"/>
          </a:p>
        </p:txBody>
      </p:sp>
      <p:sp>
        <p:nvSpPr>
          <p:cNvPr id="32" name="Text 30"/>
          <p:cNvSpPr/>
          <p:nvPr/>
        </p:nvSpPr>
        <p:spPr>
          <a:xfrm>
            <a:off x="6196984" y="1953637"/>
            <a:ext cx="902782" cy="142875"/>
          </a:xfrm>
          <a:prstGeom prst="rect">
            <a:avLst/>
          </a:prstGeom>
          <a:noFill/>
          <a:ln/>
        </p:spPr>
        <p:txBody>
          <a:bodyPr wrap="square" lIns="0" tIns="0" rIns="0" bIns="0" rtlCol="0" anchor="t"/>
          <a:lstStyle/>
          <a:p>
            <a:pPr marL="0" indent="0" algn="ctr">
              <a:spcAft>
                <a:spcPts val="400"/>
              </a:spcAft>
              <a:buNone/>
            </a:pPr>
            <a:r>
              <a:rPr lang="en-US" sz="1000" dirty="0">
                <a:solidFill>
                  <a:srgbClr val="87B89D"/>
                </a:solidFill>
                <a:latin typeface="Arial" pitchFamily="34" charset="0"/>
                <a:ea typeface="Arial" pitchFamily="34" charset="-122"/>
                <a:cs typeface="Arial" pitchFamily="34" charset="-120"/>
              </a:rPr>
              <a:t>Base</a:t>
            </a:r>
            <a:endParaRPr lang="en-US" sz="1000" dirty="0"/>
          </a:p>
        </p:txBody>
      </p:sp>
      <p:sp>
        <p:nvSpPr>
          <p:cNvPr id="33" name="Text 31"/>
          <p:cNvSpPr/>
          <p:nvPr/>
        </p:nvSpPr>
        <p:spPr>
          <a:xfrm>
            <a:off x="6196984" y="2147263"/>
            <a:ext cx="902782" cy="152400"/>
          </a:xfrm>
          <a:prstGeom prst="rect">
            <a:avLst/>
          </a:prstGeom>
          <a:noFill/>
          <a:ln/>
        </p:spPr>
        <p:txBody>
          <a:bodyPr wrap="square" lIns="0" tIns="0" rIns="0" bIns="0" rtlCol="0" anchor="t"/>
          <a:lstStyle/>
          <a:p>
            <a:pPr marL="0" indent="0" algn="ctr">
              <a:buNone/>
            </a:pPr>
            <a:r>
              <a:rPr lang="en-US" sz="1100" b="1" dirty="0">
                <a:solidFill>
                  <a:srgbClr val="C98F1D"/>
                </a:solidFill>
                <a:latin typeface="Arial" pitchFamily="34" charset="0"/>
                <a:ea typeface="Arial" pitchFamily="34" charset="-122"/>
                <a:cs typeface="Arial" pitchFamily="34" charset="-120"/>
              </a:rPr>
              <a:t>-$5,230</a:t>
            </a:r>
            <a:endParaRPr lang="en-US" sz="1100" dirty="0"/>
          </a:p>
        </p:txBody>
      </p:sp>
      <p:sp>
        <p:nvSpPr>
          <p:cNvPr id="34" name="Text 32"/>
          <p:cNvSpPr/>
          <p:nvPr/>
        </p:nvSpPr>
        <p:spPr>
          <a:xfrm>
            <a:off x="6196984" y="2299663"/>
            <a:ext cx="902782" cy="133350"/>
          </a:xfrm>
          <a:prstGeom prst="rect">
            <a:avLst/>
          </a:prstGeom>
          <a:noFill/>
          <a:ln/>
        </p:spPr>
        <p:txBody>
          <a:bodyPr wrap="square" lIns="0" tIns="0" rIns="0" bIns="0" rtlCol="0" anchor="t"/>
          <a:lstStyle/>
          <a:p>
            <a:pPr marL="0" indent="0" algn="ctr">
              <a:buNone/>
            </a:pPr>
            <a:r>
              <a:rPr lang="en-US" sz="900" dirty="0">
                <a:solidFill>
                  <a:srgbClr val="87B89D"/>
                </a:solidFill>
                <a:latin typeface="Arial" pitchFamily="34" charset="0"/>
                <a:ea typeface="Arial" pitchFamily="34" charset="-122"/>
                <a:cs typeface="Arial" pitchFamily="34" charset="-120"/>
              </a:rPr>
              <a:t>200 paid</a:t>
            </a:r>
            <a:endParaRPr lang="en-US" sz="900" dirty="0"/>
          </a:p>
        </p:txBody>
      </p:sp>
      <p:sp>
        <p:nvSpPr>
          <p:cNvPr id="35" name="Text 33"/>
          <p:cNvSpPr/>
          <p:nvPr/>
        </p:nvSpPr>
        <p:spPr>
          <a:xfrm>
            <a:off x="7319367" y="1826687"/>
            <a:ext cx="1138982" cy="733276"/>
          </a:xfrm>
          <a:prstGeom prst="roundRect">
            <a:avLst>
              <a:gd name="adj" fmla="val 6928"/>
            </a:avLst>
          </a:prstGeom>
          <a:solidFill>
            <a:srgbClr val="F2F7F4"/>
          </a:solidFill>
          <a:ln/>
        </p:spPr>
        <p:txBody>
          <a:bodyPr wrap="square" rtlCol="0" anchor="ctr"/>
          <a:lstStyle/>
          <a:p>
            <a:pPr marL="0" indent="0">
              <a:buNone/>
            </a:pPr>
            <a:endParaRPr lang="en-US" dirty="0"/>
          </a:p>
        </p:txBody>
      </p:sp>
      <p:sp>
        <p:nvSpPr>
          <p:cNvPr id="36" name="Text 34"/>
          <p:cNvSpPr/>
          <p:nvPr/>
        </p:nvSpPr>
        <p:spPr>
          <a:xfrm>
            <a:off x="7437467" y="1953637"/>
            <a:ext cx="902782" cy="142875"/>
          </a:xfrm>
          <a:prstGeom prst="rect">
            <a:avLst/>
          </a:prstGeom>
          <a:noFill/>
          <a:ln/>
        </p:spPr>
        <p:txBody>
          <a:bodyPr wrap="square" lIns="0" tIns="0" rIns="0" bIns="0" rtlCol="0" anchor="t"/>
          <a:lstStyle/>
          <a:p>
            <a:pPr marL="0" indent="0" algn="ctr">
              <a:spcAft>
                <a:spcPts val="400"/>
              </a:spcAft>
              <a:buNone/>
            </a:pPr>
            <a:r>
              <a:rPr lang="en-US" sz="1000" dirty="0">
                <a:solidFill>
                  <a:srgbClr val="87B89D"/>
                </a:solidFill>
                <a:latin typeface="Arial" pitchFamily="34" charset="0"/>
                <a:ea typeface="Arial" pitchFamily="34" charset="-122"/>
                <a:cs typeface="Arial" pitchFamily="34" charset="-120"/>
              </a:rPr>
              <a:t>Optimistic</a:t>
            </a:r>
            <a:endParaRPr lang="en-US" sz="1000" dirty="0"/>
          </a:p>
        </p:txBody>
      </p:sp>
      <p:sp>
        <p:nvSpPr>
          <p:cNvPr id="37" name="Text 35"/>
          <p:cNvSpPr/>
          <p:nvPr/>
        </p:nvSpPr>
        <p:spPr>
          <a:xfrm>
            <a:off x="7437467" y="2147263"/>
            <a:ext cx="902782" cy="152400"/>
          </a:xfrm>
          <a:prstGeom prst="rect">
            <a:avLst/>
          </a:prstGeom>
          <a:noFill/>
          <a:ln/>
        </p:spPr>
        <p:txBody>
          <a:bodyPr wrap="square" lIns="0" tIns="0" rIns="0" bIns="0" rtlCol="0" anchor="t"/>
          <a:lstStyle/>
          <a:p>
            <a:pPr marL="0" indent="0" algn="ctr">
              <a:buNone/>
            </a:pPr>
            <a:r>
              <a:rPr lang="en-US" sz="1100" b="1" dirty="0">
                <a:solidFill>
                  <a:srgbClr val="C98F1D"/>
                </a:solidFill>
                <a:latin typeface="Arial" pitchFamily="34" charset="0"/>
                <a:ea typeface="Arial" pitchFamily="34" charset="-122"/>
                <a:cs typeface="Arial" pitchFamily="34" charset="-120"/>
              </a:rPr>
              <a:t>-$2,170</a:t>
            </a:r>
            <a:endParaRPr lang="en-US" sz="1100" dirty="0"/>
          </a:p>
        </p:txBody>
      </p:sp>
      <p:sp>
        <p:nvSpPr>
          <p:cNvPr id="38" name="Text 36"/>
          <p:cNvSpPr/>
          <p:nvPr/>
        </p:nvSpPr>
        <p:spPr>
          <a:xfrm>
            <a:off x="7437467" y="2299663"/>
            <a:ext cx="902782" cy="133350"/>
          </a:xfrm>
          <a:prstGeom prst="rect">
            <a:avLst/>
          </a:prstGeom>
          <a:noFill/>
          <a:ln/>
        </p:spPr>
        <p:txBody>
          <a:bodyPr wrap="square" lIns="0" tIns="0" rIns="0" bIns="0" rtlCol="0" anchor="t"/>
          <a:lstStyle/>
          <a:p>
            <a:pPr marL="0" indent="0" algn="ctr">
              <a:buNone/>
            </a:pPr>
            <a:r>
              <a:rPr lang="en-US" sz="900" dirty="0">
                <a:solidFill>
                  <a:srgbClr val="87B89D"/>
                </a:solidFill>
                <a:latin typeface="Arial" pitchFamily="34" charset="0"/>
                <a:ea typeface="Arial" pitchFamily="34" charset="-122"/>
                <a:cs typeface="Arial" pitchFamily="34" charset="-120"/>
              </a:rPr>
              <a:t>800 paid</a:t>
            </a:r>
            <a:endParaRPr lang="en-US" sz="900" dirty="0"/>
          </a:p>
        </p:txBody>
      </p:sp>
      <p:sp>
        <p:nvSpPr>
          <p:cNvPr id="39" name="Text 37"/>
          <p:cNvSpPr/>
          <p:nvPr/>
        </p:nvSpPr>
        <p:spPr>
          <a:xfrm>
            <a:off x="4660850" y="2839165"/>
            <a:ext cx="3975199" cy="1535757"/>
          </a:xfrm>
          <a:prstGeom prst="roundRect">
            <a:avLst>
              <a:gd name="adj" fmla="val 6616"/>
            </a:avLst>
          </a:prstGeom>
          <a:solidFill>
            <a:srgbClr val="FFFFFF"/>
          </a:solidFill>
          <a:ln/>
        </p:spPr>
        <p:txBody>
          <a:bodyPr wrap="square" rtlCol="0" anchor="ctr"/>
          <a:lstStyle/>
          <a:p>
            <a:pPr marL="0" indent="0">
              <a:buNone/>
            </a:pPr>
            <a:endParaRPr lang="en-US" dirty="0"/>
          </a:p>
        </p:txBody>
      </p:sp>
      <p:sp>
        <p:nvSpPr>
          <p:cNvPr id="40" name="Text 38"/>
          <p:cNvSpPr/>
          <p:nvPr/>
        </p:nvSpPr>
        <p:spPr>
          <a:xfrm>
            <a:off x="4838551" y="3016866"/>
            <a:ext cx="3692194" cy="171450"/>
          </a:xfrm>
          <a:prstGeom prst="rect">
            <a:avLst/>
          </a:prstGeom>
          <a:noFill/>
          <a:ln/>
        </p:spPr>
        <p:txBody>
          <a:bodyPr wrap="square" lIns="0" tIns="0" rIns="0" bIns="0" rtlCol="0" anchor="t"/>
          <a:lstStyle/>
          <a:p>
            <a:pPr marL="0" indent="0" algn="l">
              <a:spcAft>
                <a:spcPts val="400"/>
              </a:spcAft>
              <a:buNone/>
            </a:pPr>
            <a:r>
              <a:rPr lang="en-US" sz="1200" b="1" dirty="0">
                <a:solidFill>
                  <a:srgbClr val="5A9171"/>
                </a:solidFill>
                <a:latin typeface="Arial" pitchFamily="34" charset="0"/>
                <a:ea typeface="Arial" pitchFamily="34" charset="-122"/>
                <a:cs typeface="Arial" pitchFamily="34" charset="-120"/>
              </a:rPr>
              <a:t>Break-even</a:t>
            </a:r>
            <a:endParaRPr lang="en-US" sz="1200" dirty="0"/>
          </a:p>
        </p:txBody>
      </p:sp>
      <p:sp>
        <p:nvSpPr>
          <p:cNvPr id="41" name="Text 39"/>
          <p:cNvSpPr/>
          <p:nvPr/>
        </p:nvSpPr>
        <p:spPr>
          <a:xfrm>
            <a:off x="4838551" y="3239066"/>
            <a:ext cx="3692194" cy="371475"/>
          </a:xfrm>
          <a:prstGeom prst="rect">
            <a:avLst/>
          </a:prstGeom>
          <a:noFill/>
          <a:ln/>
        </p:spPr>
        <p:txBody>
          <a:bodyPr wrap="square" lIns="0" tIns="0" rIns="0" bIns="0" rtlCol="0" anchor="t"/>
          <a:lstStyle/>
          <a:p>
            <a:pPr marL="0" indent="0" algn="l">
              <a:buNone/>
            </a:pPr>
            <a:r>
              <a:rPr lang="en-US" sz="2600" b="1" dirty="0">
                <a:solidFill>
                  <a:srgbClr val="2D2D2D"/>
                </a:solidFill>
                <a:latin typeface="Arial" pitchFamily="34" charset="0"/>
                <a:ea typeface="Arial" pitchFamily="34" charset="-122"/>
                <a:cs typeface="Arial" pitchFamily="34" charset="-120"/>
              </a:rPr>
              <a:t>1,226</a:t>
            </a:r>
            <a:endParaRPr lang="en-US" sz="2600" dirty="0"/>
          </a:p>
        </p:txBody>
      </p:sp>
      <p:sp>
        <p:nvSpPr>
          <p:cNvPr id="42" name="Text 40"/>
          <p:cNvSpPr/>
          <p:nvPr/>
        </p:nvSpPr>
        <p:spPr>
          <a:xfrm>
            <a:off x="4838551" y="3610541"/>
            <a:ext cx="3692194" cy="586680"/>
          </a:xfrm>
          <a:prstGeom prst="rect">
            <a:avLst/>
          </a:prstGeom>
          <a:noFill/>
          <a:ln/>
        </p:spPr>
        <p:txBody>
          <a:bodyPr wrap="square" lIns="0" tIns="0" rIns="0" bIns="0" rtlCol="0" anchor="t"/>
          <a:lstStyle/>
          <a:p>
            <a:pPr marL="0" indent="0" algn="l">
              <a:lnSpc>
                <a:spcPts val="1540"/>
              </a:lnSpc>
              <a:buNone/>
            </a:pPr>
            <a:r>
              <a:rPr lang="en-US" sz="1100" dirty="0">
                <a:solidFill>
                  <a:srgbClr val="87B89D"/>
                </a:solidFill>
                <a:latin typeface="Arial" pitchFamily="34" charset="0"/>
                <a:ea typeface="Arial" pitchFamily="34" charset="-122"/>
                <a:cs typeface="Arial" pitchFamily="34" charset="-120"/>
              </a:rPr>
              <a:t>paying subscribers needed to cover all fixed costs ($6,250/mo including compliance, insurance, legal, infrastructure)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2F7F4"/>
        </a:solidFill>
        <a:effectLst/>
      </p:bgPr>
    </p:bg>
    <p:spTree>
      <p:nvGrpSpPr>
        <p:cNvPr id="1" name=""/>
        <p:cNvGrpSpPr/>
        <p:nvPr/>
      </p:nvGrpSpPr>
      <p:grpSpPr>
        <a:xfrm>
          <a:off x="0" y="0"/>
          <a:ext cx="0" cy="0"/>
          <a:chOff x="0" y="0"/>
          <a:chExt cx="0" cy="0"/>
        </a:xfrm>
      </p:grpSpPr>
      <p:sp>
        <p:nvSpPr>
          <p:cNvPr id="2" name="Text 0"/>
          <p:cNvSpPr/>
          <p:nvPr/>
        </p:nvSpPr>
        <p:spPr>
          <a:xfrm>
            <a:off x="507950" y="355550"/>
            <a:ext cx="8290661" cy="171450"/>
          </a:xfrm>
          <a:prstGeom prst="rect">
            <a:avLst/>
          </a:prstGeom>
          <a:noFill/>
          <a:ln/>
        </p:spPr>
        <p:txBody>
          <a:bodyPr wrap="square" lIns="0" tIns="0" rIns="0" bIns="0" rtlCol="0" anchor="t"/>
          <a:lstStyle/>
          <a:p>
            <a:pPr marL="0" indent="0" algn="l">
              <a:spcAft>
                <a:spcPts val="400"/>
              </a:spcAft>
              <a:buNone/>
            </a:pPr>
            <a:r>
              <a:rPr lang="en-US" sz="1400" b="1" dirty="0">
                <a:solidFill>
                  <a:srgbClr val="5A9171"/>
                </a:solidFill>
                <a:latin typeface="Arial" pitchFamily="34" charset="0"/>
                <a:ea typeface="Arial" pitchFamily="34" charset="-122"/>
                <a:cs typeface="Arial" pitchFamily="34" charset="-120"/>
              </a:rPr>
              <a:t>COMPETITIVE LANDSCAPE</a:t>
            </a:r>
            <a:endParaRPr lang="en-US" sz="1400" dirty="0"/>
          </a:p>
        </p:txBody>
      </p:sp>
      <p:sp>
        <p:nvSpPr>
          <p:cNvPr id="3" name="Text 1"/>
          <p:cNvSpPr/>
          <p:nvPr/>
        </p:nvSpPr>
        <p:spPr>
          <a:xfrm>
            <a:off x="507950" y="686935"/>
            <a:ext cx="8290661" cy="731341"/>
          </a:xfrm>
          <a:prstGeom prst="rect">
            <a:avLst/>
          </a:prstGeom>
          <a:noFill/>
          <a:ln/>
        </p:spPr>
        <p:txBody>
          <a:bodyPr wrap="square" lIns="0" tIns="0" rIns="0" bIns="0" rtlCol="0" anchor="t"/>
          <a:lstStyle/>
          <a:p>
            <a:pPr marL="0" indent="0" algn="l">
              <a:lnSpc>
                <a:spcPts val="2880"/>
              </a:lnSpc>
              <a:spcAft>
                <a:spcPts val="1400"/>
              </a:spcAft>
              <a:buNone/>
            </a:pPr>
            <a:r>
              <a:rPr lang="en-US" sz="2400" b="1" dirty="0">
                <a:solidFill>
                  <a:srgbClr val="2D2D2D"/>
                </a:solidFill>
                <a:latin typeface="Arial" pitchFamily="34" charset="0"/>
                <a:ea typeface="Arial" pitchFamily="34" charset="-122"/>
                <a:cs typeface="Arial" pitchFamily="34" charset="-120"/>
              </a:rPr>
              <a:t>Everyone builds for budgeters. Nobody builds for the step before.</a:t>
            </a:r>
            <a:endParaRPr lang="en-US" sz="2400" dirty="0"/>
          </a:p>
        </p:txBody>
      </p:sp>
      <p:sp>
        <p:nvSpPr>
          <p:cNvPr id="4" name="Text 2"/>
          <p:cNvSpPr/>
          <p:nvPr/>
        </p:nvSpPr>
        <p:spPr>
          <a:xfrm>
            <a:off x="507950" y="1870243"/>
            <a:ext cx="1931938" cy="1783110"/>
          </a:xfrm>
          <a:prstGeom prst="roundRect">
            <a:avLst>
              <a:gd name="adj" fmla="val 4273"/>
            </a:avLst>
          </a:prstGeom>
          <a:solidFill>
            <a:srgbClr val="FFFFFF"/>
          </a:solidFill>
          <a:ln/>
        </p:spPr>
        <p:txBody>
          <a:bodyPr wrap="square" rtlCol="0" anchor="ctr"/>
          <a:lstStyle/>
          <a:p>
            <a:pPr marL="0" indent="0">
              <a:buNone/>
            </a:pPr>
            <a:endParaRPr lang="en-US" dirty="0"/>
          </a:p>
        </p:txBody>
      </p:sp>
      <p:sp>
        <p:nvSpPr>
          <p:cNvPr id="5" name="Text 3"/>
          <p:cNvSpPr/>
          <p:nvPr/>
        </p:nvSpPr>
        <p:spPr>
          <a:xfrm>
            <a:off x="660350" y="2022643"/>
            <a:ext cx="1659681" cy="171450"/>
          </a:xfrm>
          <a:prstGeom prst="rect">
            <a:avLst/>
          </a:prstGeom>
          <a:noFill/>
          <a:ln/>
        </p:spPr>
        <p:txBody>
          <a:bodyPr wrap="square" lIns="0" tIns="0" rIns="0" bIns="0" rtlCol="0" anchor="t"/>
          <a:lstStyle/>
          <a:p>
            <a:pPr marL="0" indent="0" algn="l">
              <a:spcAft>
                <a:spcPts val="400"/>
              </a:spcAft>
              <a:buNone/>
            </a:pPr>
            <a:r>
              <a:rPr lang="en-US" sz="1200" b="1" dirty="0">
                <a:solidFill>
                  <a:srgbClr val="D64545"/>
                </a:solidFill>
                <a:latin typeface="Arial" pitchFamily="34" charset="0"/>
                <a:ea typeface="Arial" pitchFamily="34" charset="-122"/>
                <a:cs typeface="Arial" pitchFamily="34" charset="-120"/>
              </a:rPr>
              <a:t>YNAB</a:t>
            </a:r>
            <a:endParaRPr lang="en-US" sz="1200" dirty="0"/>
          </a:p>
        </p:txBody>
      </p:sp>
      <p:sp>
        <p:nvSpPr>
          <p:cNvPr id="6" name="Text 4"/>
          <p:cNvSpPr/>
          <p:nvPr/>
        </p:nvSpPr>
        <p:spPr>
          <a:xfrm>
            <a:off x="660350" y="2244843"/>
            <a:ext cx="1659681" cy="266700"/>
          </a:xfrm>
          <a:prstGeom prst="rect">
            <a:avLst/>
          </a:prstGeom>
          <a:noFill/>
          <a:ln/>
        </p:spPr>
        <p:txBody>
          <a:bodyPr wrap="square" lIns="0" tIns="0" rIns="0" bIns="0" rtlCol="0" anchor="t"/>
          <a:lstStyle/>
          <a:p>
            <a:pPr marL="0" indent="0" algn="l">
              <a:buNone/>
            </a:pPr>
            <a:r>
              <a:rPr lang="en-US" sz="1800" b="1" dirty="0">
                <a:solidFill>
                  <a:srgbClr val="2D2D2D"/>
                </a:solidFill>
                <a:latin typeface="Arial" pitchFamily="34" charset="0"/>
                <a:ea typeface="Arial" pitchFamily="34" charset="-122"/>
                <a:cs typeface="Arial" pitchFamily="34" charset="-120"/>
              </a:rPr>
              <a:t>$109/yr</a:t>
            </a:r>
            <a:endParaRPr lang="en-US" sz="1800" dirty="0"/>
          </a:p>
        </p:txBody>
      </p:sp>
      <p:sp>
        <p:nvSpPr>
          <p:cNvPr id="7" name="Text 5"/>
          <p:cNvSpPr/>
          <p:nvPr/>
        </p:nvSpPr>
        <p:spPr>
          <a:xfrm>
            <a:off x="660350" y="2511543"/>
            <a:ext cx="1659681" cy="824508"/>
          </a:xfrm>
          <a:prstGeom prst="rect">
            <a:avLst/>
          </a:prstGeom>
          <a:noFill/>
          <a:ln/>
        </p:spPr>
        <p:txBody>
          <a:bodyPr wrap="square" lIns="0" tIns="0" rIns="0" bIns="0" rtlCol="0" anchor="t"/>
          <a:lstStyle/>
          <a:p>
            <a:pPr marL="0" indent="0" algn="l">
              <a:lnSpc>
                <a:spcPts val="1300"/>
              </a:lnSpc>
              <a:buNone/>
            </a:pPr>
            <a:r>
              <a:rPr lang="en-US" sz="1000" dirty="0">
                <a:solidFill>
                  <a:srgbClr val="87B89D"/>
                </a:solidFill>
                <a:latin typeface="Arial" pitchFamily="34" charset="0"/>
                <a:ea typeface="Arial" pitchFamily="34" charset="-122"/>
                <a:cs typeface="Arial" pitchFamily="34" charset="-120"/>
              </a:rPr>
              <a:t>Zero-based budgeting. Requires commitment to manually categorize every dollar. Built for disciplined budgeters.</a:t>
            </a:r>
            <a:endParaRPr lang="en-US" sz="1000" dirty="0"/>
          </a:p>
        </p:txBody>
      </p:sp>
      <p:sp>
        <p:nvSpPr>
          <p:cNvPr id="8" name="Text 6"/>
          <p:cNvSpPr/>
          <p:nvPr/>
        </p:nvSpPr>
        <p:spPr>
          <a:xfrm>
            <a:off x="2566839" y="1870243"/>
            <a:ext cx="1932087" cy="1783110"/>
          </a:xfrm>
          <a:prstGeom prst="roundRect">
            <a:avLst>
              <a:gd name="adj" fmla="val 4273"/>
            </a:avLst>
          </a:prstGeom>
          <a:solidFill>
            <a:srgbClr val="FFFFFF"/>
          </a:solidFill>
          <a:ln/>
        </p:spPr>
        <p:txBody>
          <a:bodyPr wrap="square" rtlCol="0" anchor="ctr"/>
          <a:lstStyle/>
          <a:p>
            <a:pPr marL="0" indent="0">
              <a:buNone/>
            </a:pPr>
            <a:endParaRPr lang="en-US" dirty="0"/>
          </a:p>
        </p:txBody>
      </p:sp>
      <p:sp>
        <p:nvSpPr>
          <p:cNvPr id="9" name="Text 7"/>
          <p:cNvSpPr/>
          <p:nvPr/>
        </p:nvSpPr>
        <p:spPr>
          <a:xfrm>
            <a:off x="2719239" y="2022643"/>
            <a:ext cx="1659832" cy="171450"/>
          </a:xfrm>
          <a:prstGeom prst="rect">
            <a:avLst/>
          </a:prstGeom>
          <a:noFill/>
          <a:ln/>
        </p:spPr>
        <p:txBody>
          <a:bodyPr wrap="square" lIns="0" tIns="0" rIns="0" bIns="0" rtlCol="0" anchor="t"/>
          <a:lstStyle/>
          <a:p>
            <a:pPr marL="0" indent="0" algn="l">
              <a:spcAft>
                <a:spcPts val="400"/>
              </a:spcAft>
              <a:buNone/>
            </a:pPr>
            <a:r>
              <a:rPr lang="en-US" sz="1200" b="1" dirty="0">
                <a:solidFill>
                  <a:srgbClr val="D64545"/>
                </a:solidFill>
                <a:latin typeface="Arial" pitchFamily="34" charset="0"/>
                <a:ea typeface="Arial" pitchFamily="34" charset="-122"/>
                <a:cs typeface="Arial" pitchFamily="34" charset="-120"/>
              </a:rPr>
              <a:t>Monarch</a:t>
            </a:r>
            <a:endParaRPr lang="en-US" sz="1200" dirty="0"/>
          </a:p>
        </p:txBody>
      </p:sp>
      <p:sp>
        <p:nvSpPr>
          <p:cNvPr id="10" name="Text 8"/>
          <p:cNvSpPr/>
          <p:nvPr/>
        </p:nvSpPr>
        <p:spPr>
          <a:xfrm>
            <a:off x="2719239" y="2244843"/>
            <a:ext cx="1659832" cy="266700"/>
          </a:xfrm>
          <a:prstGeom prst="rect">
            <a:avLst/>
          </a:prstGeom>
          <a:noFill/>
          <a:ln/>
        </p:spPr>
        <p:txBody>
          <a:bodyPr wrap="square" lIns="0" tIns="0" rIns="0" bIns="0" rtlCol="0" anchor="t"/>
          <a:lstStyle/>
          <a:p>
            <a:pPr marL="0" indent="0" algn="l">
              <a:buNone/>
            </a:pPr>
            <a:r>
              <a:rPr lang="en-US" sz="1800" b="1" dirty="0">
                <a:solidFill>
                  <a:srgbClr val="2D2D2D"/>
                </a:solidFill>
                <a:latin typeface="Arial" pitchFamily="34" charset="0"/>
                <a:ea typeface="Arial" pitchFamily="34" charset="-122"/>
                <a:cs typeface="Arial" pitchFamily="34" charset="-120"/>
              </a:rPr>
              <a:t>$100/yr</a:t>
            </a:r>
            <a:endParaRPr lang="en-US" sz="1800" dirty="0"/>
          </a:p>
        </p:txBody>
      </p:sp>
      <p:sp>
        <p:nvSpPr>
          <p:cNvPr id="11" name="Text 9"/>
          <p:cNvSpPr/>
          <p:nvPr/>
        </p:nvSpPr>
        <p:spPr>
          <a:xfrm>
            <a:off x="2719239" y="2511543"/>
            <a:ext cx="1659832" cy="989409"/>
          </a:xfrm>
          <a:prstGeom prst="rect">
            <a:avLst/>
          </a:prstGeom>
          <a:noFill/>
          <a:ln/>
        </p:spPr>
        <p:txBody>
          <a:bodyPr wrap="square" lIns="0" tIns="0" rIns="0" bIns="0" rtlCol="0" anchor="t"/>
          <a:lstStyle/>
          <a:p>
            <a:pPr marL="0" indent="0" algn="l">
              <a:lnSpc>
                <a:spcPts val="1300"/>
              </a:lnSpc>
              <a:buNone/>
            </a:pPr>
            <a:r>
              <a:rPr lang="en-US" sz="1000" dirty="0">
                <a:solidFill>
                  <a:srgbClr val="87B89D"/>
                </a:solidFill>
                <a:latin typeface="Arial" pitchFamily="34" charset="0"/>
                <a:ea typeface="Arial" pitchFamily="34" charset="-122"/>
                <a:cs typeface="Arial" pitchFamily="34" charset="-120"/>
              </a:rPr>
              <a:t>Most direct Mint replacement. $850M valuation. Full financial dashboard. Overwhelming for someone just starting out.</a:t>
            </a:r>
            <a:endParaRPr lang="en-US" sz="1000" dirty="0"/>
          </a:p>
        </p:txBody>
      </p:sp>
      <p:sp>
        <p:nvSpPr>
          <p:cNvPr id="12" name="Text 10"/>
          <p:cNvSpPr/>
          <p:nvPr/>
        </p:nvSpPr>
        <p:spPr>
          <a:xfrm>
            <a:off x="4625876" y="1870243"/>
            <a:ext cx="1932087" cy="1783110"/>
          </a:xfrm>
          <a:prstGeom prst="roundRect">
            <a:avLst>
              <a:gd name="adj" fmla="val 4273"/>
            </a:avLst>
          </a:prstGeom>
          <a:solidFill>
            <a:srgbClr val="FFFFFF"/>
          </a:solidFill>
          <a:ln/>
        </p:spPr>
        <p:txBody>
          <a:bodyPr wrap="square" rtlCol="0" anchor="ctr"/>
          <a:lstStyle/>
          <a:p>
            <a:pPr marL="0" indent="0">
              <a:buNone/>
            </a:pPr>
            <a:endParaRPr lang="en-US" dirty="0"/>
          </a:p>
        </p:txBody>
      </p:sp>
      <p:sp>
        <p:nvSpPr>
          <p:cNvPr id="13" name="Text 11"/>
          <p:cNvSpPr/>
          <p:nvPr/>
        </p:nvSpPr>
        <p:spPr>
          <a:xfrm>
            <a:off x="4778276" y="2022643"/>
            <a:ext cx="1659832" cy="171450"/>
          </a:xfrm>
          <a:prstGeom prst="rect">
            <a:avLst/>
          </a:prstGeom>
          <a:noFill/>
          <a:ln/>
        </p:spPr>
        <p:txBody>
          <a:bodyPr wrap="square" lIns="0" tIns="0" rIns="0" bIns="0" rtlCol="0" anchor="t"/>
          <a:lstStyle/>
          <a:p>
            <a:pPr marL="0" indent="0" algn="l">
              <a:spcAft>
                <a:spcPts val="400"/>
              </a:spcAft>
              <a:buNone/>
            </a:pPr>
            <a:r>
              <a:rPr lang="en-US" sz="1200" b="1" dirty="0">
                <a:solidFill>
                  <a:srgbClr val="D64545"/>
                </a:solidFill>
                <a:latin typeface="Arial" pitchFamily="34" charset="0"/>
                <a:ea typeface="Arial" pitchFamily="34" charset="-122"/>
                <a:cs typeface="Arial" pitchFamily="34" charset="-120"/>
              </a:rPr>
              <a:t>Credit Karma</a:t>
            </a:r>
            <a:endParaRPr lang="en-US" sz="1200" dirty="0"/>
          </a:p>
        </p:txBody>
      </p:sp>
      <p:sp>
        <p:nvSpPr>
          <p:cNvPr id="14" name="Text 12"/>
          <p:cNvSpPr/>
          <p:nvPr/>
        </p:nvSpPr>
        <p:spPr>
          <a:xfrm>
            <a:off x="4778276" y="2244843"/>
            <a:ext cx="1659832" cy="266700"/>
          </a:xfrm>
          <a:prstGeom prst="rect">
            <a:avLst/>
          </a:prstGeom>
          <a:noFill/>
          <a:ln/>
        </p:spPr>
        <p:txBody>
          <a:bodyPr wrap="square" lIns="0" tIns="0" rIns="0" bIns="0" rtlCol="0" anchor="t"/>
          <a:lstStyle/>
          <a:p>
            <a:pPr marL="0" indent="0" algn="l">
              <a:buNone/>
            </a:pPr>
            <a:r>
              <a:rPr lang="en-US" sz="1800" b="1" dirty="0">
                <a:solidFill>
                  <a:srgbClr val="2D2D2D"/>
                </a:solidFill>
                <a:latin typeface="Arial" pitchFamily="34" charset="0"/>
                <a:ea typeface="Arial" pitchFamily="34" charset="-122"/>
                <a:cs typeface="Arial" pitchFamily="34" charset="-120"/>
              </a:rPr>
              <a:t>Free</a:t>
            </a:r>
            <a:endParaRPr lang="en-US" sz="1800" dirty="0"/>
          </a:p>
        </p:txBody>
      </p:sp>
      <p:sp>
        <p:nvSpPr>
          <p:cNvPr id="15" name="Text 13"/>
          <p:cNvSpPr/>
          <p:nvPr/>
        </p:nvSpPr>
        <p:spPr>
          <a:xfrm>
            <a:off x="4778276" y="2511543"/>
            <a:ext cx="1659832" cy="824508"/>
          </a:xfrm>
          <a:prstGeom prst="rect">
            <a:avLst/>
          </a:prstGeom>
          <a:noFill/>
          <a:ln/>
        </p:spPr>
        <p:txBody>
          <a:bodyPr wrap="square" lIns="0" tIns="0" rIns="0" bIns="0" rtlCol="0" anchor="t"/>
          <a:lstStyle/>
          <a:p>
            <a:pPr marL="0" indent="0" algn="l">
              <a:lnSpc>
                <a:spcPts val="1300"/>
              </a:lnSpc>
              <a:buNone/>
            </a:pPr>
            <a:r>
              <a:rPr lang="en-US" sz="1000" dirty="0">
                <a:solidFill>
                  <a:srgbClr val="87B89D"/>
                </a:solidFill>
                <a:latin typeface="Arial" pitchFamily="34" charset="0"/>
                <a:ea typeface="Arial" pitchFamily="34" charset="-122"/>
                <a:cs typeface="Arial" pitchFamily="34" charset="-120"/>
              </a:rPr>
              <a:t>Revenue from selling financial products to users. Misaligned incentives for someone in debt trying to spend less.</a:t>
            </a:r>
            <a:endParaRPr lang="en-US" sz="1000" dirty="0"/>
          </a:p>
        </p:txBody>
      </p:sp>
      <p:sp>
        <p:nvSpPr>
          <p:cNvPr id="16" name="Text 14"/>
          <p:cNvSpPr/>
          <p:nvPr/>
        </p:nvSpPr>
        <p:spPr>
          <a:xfrm>
            <a:off x="6684913" y="1752257"/>
            <a:ext cx="1951137" cy="1783110"/>
          </a:xfrm>
          <a:prstGeom prst="roundRect">
            <a:avLst>
              <a:gd name="adj" fmla="val 4273"/>
            </a:avLst>
          </a:prstGeom>
          <a:solidFill>
            <a:srgbClr val="F2F7F4"/>
          </a:solidFill>
          <a:ln w="9525">
            <a:solidFill>
              <a:srgbClr val="5A9171"/>
            </a:solidFill>
          </a:ln>
        </p:spPr>
        <p:txBody>
          <a:bodyPr wrap="square" rtlCol="0" anchor="ctr"/>
          <a:lstStyle/>
          <a:p>
            <a:pPr marL="0" indent="0">
              <a:buNone/>
            </a:pPr>
            <a:endParaRPr lang="en-US" dirty="0"/>
          </a:p>
        </p:txBody>
      </p:sp>
      <p:sp>
        <p:nvSpPr>
          <p:cNvPr id="17" name="Text 15"/>
          <p:cNvSpPr/>
          <p:nvPr/>
        </p:nvSpPr>
        <p:spPr>
          <a:xfrm>
            <a:off x="6846838" y="2032168"/>
            <a:ext cx="1659832" cy="171450"/>
          </a:xfrm>
          <a:prstGeom prst="rect">
            <a:avLst/>
          </a:prstGeom>
          <a:noFill/>
          <a:ln/>
        </p:spPr>
        <p:txBody>
          <a:bodyPr wrap="square" lIns="0" tIns="0" rIns="0" bIns="0" rtlCol="0" anchor="t"/>
          <a:lstStyle/>
          <a:p>
            <a:pPr marL="0" indent="0" algn="l">
              <a:spcAft>
                <a:spcPts val="400"/>
              </a:spcAft>
              <a:buNone/>
            </a:pPr>
            <a:r>
              <a:rPr lang="en-US" sz="1200" b="1" dirty="0">
                <a:solidFill>
                  <a:srgbClr val="5A9171"/>
                </a:solidFill>
                <a:latin typeface="Arial" pitchFamily="34" charset="0"/>
                <a:ea typeface="Arial" pitchFamily="34" charset="-122"/>
                <a:cs typeface="Arial" pitchFamily="34" charset="-120"/>
              </a:rPr>
              <a:t>MIPE</a:t>
            </a:r>
            <a:endParaRPr lang="en-US" sz="1200" dirty="0"/>
          </a:p>
        </p:txBody>
      </p:sp>
      <p:sp>
        <p:nvSpPr>
          <p:cNvPr id="18" name="Text 16"/>
          <p:cNvSpPr/>
          <p:nvPr/>
        </p:nvSpPr>
        <p:spPr>
          <a:xfrm>
            <a:off x="6846838" y="2254368"/>
            <a:ext cx="1659832" cy="266700"/>
          </a:xfrm>
          <a:prstGeom prst="rect">
            <a:avLst/>
          </a:prstGeom>
          <a:noFill/>
          <a:ln/>
        </p:spPr>
        <p:txBody>
          <a:bodyPr wrap="square" lIns="0" tIns="0" rIns="0" bIns="0" rtlCol="0" anchor="t"/>
          <a:lstStyle/>
          <a:p>
            <a:pPr marL="0" indent="0" algn="l">
              <a:buNone/>
            </a:pPr>
            <a:r>
              <a:rPr lang="en-US" sz="1800" b="1" dirty="0">
                <a:solidFill>
                  <a:srgbClr val="2D2D2D"/>
                </a:solidFill>
                <a:latin typeface="Arial" pitchFamily="34" charset="0"/>
                <a:ea typeface="Arial" pitchFamily="34" charset="-122"/>
                <a:cs typeface="Arial" pitchFamily="34" charset="-120"/>
              </a:rPr>
              <a:t>$5.99/mo</a:t>
            </a:r>
            <a:endParaRPr lang="en-US" sz="1800" dirty="0"/>
          </a:p>
        </p:txBody>
      </p:sp>
      <p:sp>
        <p:nvSpPr>
          <p:cNvPr id="19" name="Text 17"/>
          <p:cNvSpPr/>
          <p:nvPr/>
        </p:nvSpPr>
        <p:spPr>
          <a:xfrm>
            <a:off x="6846838" y="2521068"/>
            <a:ext cx="1659832" cy="824508"/>
          </a:xfrm>
          <a:prstGeom prst="rect">
            <a:avLst/>
          </a:prstGeom>
          <a:noFill/>
          <a:ln/>
        </p:spPr>
        <p:txBody>
          <a:bodyPr wrap="square" lIns="0" tIns="0" rIns="0" bIns="0" rtlCol="0" anchor="t"/>
          <a:lstStyle/>
          <a:p>
            <a:pPr marL="0" indent="0" algn="l">
              <a:lnSpc>
                <a:spcPts val="1300"/>
              </a:lnSpc>
              <a:buNone/>
            </a:pPr>
            <a:r>
              <a:rPr lang="en-US" sz="1000" dirty="0">
                <a:solidFill>
                  <a:srgbClr val="2D2D2D"/>
                </a:solidFill>
                <a:latin typeface="Arial" pitchFamily="34" charset="0"/>
                <a:ea typeface="Arial" pitchFamily="34" charset="-122"/>
                <a:cs typeface="Arial" pitchFamily="34" charset="-120"/>
              </a:rPr>
              <a:t>Proactive nudges, not reactive tracking. Built for the "aware but doesn’t act" person before they become a budgeter.</a:t>
            </a:r>
            <a:endParaRPr lang="en-US" sz="1000" dirty="0"/>
          </a:p>
        </p:txBody>
      </p:sp>
      <p:sp>
        <p:nvSpPr>
          <p:cNvPr id="20" name="Text 18"/>
          <p:cNvSpPr/>
          <p:nvPr/>
        </p:nvSpPr>
        <p:spPr>
          <a:xfrm>
            <a:off x="507950" y="3687767"/>
            <a:ext cx="8128099" cy="680442"/>
          </a:xfrm>
          <a:prstGeom prst="roundRect">
            <a:avLst>
              <a:gd name="adj" fmla="val 11199"/>
            </a:avLst>
          </a:prstGeom>
          <a:solidFill>
            <a:srgbClr val="F2F7F4"/>
          </a:solidFill>
          <a:ln/>
        </p:spPr>
        <p:txBody>
          <a:bodyPr wrap="square" rtlCol="0" anchor="ctr"/>
          <a:lstStyle/>
          <a:p>
            <a:pPr marL="0" indent="0">
              <a:buNone/>
            </a:pPr>
            <a:endParaRPr lang="en-US" dirty="0"/>
          </a:p>
        </p:txBody>
      </p:sp>
      <p:sp>
        <p:nvSpPr>
          <p:cNvPr id="21" name="Text 19"/>
          <p:cNvSpPr/>
          <p:nvPr/>
        </p:nvSpPr>
        <p:spPr>
          <a:xfrm>
            <a:off x="711101" y="3932703"/>
            <a:ext cx="7876234" cy="426541"/>
          </a:xfrm>
          <a:prstGeom prst="rect">
            <a:avLst/>
          </a:prstGeom>
          <a:noFill/>
          <a:ln/>
        </p:spPr>
        <p:txBody>
          <a:bodyPr wrap="square" lIns="0" tIns="0" rIns="0" bIns="0" rtlCol="0" anchor="t"/>
          <a:lstStyle/>
          <a:p>
            <a:pPr marL="0" indent="0" algn="l">
              <a:lnSpc>
                <a:spcPts val="1680"/>
              </a:lnSpc>
              <a:buNone/>
            </a:pPr>
            <a:r>
              <a:rPr lang="en-US" sz="1200" dirty="0">
                <a:solidFill>
                  <a:srgbClr val="2D2D2D"/>
                </a:solidFill>
                <a:latin typeface="Arial" pitchFamily="34" charset="0"/>
                <a:ea typeface="Arial" pitchFamily="34" charset="-122"/>
                <a:cs typeface="Arial" pitchFamily="34" charset="-120"/>
              </a:rPr>
              <a:t>Our lane: awareness before budgeting. Competitors focus on tools for people who already budget. We focus on the 36% of Gen Z who know they overspend but have no system yet. We are the on-ramp, not the highway.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2F7F4"/>
        </a:solidFill>
        <a:effectLst/>
      </p:bgPr>
    </p:bg>
    <p:spTree>
      <p:nvGrpSpPr>
        <p:cNvPr id="1" name=""/>
        <p:cNvGrpSpPr/>
        <p:nvPr/>
      </p:nvGrpSpPr>
      <p:grpSpPr>
        <a:xfrm>
          <a:off x="0" y="0"/>
          <a:ext cx="0" cy="0"/>
          <a:chOff x="0" y="0"/>
          <a:chExt cx="0" cy="0"/>
        </a:xfrm>
      </p:grpSpPr>
      <p:sp>
        <p:nvSpPr>
          <p:cNvPr id="2" name="Text 0"/>
          <p:cNvSpPr/>
          <p:nvPr/>
        </p:nvSpPr>
        <p:spPr>
          <a:xfrm>
            <a:off x="507950" y="355550"/>
            <a:ext cx="8290661" cy="171450"/>
          </a:xfrm>
          <a:prstGeom prst="rect">
            <a:avLst/>
          </a:prstGeom>
          <a:noFill/>
          <a:ln/>
        </p:spPr>
        <p:txBody>
          <a:bodyPr wrap="square" lIns="0" tIns="0" rIns="0" bIns="0" rtlCol="0" anchor="t"/>
          <a:lstStyle/>
          <a:p>
            <a:pPr marL="0" indent="0" algn="l">
              <a:spcAft>
                <a:spcPts val="400"/>
              </a:spcAft>
              <a:buNone/>
            </a:pPr>
            <a:r>
              <a:rPr lang="en-US" sz="1400" b="1" dirty="0">
                <a:solidFill>
                  <a:srgbClr val="5A9171"/>
                </a:solidFill>
                <a:latin typeface="Arial" pitchFamily="34" charset="0"/>
                <a:ea typeface="Arial" pitchFamily="34" charset="-122"/>
                <a:cs typeface="Arial" pitchFamily="34" charset="-120"/>
              </a:rPr>
              <a:t>FOUNDER-MARKET FIT</a:t>
            </a:r>
            <a:endParaRPr lang="en-US" sz="1400" dirty="0"/>
          </a:p>
        </p:txBody>
      </p:sp>
      <p:sp>
        <p:nvSpPr>
          <p:cNvPr id="3" name="Text 1"/>
          <p:cNvSpPr/>
          <p:nvPr/>
        </p:nvSpPr>
        <p:spPr>
          <a:xfrm>
            <a:off x="507950" y="666239"/>
            <a:ext cx="8290661" cy="365671"/>
          </a:xfrm>
          <a:prstGeom prst="rect">
            <a:avLst/>
          </a:prstGeom>
          <a:noFill/>
          <a:ln/>
        </p:spPr>
        <p:txBody>
          <a:bodyPr wrap="square" lIns="0" tIns="0" rIns="0" bIns="0" rtlCol="0" anchor="t"/>
          <a:lstStyle/>
          <a:p>
            <a:pPr marL="0" indent="0" algn="l">
              <a:lnSpc>
                <a:spcPts val="2880"/>
              </a:lnSpc>
              <a:spcAft>
                <a:spcPts val="1400"/>
              </a:spcAft>
              <a:buNone/>
            </a:pPr>
            <a:r>
              <a:rPr lang="en-US" sz="2400" b="1" dirty="0">
                <a:solidFill>
                  <a:srgbClr val="2D2D2D"/>
                </a:solidFill>
                <a:latin typeface="Arial" pitchFamily="34" charset="0"/>
                <a:ea typeface="Arial" pitchFamily="34" charset="-122"/>
                <a:cs typeface="Arial" pitchFamily="34" charset="-120"/>
              </a:rPr>
              <a:t>I lived this problem. Now I am building the fix.</a:t>
            </a:r>
            <a:endParaRPr lang="en-US" sz="2400" dirty="0"/>
          </a:p>
        </p:txBody>
      </p:sp>
      <p:sp>
        <p:nvSpPr>
          <p:cNvPr id="4" name="Text 2"/>
          <p:cNvSpPr/>
          <p:nvPr/>
        </p:nvSpPr>
        <p:spPr>
          <a:xfrm>
            <a:off x="507950" y="1666802"/>
            <a:ext cx="3962400" cy="2346722"/>
          </a:xfrm>
          <a:prstGeom prst="roundRect">
            <a:avLst>
              <a:gd name="adj" fmla="val 4329"/>
            </a:avLst>
          </a:prstGeom>
          <a:solidFill>
            <a:srgbClr val="FFFFFF"/>
          </a:solidFill>
          <a:ln/>
        </p:spPr>
        <p:txBody>
          <a:bodyPr wrap="square" rtlCol="0" anchor="ctr"/>
          <a:lstStyle/>
          <a:p>
            <a:pPr marL="0" indent="0">
              <a:buNone/>
            </a:pPr>
            <a:endParaRPr lang="en-US" dirty="0"/>
          </a:p>
        </p:txBody>
      </p:sp>
      <p:sp>
        <p:nvSpPr>
          <p:cNvPr id="5" name="Text 3"/>
          <p:cNvSpPr/>
          <p:nvPr/>
        </p:nvSpPr>
        <p:spPr>
          <a:xfrm>
            <a:off x="685651" y="1844503"/>
            <a:ext cx="3679138" cy="209550"/>
          </a:xfrm>
          <a:prstGeom prst="rect">
            <a:avLst/>
          </a:prstGeom>
          <a:noFill/>
          <a:ln/>
        </p:spPr>
        <p:txBody>
          <a:bodyPr wrap="square" lIns="0" tIns="0" rIns="0" bIns="0" rtlCol="0" anchor="t"/>
          <a:lstStyle/>
          <a:p>
            <a:pPr marL="0" indent="0" algn="l">
              <a:spcAft>
                <a:spcPts val="800"/>
              </a:spcAft>
              <a:buNone/>
            </a:pPr>
            <a:r>
              <a:rPr lang="en-US" sz="1400" b="1" dirty="0">
                <a:solidFill>
                  <a:srgbClr val="2D2D2D"/>
                </a:solidFill>
                <a:latin typeface="Arial" pitchFamily="34" charset="0"/>
                <a:ea typeface="Arial" pitchFamily="34" charset="-122"/>
                <a:cs typeface="Arial" pitchFamily="34" charset="-120"/>
              </a:rPr>
              <a:t>Laila Hamza</a:t>
            </a:r>
            <a:endParaRPr lang="en-US" sz="1400" dirty="0"/>
          </a:p>
        </p:txBody>
      </p:sp>
      <p:sp>
        <p:nvSpPr>
          <p:cNvPr id="6" name="Text 4"/>
          <p:cNvSpPr/>
          <p:nvPr/>
        </p:nvSpPr>
        <p:spPr>
          <a:xfrm>
            <a:off x="685651" y="2155554"/>
            <a:ext cx="3606998" cy="1654969"/>
          </a:xfrm>
          <a:prstGeom prst="rect">
            <a:avLst/>
          </a:prstGeom>
          <a:noFill/>
          <a:ln/>
        </p:spPr>
        <p:txBody>
          <a:bodyPr wrap="square" lIns="88900" tIns="0" rIns="0" bIns="0" rtlCol="0" anchor="t"/>
          <a:lstStyle/>
          <a:p>
            <a:pPr marL="88900" indent="-88900" algn="l">
              <a:lnSpc>
                <a:spcPts val="2040"/>
              </a:lnSpc>
              <a:spcAft>
                <a:spcPts val="200"/>
              </a:spcAft>
              <a:buSzPct val="100000"/>
              <a:buChar char="•"/>
            </a:pPr>
            <a:r>
              <a:rPr lang="en-US" sz="1200" dirty="0">
                <a:solidFill>
                  <a:srgbClr val="2D2D2D"/>
                </a:solidFill>
                <a:latin typeface="Arial" pitchFamily="34" charset="0"/>
                <a:ea typeface="Arial" pitchFamily="34" charset="-122"/>
                <a:cs typeface="Arial" pitchFamily="34" charset="-120"/>
              </a:rPr>
              <a:t>Rollins College, Business Management</a:t>
            </a:r>
            <a:endParaRPr lang="en-US" sz="1200" dirty="0"/>
          </a:p>
          <a:p>
            <a:pPr marL="88900" indent="-88900" algn="l">
              <a:lnSpc>
                <a:spcPts val="2040"/>
              </a:lnSpc>
              <a:spcAft>
                <a:spcPts val="200"/>
              </a:spcAft>
              <a:buSzPct val="100000"/>
              <a:buChar char="•"/>
            </a:pPr>
            <a:r>
              <a:rPr lang="en-US" sz="1200" dirty="0">
                <a:solidFill>
                  <a:srgbClr val="2D2D2D"/>
                </a:solidFill>
                <a:latin typeface="Arial" pitchFamily="34" charset="0"/>
                <a:ea typeface="Arial" pitchFamily="34" charset="-122"/>
                <a:cs typeface="Arial" pitchFamily="34" charset="-120"/>
              </a:rPr>
              <a:t>Transferred from UCF</a:t>
            </a:r>
            <a:endParaRPr lang="en-US" sz="1200" dirty="0"/>
          </a:p>
          <a:p>
            <a:pPr marL="88900" indent="-88900" algn="l">
              <a:lnSpc>
                <a:spcPts val="2040"/>
              </a:lnSpc>
              <a:spcAft>
                <a:spcPts val="200"/>
              </a:spcAft>
              <a:buSzPct val="100000"/>
              <a:buChar char="•"/>
            </a:pPr>
            <a:r>
              <a:rPr lang="en-US" sz="1200" dirty="0">
                <a:solidFill>
                  <a:srgbClr val="2D2D2D"/>
                </a:solidFill>
                <a:latin typeface="Arial" pitchFamily="34" charset="0"/>
                <a:ea typeface="Arial" pitchFamily="34" charset="-122"/>
                <a:cs typeface="Arial" pitchFamily="34" charset="-120"/>
              </a:rPr>
              <a:t>Worked 30+ hours/week through school</a:t>
            </a:r>
            <a:endParaRPr lang="en-US" sz="1200" dirty="0"/>
          </a:p>
          <a:p>
            <a:pPr marL="88900" indent="-88900" algn="l">
              <a:lnSpc>
                <a:spcPts val="2040"/>
              </a:lnSpc>
              <a:spcAft>
                <a:spcPts val="200"/>
              </a:spcAft>
              <a:buSzPct val="100000"/>
              <a:buChar char="•"/>
            </a:pPr>
            <a:r>
              <a:rPr lang="en-US" sz="1200" dirty="0">
                <a:solidFill>
                  <a:srgbClr val="2D2D2D"/>
                </a:solidFill>
                <a:latin typeface="Arial" pitchFamily="34" charset="0"/>
                <a:ea typeface="Arial" pitchFamily="34" charset="-122"/>
                <a:cs typeface="Arial" pitchFamily="34" charset="-120"/>
              </a:rPr>
              <a:t>Watched myself and my peers make the same financial mistakes</a:t>
            </a:r>
            <a:endParaRPr lang="en-US" sz="1200" dirty="0"/>
          </a:p>
          <a:p>
            <a:pPr marL="88900" indent="-88900" algn="l">
              <a:lnSpc>
                <a:spcPts val="2040"/>
              </a:lnSpc>
              <a:spcAft>
                <a:spcPts val="200"/>
              </a:spcAft>
              <a:buSzPct val="100000"/>
              <a:buChar char="•"/>
            </a:pPr>
            <a:r>
              <a:rPr lang="en-US" sz="1200" dirty="0">
                <a:solidFill>
                  <a:srgbClr val="2D2D2D"/>
                </a:solidFill>
                <a:latin typeface="Arial" pitchFamily="34" charset="0"/>
                <a:ea typeface="Arial" pitchFamily="34" charset="-122"/>
                <a:cs typeface="Arial" pitchFamily="34" charset="-120"/>
              </a:rPr>
              <a:t>Previous venture: Depop clothing resale</a:t>
            </a:r>
            <a:endParaRPr lang="en-US" sz="1200" dirty="0"/>
          </a:p>
        </p:txBody>
      </p:sp>
      <p:sp>
        <p:nvSpPr>
          <p:cNvPr id="7" name="Text 5"/>
          <p:cNvSpPr/>
          <p:nvPr/>
        </p:nvSpPr>
        <p:spPr>
          <a:xfrm>
            <a:off x="4673501" y="1121122"/>
            <a:ext cx="3962549" cy="1632049"/>
          </a:xfrm>
          <a:prstGeom prst="roundRect">
            <a:avLst>
              <a:gd name="adj" fmla="val 6225"/>
            </a:avLst>
          </a:prstGeom>
          <a:solidFill>
            <a:srgbClr val="FFFFFF"/>
          </a:solidFill>
          <a:ln/>
        </p:spPr>
        <p:txBody>
          <a:bodyPr wrap="square" rtlCol="0" anchor="ctr"/>
          <a:lstStyle/>
          <a:p>
            <a:pPr marL="0" indent="0">
              <a:buNone/>
            </a:pPr>
            <a:endParaRPr lang="en-US" dirty="0"/>
          </a:p>
        </p:txBody>
      </p:sp>
      <p:sp>
        <p:nvSpPr>
          <p:cNvPr id="8" name="Text 6"/>
          <p:cNvSpPr/>
          <p:nvPr/>
        </p:nvSpPr>
        <p:spPr>
          <a:xfrm>
            <a:off x="4851202" y="1298823"/>
            <a:ext cx="3679290" cy="200025"/>
          </a:xfrm>
          <a:prstGeom prst="rect">
            <a:avLst/>
          </a:prstGeom>
          <a:noFill/>
          <a:ln/>
        </p:spPr>
        <p:txBody>
          <a:bodyPr wrap="square" lIns="0" tIns="0" rIns="0" bIns="0" rtlCol="0" anchor="t"/>
          <a:lstStyle/>
          <a:p>
            <a:pPr marL="0" indent="0" algn="l">
              <a:spcAft>
                <a:spcPts val="800"/>
              </a:spcAft>
              <a:buNone/>
            </a:pPr>
            <a:r>
              <a:rPr lang="en-US" sz="1300" b="1" dirty="0">
                <a:solidFill>
                  <a:srgbClr val="5A9171"/>
                </a:solidFill>
                <a:latin typeface="Arial" pitchFamily="34" charset="0"/>
                <a:ea typeface="Arial" pitchFamily="34" charset="-122"/>
                <a:cs typeface="Arial" pitchFamily="34" charset="-120"/>
              </a:rPr>
              <a:t>Why This Founder</a:t>
            </a:r>
            <a:endParaRPr lang="en-US" sz="1300" dirty="0"/>
          </a:p>
        </p:txBody>
      </p:sp>
      <p:sp>
        <p:nvSpPr>
          <p:cNvPr id="9" name="Text 7"/>
          <p:cNvSpPr/>
          <p:nvPr/>
        </p:nvSpPr>
        <p:spPr>
          <a:xfrm>
            <a:off x="4851202" y="1600349"/>
            <a:ext cx="3679290" cy="975122"/>
          </a:xfrm>
          <a:prstGeom prst="rect">
            <a:avLst/>
          </a:prstGeom>
          <a:noFill/>
          <a:ln/>
        </p:spPr>
        <p:txBody>
          <a:bodyPr wrap="square" lIns="0" tIns="0" rIns="0" bIns="0" rtlCol="0" anchor="t"/>
          <a:lstStyle/>
          <a:p>
            <a:pPr marL="0" indent="0" algn="l">
              <a:lnSpc>
                <a:spcPts val="1920"/>
              </a:lnSpc>
              <a:buNone/>
            </a:pPr>
            <a:r>
              <a:rPr lang="en-US" sz="1200" dirty="0">
                <a:solidFill>
                  <a:srgbClr val="2D2D2D"/>
                </a:solidFill>
                <a:latin typeface="Arial" pitchFamily="34" charset="0"/>
                <a:ea typeface="Arial" pitchFamily="34" charset="-122"/>
                <a:cs typeface="Arial" pitchFamily="34" charset="-120"/>
              </a:rPr>
              <a:t>Close to the demographic. Felt the pain of transitioning from college to bills, rent, and car payments with no prior experience. Understands the customer because I am the customer.</a:t>
            </a:r>
            <a:endParaRPr lang="en-US" sz="1200" dirty="0"/>
          </a:p>
        </p:txBody>
      </p:sp>
      <p:sp>
        <p:nvSpPr>
          <p:cNvPr id="10" name="Text 8"/>
          <p:cNvSpPr/>
          <p:nvPr/>
        </p:nvSpPr>
        <p:spPr>
          <a:xfrm>
            <a:off x="4673501" y="2854672"/>
            <a:ext cx="3962549" cy="1632049"/>
          </a:xfrm>
          <a:prstGeom prst="roundRect">
            <a:avLst>
              <a:gd name="adj" fmla="val 6225"/>
            </a:avLst>
          </a:prstGeom>
          <a:solidFill>
            <a:srgbClr val="FFFFFF"/>
          </a:solidFill>
          <a:ln/>
        </p:spPr>
        <p:txBody>
          <a:bodyPr wrap="square" rtlCol="0" anchor="ctr"/>
          <a:lstStyle/>
          <a:p>
            <a:pPr marL="0" indent="0">
              <a:buNone/>
            </a:pPr>
            <a:endParaRPr lang="en-US" dirty="0"/>
          </a:p>
        </p:txBody>
      </p:sp>
      <p:sp>
        <p:nvSpPr>
          <p:cNvPr id="11" name="Text 9"/>
          <p:cNvSpPr/>
          <p:nvPr/>
        </p:nvSpPr>
        <p:spPr>
          <a:xfrm>
            <a:off x="4851202" y="3032373"/>
            <a:ext cx="3679290" cy="200025"/>
          </a:xfrm>
          <a:prstGeom prst="rect">
            <a:avLst/>
          </a:prstGeom>
          <a:noFill/>
          <a:ln/>
        </p:spPr>
        <p:txBody>
          <a:bodyPr wrap="square" lIns="0" tIns="0" rIns="0" bIns="0" rtlCol="0" anchor="t"/>
          <a:lstStyle/>
          <a:p>
            <a:pPr marL="0" indent="0" algn="l">
              <a:spcAft>
                <a:spcPts val="800"/>
              </a:spcAft>
              <a:buNone/>
            </a:pPr>
            <a:r>
              <a:rPr lang="en-US" sz="1300" b="1" dirty="0">
                <a:solidFill>
                  <a:srgbClr val="5A9171"/>
                </a:solidFill>
                <a:latin typeface="Arial" pitchFamily="34" charset="0"/>
                <a:ea typeface="Arial" pitchFamily="34" charset="-122"/>
                <a:cs typeface="Arial" pitchFamily="34" charset="-120"/>
              </a:rPr>
              <a:t>Process</a:t>
            </a:r>
            <a:endParaRPr lang="en-US" sz="1300" dirty="0"/>
          </a:p>
        </p:txBody>
      </p:sp>
      <p:sp>
        <p:nvSpPr>
          <p:cNvPr id="12" name="Text 10"/>
          <p:cNvSpPr/>
          <p:nvPr/>
        </p:nvSpPr>
        <p:spPr>
          <a:xfrm>
            <a:off x="4851202" y="3333899"/>
            <a:ext cx="3679290" cy="975122"/>
          </a:xfrm>
          <a:prstGeom prst="rect">
            <a:avLst/>
          </a:prstGeom>
          <a:noFill/>
          <a:ln/>
        </p:spPr>
        <p:txBody>
          <a:bodyPr wrap="square" lIns="0" tIns="0" rIns="0" bIns="0" rtlCol="0" anchor="t"/>
          <a:lstStyle/>
          <a:p>
            <a:pPr marL="0" indent="0" algn="l">
              <a:lnSpc>
                <a:spcPts val="1920"/>
              </a:lnSpc>
              <a:buNone/>
            </a:pPr>
            <a:r>
              <a:rPr lang="en-US" sz="1200" dirty="0">
                <a:solidFill>
                  <a:srgbClr val="2D2D2D"/>
                </a:solidFill>
                <a:latin typeface="Arial" pitchFamily="34" charset="0"/>
                <a:ea typeface="Arial" pitchFamily="34" charset="-122"/>
                <a:cs typeface="Arial" pitchFamily="34" charset="-120"/>
              </a:rPr>
              <a:t>WHAT I LEARNED - How to build and code with AI, think more critically and deeply, and stay relentlessly consumer- and problem-focused.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2F7F4"/>
        </a:solidFill>
        <a:effectLst/>
      </p:bgPr>
    </p:bg>
    <p:spTree>
      <p:nvGrpSpPr>
        <p:cNvPr id="1" name=""/>
        <p:cNvGrpSpPr/>
        <p:nvPr/>
      </p:nvGrpSpPr>
      <p:grpSpPr>
        <a:xfrm>
          <a:off x="0" y="0"/>
          <a:ext cx="0" cy="0"/>
          <a:chOff x="0" y="0"/>
          <a:chExt cx="0" cy="0"/>
        </a:xfrm>
      </p:grpSpPr>
      <p:sp>
        <p:nvSpPr>
          <p:cNvPr id="2" name="Text 0"/>
          <p:cNvSpPr/>
          <p:nvPr/>
        </p:nvSpPr>
        <p:spPr>
          <a:xfrm>
            <a:off x="507950" y="355550"/>
            <a:ext cx="8290661" cy="171450"/>
          </a:xfrm>
          <a:prstGeom prst="rect">
            <a:avLst/>
          </a:prstGeom>
          <a:noFill/>
          <a:ln/>
        </p:spPr>
        <p:txBody>
          <a:bodyPr wrap="square" lIns="0" tIns="0" rIns="0" bIns="0" rtlCol="0" anchor="t"/>
          <a:lstStyle/>
          <a:p>
            <a:pPr marL="0" indent="0" algn="l">
              <a:spcAft>
                <a:spcPts val="400"/>
              </a:spcAft>
              <a:buNone/>
            </a:pPr>
            <a:r>
              <a:rPr lang="en-US" sz="1400" b="1" dirty="0">
                <a:solidFill>
                  <a:srgbClr val="5A9171"/>
                </a:solidFill>
                <a:latin typeface="Arial" pitchFamily="34" charset="0"/>
                <a:ea typeface="Arial" pitchFamily="34" charset="-122"/>
                <a:cs typeface="Arial" pitchFamily="34" charset="-120"/>
              </a:rPr>
              <a:t>NEXT STEPS</a:t>
            </a:r>
            <a:endParaRPr lang="en-US" sz="1400" dirty="0"/>
          </a:p>
        </p:txBody>
      </p:sp>
      <p:sp>
        <p:nvSpPr>
          <p:cNvPr id="3" name="Text 1"/>
          <p:cNvSpPr/>
          <p:nvPr/>
        </p:nvSpPr>
        <p:spPr>
          <a:xfrm>
            <a:off x="507950" y="577751"/>
            <a:ext cx="8290661" cy="396180"/>
          </a:xfrm>
          <a:prstGeom prst="rect">
            <a:avLst/>
          </a:prstGeom>
          <a:noFill/>
          <a:ln/>
        </p:spPr>
        <p:txBody>
          <a:bodyPr wrap="square" lIns="0" tIns="0" rIns="0" bIns="0" rtlCol="0" anchor="t"/>
          <a:lstStyle/>
          <a:p>
            <a:pPr marL="0" indent="0" algn="l">
              <a:lnSpc>
                <a:spcPts val="3120"/>
              </a:lnSpc>
              <a:spcAft>
                <a:spcPts val="1600"/>
              </a:spcAft>
              <a:buNone/>
            </a:pPr>
            <a:r>
              <a:rPr lang="en-US" sz="2600" b="1" dirty="0">
                <a:solidFill>
                  <a:srgbClr val="2D2D2D"/>
                </a:solidFill>
                <a:latin typeface="Arial" pitchFamily="34" charset="0"/>
                <a:ea typeface="Arial" pitchFamily="34" charset="-122"/>
                <a:cs typeface="Arial" pitchFamily="34" charset="-120"/>
              </a:rPr>
              <a:t>Validate the core loop. Then scale.</a:t>
            </a:r>
            <a:endParaRPr lang="en-US" sz="2600" dirty="0"/>
          </a:p>
        </p:txBody>
      </p:sp>
      <p:sp>
        <p:nvSpPr>
          <p:cNvPr id="4" name="Text 2"/>
          <p:cNvSpPr/>
          <p:nvPr/>
        </p:nvSpPr>
        <p:spPr>
          <a:xfrm>
            <a:off x="507950" y="1177082"/>
            <a:ext cx="2590800" cy="2061418"/>
          </a:xfrm>
          <a:prstGeom prst="roundRect">
            <a:avLst>
              <a:gd name="adj" fmla="val 4929"/>
            </a:avLst>
          </a:prstGeom>
          <a:solidFill>
            <a:srgbClr val="FFFFFF"/>
          </a:solidFill>
          <a:ln/>
        </p:spPr>
        <p:txBody>
          <a:bodyPr wrap="square" rtlCol="0" anchor="ctr"/>
          <a:lstStyle/>
          <a:p>
            <a:pPr marL="0" indent="0">
              <a:buNone/>
            </a:pPr>
            <a:endParaRPr lang="en-US" dirty="0"/>
          </a:p>
        </p:txBody>
      </p:sp>
      <p:sp>
        <p:nvSpPr>
          <p:cNvPr id="5" name="Shape 3"/>
          <p:cNvSpPr/>
          <p:nvPr/>
        </p:nvSpPr>
        <p:spPr>
          <a:xfrm>
            <a:off x="507950" y="1196132"/>
            <a:ext cx="2590800" cy="0"/>
          </a:xfrm>
          <a:prstGeom prst="line">
            <a:avLst/>
          </a:prstGeom>
          <a:noFill/>
          <a:ln w="38100">
            <a:solidFill>
              <a:srgbClr val="5A9171"/>
            </a:solidFill>
            <a:prstDash val="solid"/>
          </a:ln>
        </p:spPr>
        <p:txBody>
          <a:bodyPr/>
          <a:lstStyle/>
          <a:p>
            <a:endParaRPr lang="en-US" dirty="0"/>
          </a:p>
        </p:txBody>
      </p:sp>
      <p:sp>
        <p:nvSpPr>
          <p:cNvPr id="6" name="Text 4"/>
          <p:cNvSpPr/>
          <p:nvPr/>
        </p:nvSpPr>
        <p:spPr>
          <a:xfrm>
            <a:off x="685651" y="1392882"/>
            <a:ext cx="2280106" cy="200025"/>
          </a:xfrm>
          <a:prstGeom prst="rect">
            <a:avLst/>
          </a:prstGeom>
          <a:noFill/>
          <a:ln/>
        </p:spPr>
        <p:txBody>
          <a:bodyPr wrap="square" lIns="0" tIns="0" rIns="0" bIns="0" rtlCol="0" anchor="t"/>
          <a:lstStyle/>
          <a:p>
            <a:pPr marL="0" indent="0" algn="l">
              <a:spcAft>
                <a:spcPts val="400"/>
              </a:spcAft>
              <a:buNone/>
            </a:pPr>
            <a:r>
              <a:rPr lang="en-US" sz="1300" b="1" dirty="0">
                <a:solidFill>
                  <a:srgbClr val="5A9171"/>
                </a:solidFill>
                <a:latin typeface="Arial" pitchFamily="34" charset="0"/>
                <a:ea typeface="Arial" pitchFamily="34" charset="-122"/>
                <a:cs typeface="Arial" pitchFamily="34" charset="-120"/>
              </a:rPr>
              <a:t>Now (Weeks 11-12)</a:t>
            </a:r>
            <a:endParaRPr lang="en-US" sz="1300" dirty="0"/>
          </a:p>
        </p:txBody>
      </p:sp>
      <p:sp>
        <p:nvSpPr>
          <p:cNvPr id="7" name="Text 5"/>
          <p:cNvSpPr/>
          <p:nvPr/>
        </p:nvSpPr>
        <p:spPr>
          <a:xfrm>
            <a:off x="685651" y="1643658"/>
            <a:ext cx="2235398" cy="944761"/>
          </a:xfrm>
          <a:prstGeom prst="rect">
            <a:avLst/>
          </a:prstGeom>
          <a:noFill/>
          <a:ln/>
        </p:spPr>
        <p:txBody>
          <a:bodyPr wrap="square" lIns="88900" tIns="0" rIns="0" bIns="0" rtlCol="0" anchor="t"/>
          <a:lstStyle/>
          <a:p>
            <a:pPr marL="88900" indent="-88900" algn="l">
              <a:lnSpc>
                <a:spcPts val="176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Complete CSV import and transaction parser</a:t>
            </a:r>
            <a:endParaRPr lang="en-US" sz="1100" dirty="0"/>
          </a:p>
          <a:p>
            <a:pPr marL="88900" indent="-88900" algn="l">
              <a:lnSpc>
                <a:spcPts val="176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Recruit 5-10 trusted pilot users</a:t>
            </a:r>
            <a:endParaRPr lang="en-US" sz="1100" dirty="0"/>
          </a:p>
        </p:txBody>
      </p:sp>
      <p:sp>
        <p:nvSpPr>
          <p:cNvPr id="8" name="Text 6"/>
          <p:cNvSpPr/>
          <p:nvPr/>
        </p:nvSpPr>
        <p:spPr>
          <a:xfrm>
            <a:off x="3276451" y="1177082"/>
            <a:ext cx="2590949" cy="2061418"/>
          </a:xfrm>
          <a:prstGeom prst="roundRect">
            <a:avLst>
              <a:gd name="adj" fmla="val 4929"/>
            </a:avLst>
          </a:prstGeom>
          <a:solidFill>
            <a:srgbClr val="FFFFFF"/>
          </a:solidFill>
          <a:ln/>
        </p:spPr>
        <p:txBody>
          <a:bodyPr wrap="square" rtlCol="0" anchor="ctr"/>
          <a:lstStyle/>
          <a:p>
            <a:pPr marL="0" indent="0">
              <a:buNone/>
            </a:pPr>
            <a:endParaRPr lang="en-US" dirty="0"/>
          </a:p>
        </p:txBody>
      </p:sp>
      <p:sp>
        <p:nvSpPr>
          <p:cNvPr id="9" name="Shape 7"/>
          <p:cNvSpPr/>
          <p:nvPr/>
        </p:nvSpPr>
        <p:spPr>
          <a:xfrm>
            <a:off x="3276451" y="1196132"/>
            <a:ext cx="2590949" cy="0"/>
          </a:xfrm>
          <a:prstGeom prst="line">
            <a:avLst/>
          </a:prstGeom>
          <a:noFill/>
          <a:ln w="38100">
            <a:solidFill>
              <a:srgbClr val="C98F1D"/>
            </a:solidFill>
            <a:prstDash val="solid"/>
          </a:ln>
        </p:spPr>
        <p:txBody>
          <a:bodyPr/>
          <a:lstStyle/>
          <a:p>
            <a:endParaRPr lang="en-US" dirty="0"/>
          </a:p>
        </p:txBody>
      </p:sp>
      <p:sp>
        <p:nvSpPr>
          <p:cNvPr id="10" name="Text 8"/>
          <p:cNvSpPr/>
          <p:nvPr/>
        </p:nvSpPr>
        <p:spPr>
          <a:xfrm>
            <a:off x="3454152" y="1392882"/>
            <a:ext cx="2280258" cy="200025"/>
          </a:xfrm>
          <a:prstGeom prst="rect">
            <a:avLst/>
          </a:prstGeom>
          <a:noFill/>
          <a:ln/>
        </p:spPr>
        <p:txBody>
          <a:bodyPr wrap="square" lIns="0" tIns="0" rIns="0" bIns="0" rtlCol="0" anchor="t"/>
          <a:lstStyle/>
          <a:p>
            <a:pPr marL="0" indent="0" algn="l">
              <a:spcAft>
                <a:spcPts val="400"/>
              </a:spcAft>
              <a:buNone/>
            </a:pPr>
            <a:r>
              <a:rPr lang="en-US" sz="1300" b="1" dirty="0">
                <a:solidFill>
                  <a:srgbClr val="C98F1D"/>
                </a:solidFill>
                <a:latin typeface="Arial" pitchFamily="34" charset="0"/>
                <a:ea typeface="Arial" pitchFamily="34" charset="-122"/>
                <a:cs typeface="Arial" pitchFamily="34" charset="-120"/>
              </a:rPr>
              <a:t>Next (Months 2-3)</a:t>
            </a:r>
            <a:endParaRPr lang="en-US" sz="1300" dirty="0"/>
          </a:p>
        </p:txBody>
      </p:sp>
      <p:sp>
        <p:nvSpPr>
          <p:cNvPr id="11" name="Text 9"/>
          <p:cNvSpPr/>
          <p:nvPr/>
        </p:nvSpPr>
        <p:spPr>
          <a:xfrm>
            <a:off x="3454152" y="1643658"/>
            <a:ext cx="2235547" cy="1391841"/>
          </a:xfrm>
          <a:prstGeom prst="rect">
            <a:avLst/>
          </a:prstGeom>
          <a:noFill/>
          <a:ln/>
        </p:spPr>
        <p:txBody>
          <a:bodyPr wrap="square" lIns="88900" tIns="0" rIns="0" bIns="0" rtlCol="0" anchor="t"/>
          <a:lstStyle/>
          <a:p>
            <a:pPr marL="88900" indent="-88900" algn="l">
              <a:lnSpc>
                <a:spcPts val="176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Pilot test: do weekly nudges change spending?</a:t>
            </a:r>
            <a:endParaRPr lang="en-US" sz="1100" dirty="0"/>
          </a:p>
          <a:p>
            <a:pPr marL="88900" indent="-88900" algn="l">
              <a:lnSpc>
                <a:spcPts val="176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Plaid integration (after core loop validated)</a:t>
            </a:r>
            <a:endParaRPr lang="en-US" sz="1100" dirty="0"/>
          </a:p>
          <a:p>
            <a:pPr marL="88900" indent="-88900" algn="l">
              <a:lnSpc>
                <a:spcPts val="176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Iterate on notification copy and cadence</a:t>
            </a:r>
            <a:endParaRPr lang="en-US" sz="1100" dirty="0"/>
          </a:p>
        </p:txBody>
      </p:sp>
      <p:sp>
        <p:nvSpPr>
          <p:cNvPr id="12" name="Text 10"/>
          <p:cNvSpPr/>
          <p:nvPr/>
        </p:nvSpPr>
        <p:spPr>
          <a:xfrm>
            <a:off x="6045101" y="1177082"/>
            <a:ext cx="2590949" cy="2061418"/>
          </a:xfrm>
          <a:prstGeom prst="roundRect">
            <a:avLst>
              <a:gd name="adj" fmla="val 4929"/>
            </a:avLst>
          </a:prstGeom>
          <a:solidFill>
            <a:srgbClr val="FFFFFF"/>
          </a:solidFill>
          <a:ln/>
        </p:spPr>
        <p:txBody>
          <a:bodyPr wrap="square" rtlCol="0" anchor="ctr"/>
          <a:lstStyle/>
          <a:p>
            <a:pPr marL="0" indent="0">
              <a:buNone/>
            </a:pPr>
            <a:endParaRPr lang="en-US" dirty="0"/>
          </a:p>
        </p:txBody>
      </p:sp>
      <p:sp>
        <p:nvSpPr>
          <p:cNvPr id="13" name="Shape 11"/>
          <p:cNvSpPr/>
          <p:nvPr/>
        </p:nvSpPr>
        <p:spPr>
          <a:xfrm>
            <a:off x="6045101" y="1196132"/>
            <a:ext cx="2590949" cy="0"/>
          </a:xfrm>
          <a:prstGeom prst="line">
            <a:avLst/>
          </a:prstGeom>
          <a:noFill/>
          <a:ln w="38100">
            <a:solidFill>
              <a:srgbClr val="3F9F5B"/>
            </a:solidFill>
            <a:prstDash val="solid"/>
          </a:ln>
        </p:spPr>
        <p:txBody>
          <a:bodyPr/>
          <a:lstStyle/>
          <a:p>
            <a:endParaRPr lang="en-US" dirty="0"/>
          </a:p>
        </p:txBody>
      </p:sp>
      <p:sp>
        <p:nvSpPr>
          <p:cNvPr id="14" name="Text 12"/>
          <p:cNvSpPr/>
          <p:nvPr/>
        </p:nvSpPr>
        <p:spPr>
          <a:xfrm>
            <a:off x="6222802" y="1392882"/>
            <a:ext cx="2280258" cy="200025"/>
          </a:xfrm>
          <a:prstGeom prst="rect">
            <a:avLst/>
          </a:prstGeom>
          <a:noFill/>
          <a:ln/>
        </p:spPr>
        <p:txBody>
          <a:bodyPr wrap="square" lIns="0" tIns="0" rIns="0" bIns="0" rtlCol="0" anchor="t"/>
          <a:lstStyle/>
          <a:p>
            <a:pPr marL="0" indent="0" algn="l">
              <a:spcAft>
                <a:spcPts val="400"/>
              </a:spcAft>
              <a:buNone/>
            </a:pPr>
            <a:r>
              <a:rPr lang="en-US" sz="1300" b="1" dirty="0">
                <a:solidFill>
                  <a:srgbClr val="3F9F5B"/>
                </a:solidFill>
                <a:latin typeface="Arial" pitchFamily="34" charset="0"/>
                <a:ea typeface="Arial" pitchFamily="34" charset="-122"/>
                <a:cs typeface="Arial" pitchFamily="34" charset="-120"/>
              </a:rPr>
              <a:t>Later (Months 4-6)</a:t>
            </a:r>
            <a:endParaRPr lang="en-US" sz="1300" dirty="0"/>
          </a:p>
        </p:txBody>
      </p:sp>
      <p:sp>
        <p:nvSpPr>
          <p:cNvPr id="15" name="Text 13"/>
          <p:cNvSpPr/>
          <p:nvPr/>
        </p:nvSpPr>
        <p:spPr>
          <a:xfrm>
            <a:off x="6222802" y="1643658"/>
            <a:ext cx="2235547" cy="1391841"/>
          </a:xfrm>
          <a:prstGeom prst="rect">
            <a:avLst/>
          </a:prstGeom>
          <a:noFill/>
          <a:ln/>
        </p:spPr>
        <p:txBody>
          <a:bodyPr wrap="square" lIns="88900" tIns="0" rIns="0" bIns="0" rtlCol="0" anchor="t"/>
          <a:lstStyle/>
          <a:p>
            <a:pPr marL="88900" indent="-88900" algn="l">
              <a:lnSpc>
                <a:spcPts val="176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Public launch with subscription billing</a:t>
            </a:r>
            <a:endParaRPr lang="en-US" sz="1100" dirty="0"/>
          </a:p>
          <a:p>
            <a:pPr marL="88900" indent="-88900" algn="l">
              <a:lnSpc>
                <a:spcPts val="176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Chatbot for personal spending questions</a:t>
            </a:r>
            <a:endParaRPr lang="en-US" sz="1100" dirty="0"/>
          </a:p>
          <a:p>
            <a:pPr marL="88900" indent="-88900" algn="l">
              <a:lnSpc>
                <a:spcPts val="1760"/>
              </a:lnSpc>
              <a:spcAft>
                <a:spcPts val="200"/>
              </a:spcAft>
              <a:buSzPct val="100000"/>
              <a:buChar char="•"/>
            </a:pPr>
            <a:r>
              <a:rPr lang="en-US" sz="1100" dirty="0">
                <a:solidFill>
                  <a:srgbClr val="2D2D2D"/>
                </a:solidFill>
                <a:latin typeface="Arial" pitchFamily="34" charset="0"/>
                <a:ea typeface="Arial" pitchFamily="34" charset="-122"/>
                <a:cs typeface="Arial" pitchFamily="34" charset="-120"/>
              </a:rPr>
              <a:t>Explore B2B2C (employer/university channel)</a:t>
            </a:r>
            <a:endParaRPr lang="en-US" sz="1100" dirty="0"/>
          </a:p>
        </p:txBody>
      </p:sp>
      <p:sp>
        <p:nvSpPr>
          <p:cNvPr id="16" name="Text 14"/>
          <p:cNvSpPr/>
          <p:nvPr/>
        </p:nvSpPr>
        <p:spPr>
          <a:xfrm>
            <a:off x="507950" y="3441650"/>
            <a:ext cx="8128099" cy="1072902"/>
          </a:xfrm>
          <a:prstGeom prst="roundRect">
            <a:avLst>
              <a:gd name="adj" fmla="val 9470"/>
            </a:avLst>
          </a:prstGeom>
          <a:solidFill>
            <a:srgbClr val="F2F7F4"/>
          </a:solidFill>
          <a:ln/>
        </p:spPr>
        <p:txBody>
          <a:bodyPr wrap="square" rtlCol="0" anchor="ctr"/>
          <a:lstStyle/>
          <a:p>
            <a:pPr marL="0" indent="0">
              <a:buNone/>
            </a:pPr>
            <a:endParaRPr lang="en-US" dirty="0"/>
          </a:p>
        </p:txBody>
      </p:sp>
      <p:sp>
        <p:nvSpPr>
          <p:cNvPr id="17" name="Text 15"/>
          <p:cNvSpPr/>
          <p:nvPr/>
        </p:nvSpPr>
        <p:spPr>
          <a:xfrm>
            <a:off x="685651" y="3619351"/>
            <a:ext cx="7928152" cy="209550"/>
          </a:xfrm>
          <a:prstGeom prst="rect">
            <a:avLst/>
          </a:prstGeom>
          <a:noFill/>
          <a:ln/>
        </p:spPr>
        <p:txBody>
          <a:bodyPr wrap="square" lIns="0" tIns="0" rIns="0" bIns="0" rtlCol="0" anchor="t"/>
          <a:lstStyle/>
          <a:p>
            <a:pPr marL="0" indent="0" algn="l">
              <a:spcAft>
                <a:spcPts val="400"/>
              </a:spcAft>
              <a:buNone/>
            </a:pPr>
            <a:r>
              <a:rPr lang="en-US" sz="1400" b="1" dirty="0">
                <a:solidFill>
                  <a:srgbClr val="2D2D2D"/>
                </a:solidFill>
                <a:latin typeface="Arial" pitchFamily="34" charset="0"/>
                <a:ea typeface="Arial" pitchFamily="34" charset="-122"/>
                <a:cs typeface="Arial" pitchFamily="34" charset="-120"/>
              </a:rPr>
              <a:t>The Ask</a:t>
            </a:r>
            <a:endParaRPr lang="en-US" sz="1400" dirty="0"/>
          </a:p>
        </p:txBody>
      </p:sp>
      <p:sp>
        <p:nvSpPr>
          <p:cNvPr id="18" name="Text 16"/>
          <p:cNvSpPr/>
          <p:nvPr/>
        </p:nvSpPr>
        <p:spPr>
          <a:xfrm>
            <a:off x="685651" y="3879652"/>
            <a:ext cx="7928152" cy="457200"/>
          </a:xfrm>
          <a:prstGeom prst="rect">
            <a:avLst/>
          </a:prstGeom>
          <a:noFill/>
          <a:ln/>
        </p:spPr>
        <p:txBody>
          <a:bodyPr wrap="square" lIns="0" tIns="0" rIns="0" bIns="0" rtlCol="0" anchor="t"/>
          <a:lstStyle/>
          <a:p>
            <a:pPr marL="0" indent="0" algn="l">
              <a:lnSpc>
                <a:spcPts val="1800"/>
              </a:lnSpc>
              <a:buNone/>
            </a:pPr>
            <a:r>
              <a:rPr lang="en-US" sz="1200" dirty="0">
                <a:solidFill>
                  <a:srgbClr val="2D2D2D"/>
                </a:solidFill>
                <a:latin typeface="Arial" pitchFamily="34" charset="0"/>
                <a:ea typeface="Arial" pitchFamily="34" charset="-122"/>
                <a:cs typeface="Arial" pitchFamily="34" charset="-120"/>
              </a:rPr>
              <a:t>Feedback on the model. Connections to recent graduates willing to pilot. Introductions to anyone in fintech or financial wellness who has seen what works.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7950" y="355550"/>
            <a:ext cx="8290661" cy="171450"/>
          </a:xfrm>
          <a:prstGeom prst="rect">
            <a:avLst/>
          </a:prstGeom>
          <a:noFill/>
          <a:ln/>
        </p:spPr>
        <p:txBody>
          <a:bodyPr wrap="square" lIns="0" tIns="0" rIns="0" bIns="0" rtlCol="0" anchor="t"/>
          <a:lstStyle/>
          <a:p>
            <a:pPr marL="0" indent="0" algn="l">
              <a:spcAft>
                <a:spcPts val="400"/>
              </a:spcAft>
              <a:buNone/>
            </a:pPr>
            <a:r>
              <a:rPr lang="en-US" sz="1400" b="1" dirty="0">
                <a:solidFill>
                  <a:srgbClr val="5A9171"/>
                </a:solidFill>
                <a:latin typeface="Arial" pitchFamily="34" charset="0"/>
                <a:ea typeface="Arial" pitchFamily="34" charset="-122"/>
                <a:cs typeface="Arial" pitchFamily="34" charset="-120"/>
              </a:rPr>
              <a:t>THE ASK</a:t>
            </a:r>
            <a:endParaRPr lang="en-US" sz="1400" dirty="0"/>
          </a:p>
        </p:txBody>
      </p:sp>
      <p:sp>
        <p:nvSpPr>
          <p:cNvPr id="3" name="Text 1"/>
          <p:cNvSpPr/>
          <p:nvPr/>
        </p:nvSpPr>
        <p:spPr>
          <a:xfrm>
            <a:off x="507950" y="695735"/>
            <a:ext cx="8290661" cy="365671"/>
          </a:xfrm>
          <a:prstGeom prst="rect">
            <a:avLst/>
          </a:prstGeom>
          <a:noFill/>
          <a:ln/>
        </p:spPr>
        <p:txBody>
          <a:bodyPr wrap="square" lIns="0" tIns="0" rIns="0" bIns="0" rtlCol="0" anchor="t"/>
          <a:lstStyle/>
          <a:p>
            <a:pPr marL="0" indent="0" algn="l">
              <a:lnSpc>
                <a:spcPts val="2880"/>
              </a:lnSpc>
              <a:spcAft>
                <a:spcPts val="1400"/>
              </a:spcAft>
              <a:buNone/>
            </a:pPr>
            <a:r>
              <a:rPr lang="en-US" sz="2400" b="1" dirty="0">
                <a:solidFill>
                  <a:srgbClr val="2D2D2D"/>
                </a:solidFill>
                <a:latin typeface="Arial" pitchFamily="34" charset="0"/>
                <a:ea typeface="Arial" pitchFamily="34" charset="-122"/>
                <a:cs typeface="Arial" pitchFamily="34" charset="-120"/>
              </a:rPr>
              <a:t>$20,000 for 3 months. Enough to prove the core loop works.</a:t>
            </a:r>
            <a:endParaRPr lang="en-US" sz="2400" dirty="0"/>
          </a:p>
        </p:txBody>
      </p:sp>
      <p:sp>
        <p:nvSpPr>
          <p:cNvPr id="4" name="Text 2"/>
          <p:cNvSpPr/>
          <p:nvPr/>
        </p:nvSpPr>
        <p:spPr>
          <a:xfrm>
            <a:off x="507950" y="1401336"/>
            <a:ext cx="3975199" cy="1425178"/>
          </a:xfrm>
          <a:prstGeom prst="roundRect">
            <a:avLst>
              <a:gd name="adj" fmla="val 7129"/>
            </a:avLst>
          </a:prstGeom>
          <a:solidFill>
            <a:srgbClr val="FFFFFF"/>
          </a:solidFill>
          <a:ln/>
        </p:spPr>
        <p:txBody>
          <a:bodyPr wrap="square" rtlCol="0" anchor="ctr"/>
          <a:lstStyle/>
          <a:p>
            <a:pPr marL="0" indent="0">
              <a:buNone/>
            </a:pPr>
            <a:endParaRPr lang="en-US" dirty="0"/>
          </a:p>
        </p:txBody>
      </p:sp>
      <p:sp>
        <p:nvSpPr>
          <p:cNvPr id="5" name="Text 3"/>
          <p:cNvSpPr/>
          <p:nvPr/>
        </p:nvSpPr>
        <p:spPr>
          <a:xfrm>
            <a:off x="685651" y="1756013"/>
            <a:ext cx="3692194" cy="171450"/>
          </a:xfrm>
          <a:prstGeom prst="rect">
            <a:avLst/>
          </a:prstGeom>
          <a:noFill/>
          <a:ln/>
        </p:spPr>
        <p:txBody>
          <a:bodyPr wrap="square" lIns="0" tIns="0" rIns="0" bIns="0" rtlCol="0" anchor="t"/>
          <a:lstStyle/>
          <a:p>
            <a:pPr marL="0" indent="0" algn="l">
              <a:spcAft>
                <a:spcPts val="600"/>
              </a:spcAft>
              <a:buNone/>
            </a:pPr>
            <a:r>
              <a:rPr lang="en-US" sz="1200" b="1" dirty="0">
                <a:solidFill>
                  <a:srgbClr val="5A9171"/>
                </a:solidFill>
                <a:latin typeface="Arial" pitchFamily="34" charset="0"/>
                <a:ea typeface="Arial" pitchFamily="34" charset="-122"/>
                <a:cs typeface="Arial" pitchFamily="34" charset="-120"/>
              </a:rPr>
              <a:t>Use of Funds</a:t>
            </a:r>
            <a:endParaRPr lang="en-US" sz="1200" dirty="0"/>
          </a:p>
        </p:txBody>
      </p:sp>
      <p:sp>
        <p:nvSpPr>
          <p:cNvPr id="6" name="Text 4"/>
          <p:cNvSpPr/>
          <p:nvPr/>
        </p:nvSpPr>
        <p:spPr>
          <a:xfrm>
            <a:off x="685651" y="2003663"/>
            <a:ext cx="1900000"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Fixed operating costs (3 mo)</a:t>
            </a:r>
            <a:endParaRPr lang="en-US" sz="1100" dirty="0"/>
          </a:p>
        </p:txBody>
      </p:sp>
      <p:sp>
        <p:nvSpPr>
          <p:cNvPr id="7" name="Text 5"/>
          <p:cNvSpPr/>
          <p:nvPr/>
        </p:nvSpPr>
        <p:spPr>
          <a:xfrm>
            <a:off x="3956000" y="2003663"/>
            <a:ext cx="520000" cy="152400"/>
          </a:xfrm>
          <a:prstGeom prst="rect">
            <a:avLst/>
          </a:prstGeom>
          <a:noFill/>
          <a:ln/>
        </p:spPr>
        <p:txBody>
          <a:bodyPr wrap="square" lIns="0" tIns="0" rIns="0" bIns="0" rtlCol="0" anchor="t"/>
          <a:lstStyle/>
          <a:p>
            <a:pPr marL="0" indent="0" algn="l">
              <a:buNone/>
            </a:pPr>
            <a:r>
              <a:rPr lang="en-US" sz="1100" b="1" dirty="0">
                <a:solidFill>
                  <a:srgbClr val="2D2D2D"/>
                </a:solidFill>
                <a:latin typeface="Arial" pitchFamily="34" charset="0"/>
                <a:ea typeface="Arial" pitchFamily="34" charset="-122"/>
                <a:cs typeface="Arial" pitchFamily="34" charset="-120"/>
              </a:rPr>
              <a:t>$18,750</a:t>
            </a:r>
            <a:endParaRPr lang="en-US" sz="1100" dirty="0"/>
          </a:p>
        </p:txBody>
      </p:sp>
      <p:sp>
        <p:nvSpPr>
          <p:cNvPr id="8" name="Text 6"/>
          <p:cNvSpPr/>
          <p:nvPr/>
        </p:nvSpPr>
        <p:spPr>
          <a:xfrm>
            <a:off x="685651" y="2206813"/>
            <a:ext cx="1374895"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Buffer</a:t>
            </a:r>
            <a:endParaRPr lang="en-US" sz="1100" dirty="0"/>
          </a:p>
        </p:txBody>
      </p:sp>
      <p:sp>
        <p:nvSpPr>
          <p:cNvPr id="9" name="Text 7"/>
          <p:cNvSpPr/>
          <p:nvPr/>
        </p:nvSpPr>
        <p:spPr>
          <a:xfrm>
            <a:off x="3956000" y="2206813"/>
            <a:ext cx="450000" cy="152400"/>
          </a:xfrm>
          <a:prstGeom prst="rect">
            <a:avLst/>
          </a:prstGeom>
          <a:noFill/>
          <a:ln/>
        </p:spPr>
        <p:txBody>
          <a:bodyPr wrap="square" lIns="0" tIns="0" rIns="0" bIns="0" rtlCol="0" anchor="t"/>
          <a:lstStyle/>
          <a:p>
            <a:pPr marL="0" indent="0" algn="l">
              <a:buNone/>
            </a:pPr>
            <a:r>
              <a:rPr lang="en-US" sz="1100" b="1" dirty="0">
                <a:solidFill>
                  <a:srgbClr val="2D2D2D"/>
                </a:solidFill>
                <a:latin typeface="Arial" pitchFamily="34" charset="0"/>
                <a:ea typeface="Arial" pitchFamily="34" charset="-122"/>
                <a:cs typeface="Arial" pitchFamily="34" charset="-120"/>
              </a:rPr>
              <a:t>$1,250</a:t>
            </a:r>
            <a:endParaRPr lang="en-US" sz="1100" dirty="0"/>
          </a:p>
        </p:txBody>
      </p:sp>
      <p:sp>
        <p:nvSpPr>
          <p:cNvPr id="10" name="Text 8"/>
          <p:cNvSpPr/>
          <p:nvPr/>
        </p:nvSpPr>
        <p:spPr>
          <a:xfrm>
            <a:off x="685651" y="2409964"/>
            <a:ext cx="1242977"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Cost basis</a:t>
            </a:r>
            <a:endParaRPr lang="en-US" sz="1100" dirty="0"/>
          </a:p>
        </p:txBody>
      </p:sp>
      <p:sp>
        <p:nvSpPr>
          <p:cNvPr id="11" name="Text 9"/>
          <p:cNvSpPr/>
          <p:nvPr/>
        </p:nvSpPr>
        <p:spPr>
          <a:xfrm>
            <a:off x="3544639" y="2409964"/>
            <a:ext cx="776026" cy="152400"/>
          </a:xfrm>
          <a:prstGeom prst="rect">
            <a:avLst/>
          </a:prstGeom>
          <a:noFill/>
          <a:ln/>
        </p:spPr>
        <p:txBody>
          <a:bodyPr wrap="square" lIns="0" tIns="0" rIns="0" bIns="0" rtlCol="0" anchor="t"/>
          <a:lstStyle/>
          <a:p>
            <a:pPr marL="0" indent="0" algn="l">
              <a:buNone/>
            </a:pPr>
            <a:r>
              <a:rPr lang="en-US" sz="1100" b="1" dirty="0">
                <a:solidFill>
                  <a:srgbClr val="5A9171"/>
                </a:solidFill>
                <a:latin typeface="Arial" pitchFamily="34" charset="0"/>
                <a:ea typeface="Arial" pitchFamily="34" charset="-122"/>
                <a:cs typeface="Arial" pitchFamily="34" charset="-120"/>
              </a:rPr>
              <a:t>$6,250/mo</a:t>
            </a:r>
            <a:endParaRPr lang="en-US" sz="1100" dirty="0"/>
          </a:p>
        </p:txBody>
      </p:sp>
      <p:sp>
        <p:nvSpPr>
          <p:cNvPr id="12" name="Shape 10"/>
          <p:cNvSpPr/>
          <p:nvPr/>
        </p:nvSpPr>
        <p:spPr>
          <a:xfrm>
            <a:off x="685651" y="2617877"/>
            <a:ext cx="3619798" cy="0"/>
          </a:xfrm>
          <a:prstGeom prst="line">
            <a:avLst/>
          </a:prstGeom>
          <a:noFill/>
          <a:ln w="9525">
            <a:solidFill>
              <a:srgbClr val="87B89D"/>
            </a:solidFill>
            <a:prstDash val="solid"/>
          </a:ln>
        </p:spPr>
        <p:txBody>
          <a:bodyPr/>
          <a:lstStyle/>
          <a:p>
            <a:endParaRPr lang="en-US" dirty="0"/>
          </a:p>
        </p:txBody>
      </p:sp>
      <p:sp>
        <p:nvSpPr>
          <p:cNvPr id="13" name="Text 11"/>
          <p:cNvSpPr/>
          <p:nvPr/>
        </p:nvSpPr>
        <p:spPr>
          <a:xfrm>
            <a:off x="685651" y="2673390"/>
            <a:ext cx="1013296"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Total ask</a:t>
            </a:r>
            <a:endParaRPr lang="en-US" sz="1100" dirty="0"/>
          </a:p>
        </p:txBody>
      </p:sp>
      <p:sp>
        <p:nvSpPr>
          <p:cNvPr id="14" name="Text 12"/>
          <p:cNvSpPr/>
          <p:nvPr/>
        </p:nvSpPr>
        <p:spPr>
          <a:xfrm>
            <a:off x="3731270" y="2673390"/>
            <a:ext cx="585662" cy="152400"/>
          </a:xfrm>
          <a:prstGeom prst="rect">
            <a:avLst/>
          </a:prstGeom>
          <a:noFill/>
          <a:ln/>
        </p:spPr>
        <p:txBody>
          <a:bodyPr wrap="square" lIns="0" tIns="0" rIns="0" bIns="0" rtlCol="0" anchor="t"/>
          <a:lstStyle/>
          <a:p>
            <a:pPr marL="0" indent="0" algn="l">
              <a:buNone/>
            </a:pPr>
            <a:r>
              <a:rPr lang="en-US" sz="1100" b="1" dirty="0">
                <a:solidFill>
                  <a:srgbClr val="C98F1D"/>
                </a:solidFill>
                <a:latin typeface="Arial" pitchFamily="34" charset="0"/>
                <a:ea typeface="Arial" pitchFamily="34" charset="-122"/>
                <a:cs typeface="Arial" pitchFamily="34" charset="-120"/>
              </a:rPr>
              <a:t>$20,000</a:t>
            </a:r>
            <a:endParaRPr lang="en-US" sz="1100" dirty="0"/>
          </a:p>
        </p:txBody>
      </p:sp>
      <p:sp>
        <p:nvSpPr>
          <p:cNvPr id="15" name="Text 13"/>
          <p:cNvSpPr/>
          <p:nvPr/>
        </p:nvSpPr>
        <p:spPr>
          <a:xfrm>
            <a:off x="507950" y="2928015"/>
            <a:ext cx="3975199" cy="1364903"/>
          </a:xfrm>
          <a:prstGeom prst="roundRect">
            <a:avLst>
              <a:gd name="adj" fmla="val 7444"/>
            </a:avLst>
          </a:prstGeom>
          <a:solidFill>
            <a:srgbClr val="FFFFFF"/>
          </a:solidFill>
          <a:ln/>
        </p:spPr>
        <p:txBody>
          <a:bodyPr wrap="square" rtlCol="0" anchor="ctr"/>
          <a:lstStyle/>
          <a:p>
            <a:pPr marL="0" indent="0">
              <a:buNone/>
            </a:pPr>
            <a:endParaRPr lang="en-US" dirty="0"/>
          </a:p>
        </p:txBody>
      </p:sp>
      <p:sp>
        <p:nvSpPr>
          <p:cNvPr id="16" name="Text 14"/>
          <p:cNvSpPr/>
          <p:nvPr/>
        </p:nvSpPr>
        <p:spPr>
          <a:xfrm>
            <a:off x="685651" y="3474416"/>
            <a:ext cx="3692194" cy="171450"/>
          </a:xfrm>
          <a:prstGeom prst="rect">
            <a:avLst/>
          </a:prstGeom>
          <a:noFill/>
          <a:ln/>
        </p:spPr>
        <p:txBody>
          <a:bodyPr wrap="square" lIns="0" tIns="0" rIns="0" bIns="0" rtlCol="0" anchor="t"/>
          <a:lstStyle/>
          <a:p>
            <a:pPr marL="0" indent="0" algn="l">
              <a:spcAft>
                <a:spcPts val="600"/>
              </a:spcAft>
              <a:buNone/>
            </a:pPr>
            <a:r>
              <a:rPr lang="en-US" sz="1200" b="1" dirty="0">
                <a:solidFill>
                  <a:srgbClr val="5A9171"/>
                </a:solidFill>
                <a:latin typeface="Arial" pitchFamily="34" charset="0"/>
                <a:ea typeface="Arial" pitchFamily="34" charset="-122"/>
                <a:cs typeface="Arial" pitchFamily="34" charset="-120"/>
              </a:rPr>
              <a:t>What This Buys</a:t>
            </a:r>
            <a:endParaRPr lang="en-US" sz="1200" dirty="0"/>
          </a:p>
        </p:txBody>
      </p:sp>
      <p:sp>
        <p:nvSpPr>
          <p:cNvPr id="17" name="Text 15"/>
          <p:cNvSpPr/>
          <p:nvPr/>
        </p:nvSpPr>
        <p:spPr>
          <a:xfrm>
            <a:off x="685651" y="3722066"/>
            <a:ext cx="2150000"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Recruit 5-10 trusted pilot users</a:t>
            </a:r>
            <a:endParaRPr lang="en-US" sz="1100" dirty="0"/>
          </a:p>
        </p:txBody>
      </p:sp>
      <p:sp>
        <p:nvSpPr>
          <p:cNvPr id="18" name="Text 16"/>
          <p:cNvSpPr/>
          <p:nvPr/>
        </p:nvSpPr>
        <p:spPr>
          <a:xfrm>
            <a:off x="3956000" y="3722066"/>
            <a:ext cx="400000" cy="152400"/>
          </a:xfrm>
          <a:prstGeom prst="rect">
            <a:avLst/>
          </a:prstGeom>
          <a:noFill/>
          <a:ln/>
        </p:spPr>
        <p:txBody>
          <a:bodyPr wrap="square" lIns="0" tIns="0" rIns="0" bIns="0" rtlCol="0" anchor="t"/>
          <a:lstStyle/>
          <a:p>
            <a:pPr marL="0" indent="0" algn="l">
              <a:buNone/>
            </a:pPr>
            <a:r>
              <a:rPr lang="en-US" sz="1100" dirty="0">
                <a:solidFill>
                  <a:srgbClr val="2D2D2D"/>
                </a:solidFill>
                <a:latin typeface="Arial" pitchFamily="34" charset="0"/>
                <a:ea typeface="Arial" pitchFamily="34" charset="-122"/>
                <a:cs typeface="Arial" pitchFamily="34" charset="-120"/>
              </a:rPr>
              <a:t>Users</a:t>
            </a:r>
            <a:endParaRPr lang="en-US" sz="1100" dirty="0"/>
          </a:p>
        </p:txBody>
      </p:sp>
      <p:sp>
        <p:nvSpPr>
          <p:cNvPr id="19" name="Text 17"/>
          <p:cNvSpPr/>
          <p:nvPr/>
        </p:nvSpPr>
        <p:spPr>
          <a:xfrm>
            <a:off x="685651" y="3925216"/>
            <a:ext cx="2280000"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Integrate Plaid for live bank data</a:t>
            </a:r>
            <a:endParaRPr lang="en-US" sz="1100" dirty="0"/>
          </a:p>
        </p:txBody>
      </p:sp>
      <p:sp>
        <p:nvSpPr>
          <p:cNvPr id="20" name="Text 18"/>
          <p:cNvSpPr/>
          <p:nvPr/>
        </p:nvSpPr>
        <p:spPr>
          <a:xfrm>
            <a:off x="3956000" y="3925216"/>
            <a:ext cx="350000" cy="152400"/>
          </a:xfrm>
          <a:prstGeom prst="rect">
            <a:avLst/>
          </a:prstGeom>
          <a:noFill/>
          <a:ln/>
        </p:spPr>
        <p:txBody>
          <a:bodyPr wrap="square" lIns="0" tIns="0" rIns="0" bIns="0" rtlCol="0" anchor="t"/>
          <a:lstStyle/>
          <a:p>
            <a:pPr marL="0" indent="0" algn="l">
              <a:buNone/>
            </a:pPr>
            <a:r>
              <a:rPr lang="en-US" sz="1100" dirty="0">
                <a:solidFill>
                  <a:srgbClr val="2D2D2D"/>
                </a:solidFill>
                <a:latin typeface="Arial" pitchFamily="34" charset="0"/>
                <a:ea typeface="Arial" pitchFamily="34" charset="-122"/>
                <a:cs typeface="Arial" pitchFamily="34" charset="-120"/>
              </a:rPr>
              <a:t>Live</a:t>
            </a:r>
            <a:endParaRPr lang="en-US" sz="1100" dirty="0"/>
          </a:p>
        </p:txBody>
      </p:sp>
      <p:sp>
        <p:nvSpPr>
          <p:cNvPr id="21" name="Text 19"/>
          <p:cNvSpPr/>
          <p:nvPr/>
        </p:nvSpPr>
        <p:spPr>
          <a:xfrm>
            <a:off x="685651" y="4128367"/>
            <a:ext cx="2220000"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Validate: nudge changes spending?</a:t>
            </a:r>
            <a:endParaRPr lang="en-US" sz="1100" dirty="0"/>
          </a:p>
        </p:txBody>
      </p:sp>
      <p:sp>
        <p:nvSpPr>
          <p:cNvPr id="22" name="Text 20"/>
          <p:cNvSpPr/>
          <p:nvPr/>
        </p:nvSpPr>
        <p:spPr>
          <a:xfrm>
            <a:off x="3956000" y="4128367"/>
            <a:ext cx="450000" cy="152400"/>
          </a:xfrm>
          <a:prstGeom prst="rect">
            <a:avLst/>
          </a:prstGeom>
          <a:noFill/>
          <a:ln/>
        </p:spPr>
        <p:txBody>
          <a:bodyPr wrap="square" lIns="0" tIns="0" rIns="0" bIns="0" rtlCol="0" anchor="t"/>
          <a:lstStyle/>
          <a:p>
            <a:pPr marL="0" indent="0" algn="l">
              <a:buNone/>
            </a:pPr>
            <a:r>
              <a:rPr lang="en-US" sz="1100" dirty="0">
                <a:solidFill>
                  <a:srgbClr val="2D2D2D"/>
                </a:solidFill>
                <a:latin typeface="Arial" pitchFamily="34" charset="0"/>
                <a:ea typeface="Arial" pitchFamily="34" charset="-122"/>
                <a:cs typeface="Arial" pitchFamily="34" charset="-120"/>
              </a:rPr>
              <a:t>Signal</a:t>
            </a:r>
            <a:endParaRPr lang="en-US" sz="1100" dirty="0"/>
          </a:p>
        </p:txBody>
      </p:sp>
      <p:sp>
        <p:nvSpPr>
          <p:cNvPr id="23" name="Text 21"/>
          <p:cNvSpPr/>
          <p:nvPr/>
        </p:nvSpPr>
        <p:spPr>
          <a:xfrm>
            <a:off x="685651" y="4449501"/>
            <a:ext cx="2670000" cy="152400"/>
          </a:xfrm>
          <a:prstGeom prst="rect">
            <a:avLst/>
          </a:prstGeom>
          <a:noFill/>
          <a:ln/>
        </p:spPr>
        <p:txBody>
          <a:bodyPr wrap="square" lIns="0" tIns="0" rIns="0" bIns="0" rtlCol="0" anchor="t"/>
          <a:lstStyle/>
          <a:p>
            <a:pPr marL="0" indent="0" algn="l">
              <a:buNone/>
            </a:pPr>
            <a:r>
              <a:rPr lang="en-US" sz="1100" dirty="0">
                <a:solidFill>
                  <a:srgbClr val="87B89D"/>
                </a:solidFill>
                <a:latin typeface="Arial" pitchFamily="34" charset="0"/>
                <a:ea typeface="Arial" pitchFamily="34" charset="-122"/>
                <a:cs typeface="Arial" pitchFamily="34" charset="-120"/>
              </a:rPr>
              <a:t>Result becomes the case for a seed round</a:t>
            </a:r>
            <a:endParaRPr lang="en-US" sz="1100" dirty="0"/>
          </a:p>
        </p:txBody>
      </p:sp>
      <p:sp>
        <p:nvSpPr>
          <p:cNvPr id="24" name="Text 22"/>
          <p:cNvSpPr/>
          <p:nvPr/>
        </p:nvSpPr>
        <p:spPr>
          <a:xfrm>
            <a:off x="3956000" y="4331517"/>
            <a:ext cx="400000" cy="152400"/>
          </a:xfrm>
          <a:prstGeom prst="rect">
            <a:avLst/>
          </a:prstGeom>
          <a:noFill/>
          <a:ln/>
        </p:spPr>
        <p:txBody>
          <a:bodyPr wrap="square" lIns="0" tIns="0" rIns="0" bIns="0" rtlCol="0" anchor="t"/>
          <a:lstStyle/>
          <a:p>
            <a:pPr marL="0" indent="0" algn="l">
              <a:buNone/>
            </a:pPr>
            <a:r>
              <a:rPr lang="en-US" sz="1100" dirty="0">
                <a:solidFill>
                  <a:srgbClr val="2D2D2D"/>
                </a:solidFill>
                <a:latin typeface="Arial" pitchFamily="34" charset="0"/>
                <a:ea typeface="Arial" pitchFamily="34" charset="-122"/>
                <a:cs typeface="Arial" pitchFamily="34" charset="-120"/>
              </a:rPr>
              <a:t>Story</a:t>
            </a:r>
            <a:endParaRPr lang="en-US" sz="1100" dirty="0"/>
          </a:p>
        </p:txBody>
      </p:sp>
      <p:sp>
        <p:nvSpPr>
          <p:cNvPr id="25" name="Text 23"/>
          <p:cNvSpPr/>
          <p:nvPr/>
        </p:nvSpPr>
        <p:spPr>
          <a:xfrm>
            <a:off x="4660850" y="1401336"/>
            <a:ext cx="3975199" cy="1336328"/>
          </a:xfrm>
          <a:prstGeom prst="roundRect">
            <a:avLst>
              <a:gd name="adj" fmla="val 7603"/>
            </a:avLst>
          </a:prstGeom>
          <a:solidFill>
            <a:srgbClr val="FFFFFF"/>
          </a:solidFill>
          <a:ln/>
        </p:spPr>
        <p:txBody>
          <a:bodyPr wrap="square" rtlCol="0" anchor="ctr"/>
          <a:lstStyle/>
          <a:p>
            <a:pPr marL="0" indent="0">
              <a:buNone/>
            </a:pPr>
            <a:endParaRPr lang="en-US" dirty="0"/>
          </a:p>
        </p:txBody>
      </p:sp>
      <p:sp>
        <p:nvSpPr>
          <p:cNvPr id="26" name="Text 24"/>
          <p:cNvSpPr/>
          <p:nvPr/>
        </p:nvSpPr>
        <p:spPr>
          <a:xfrm>
            <a:off x="4838551" y="1756013"/>
            <a:ext cx="3692194" cy="171450"/>
          </a:xfrm>
          <a:prstGeom prst="rect">
            <a:avLst/>
          </a:prstGeom>
          <a:noFill/>
          <a:ln/>
        </p:spPr>
        <p:txBody>
          <a:bodyPr wrap="square" lIns="0" tIns="0" rIns="0" bIns="0" rtlCol="0" anchor="t"/>
          <a:lstStyle/>
          <a:p>
            <a:pPr marL="0" indent="0" algn="l">
              <a:spcAft>
                <a:spcPts val="600"/>
              </a:spcAft>
              <a:buNone/>
            </a:pPr>
            <a:r>
              <a:rPr lang="en-US" sz="1200" b="1" dirty="0">
                <a:solidFill>
                  <a:srgbClr val="5A9171"/>
                </a:solidFill>
                <a:latin typeface="Arial" pitchFamily="34" charset="0"/>
                <a:ea typeface="Arial" pitchFamily="34" charset="-122"/>
                <a:cs typeface="Arial" pitchFamily="34" charset="-120"/>
              </a:rPr>
              <a:t>3-Month Runway</a:t>
            </a:r>
            <a:endParaRPr lang="en-US" sz="1200" dirty="0"/>
          </a:p>
        </p:txBody>
      </p:sp>
      <p:sp>
        <p:nvSpPr>
          <p:cNvPr id="27" name="Text 25"/>
          <p:cNvSpPr/>
          <p:nvPr/>
        </p:nvSpPr>
        <p:spPr>
          <a:xfrm>
            <a:off x="4838551" y="2003663"/>
            <a:ext cx="1138833" cy="733276"/>
          </a:xfrm>
          <a:prstGeom prst="roundRect">
            <a:avLst>
              <a:gd name="adj" fmla="val 6928"/>
            </a:avLst>
          </a:prstGeom>
          <a:solidFill>
            <a:srgbClr val="F2F7F4"/>
          </a:solidFill>
          <a:ln/>
        </p:spPr>
        <p:txBody>
          <a:bodyPr wrap="square" rtlCol="0" anchor="ctr"/>
          <a:lstStyle/>
          <a:p>
            <a:pPr marL="0" indent="0">
              <a:buNone/>
            </a:pPr>
            <a:endParaRPr lang="en-US" dirty="0"/>
          </a:p>
        </p:txBody>
      </p:sp>
      <p:sp>
        <p:nvSpPr>
          <p:cNvPr id="28" name="Text 26"/>
          <p:cNvSpPr/>
          <p:nvPr/>
        </p:nvSpPr>
        <p:spPr>
          <a:xfrm>
            <a:off x="4956652" y="2130613"/>
            <a:ext cx="902631" cy="142875"/>
          </a:xfrm>
          <a:prstGeom prst="rect">
            <a:avLst/>
          </a:prstGeom>
          <a:noFill/>
          <a:ln/>
        </p:spPr>
        <p:txBody>
          <a:bodyPr wrap="square" lIns="0" tIns="0" rIns="0" bIns="0" rtlCol="0" anchor="t"/>
          <a:lstStyle/>
          <a:p>
            <a:pPr marL="0" indent="0" algn="ctr">
              <a:spcAft>
                <a:spcPts val="400"/>
              </a:spcAft>
              <a:buNone/>
            </a:pPr>
            <a:r>
              <a:rPr lang="en-US" sz="1000" dirty="0">
                <a:solidFill>
                  <a:srgbClr val="87B89D"/>
                </a:solidFill>
                <a:latin typeface="Arial" pitchFamily="34" charset="0"/>
                <a:ea typeface="Arial" pitchFamily="34" charset="-122"/>
                <a:cs typeface="Arial" pitchFamily="34" charset="-120"/>
              </a:rPr>
              <a:t>NOW</a:t>
            </a:r>
            <a:endParaRPr lang="en-US" sz="1000" dirty="0"/>
          </a:p>
        </p:txBody>
      </p:sp>
      <p:sp>
        <p:nvSpPr>
          <p:cNvPr id="29" name="Text 27"/>
          <p:cNvSpPr/>
          <p:nvPr/>
        </p:nvSpPr>
        <p:spPr>
          <a:xfrm>
            <a:off x="4956652" y="2324239"/>
            <a:ext cx="902631" cy="152400"/>
          </a:xfrm>
          <a:prstGeom prst="rect">
            <a:avLst/>
          </a:prstGeom>
          <a:noFill/>
          <a:ln/>
        </p:spPr>
        <p:txBody>
          <a:bodyPr wrap="square" lIns="0" tIns="0" rIns="0" bIns="0" rtlCol="0" anchor="t"/>
          <a:lstStyle/>
          <a:p>
            <a:pPr marL="0" indent="0" algn="ctr">
              <a:buNone/>
            </a:pPr>
            <a:r>
              <a:rPr lang="en-US" sz="1100" b="1" dirty="0">
                <a:solidFill>
                  <a:srgbClr val="2D2D2D"/>
                </a:solidFill>
                <a:latin typeface="Arial" pitchFamily="34" charset="0"/>
                <a:ea typeface="Arial" pitchFamily="34" charset="-122"/>
                <a:cs typeface="Arial" pitchFamily="34" charset="-120"/>
              </a:rPr>
              <a:t>Wks 11-12</a:t>
            </a:r>
            <a:endParaRPr lang="en-US" sz="1100" dirty="0"/>
          </a:p>
        </p:txBody>
      </p:sp>
      <p:sp>
        <p:nvSpPr>
          <p:cNvPr id="30" name="Text 28"/>
          <p:cNvSpPr/>
          <p:nvPr/>
        </p:nvSpPr>
        <p:spPr>
          <a:xfrm>
            <a:off x="4956652" y="2476639"/>
            <a:ext cx="902631" cy="133350"/>
          </a:xfrm>
          <a:prstGeom prst="rect">
            <a:avLst/>
          </a:prstGeom>
          <a:noFill/>
          <a:ln/>
        </p:spPr>
        <p:txBody>
          <a:bodyPr wrap="square" lIns="0" tIns="0" rIns="0" bIns="0" rtlCol="0" anchor="t"/>
          <a:lstStyle/>
          <a:p>
            <a:pPr marL="0" indent="0" algn="ctr">
              <a:buNone/>
            </a:pPr>
            <a:r>
              <a:rPr lang="en-US" sz="900" dirty="0">
                <a:solidFill>
                  <a:srgbClr val="87B89D"/>
                </a:solidFill>
                <a:latin typeface="Arial" pitchFamily="34" charset="0"/>
                <a:ea typeface="Arial" pitchFamily="34" charset="-122"/>
                <a:cs typeface="Arial" pitchFamily="34" charset="-120"/>
              </a:rPr>
              <a:t>Build + recruit</a:t>
            </a:r>
            <a:endParaRPr lang="en-US" sz="900" dirty="0"/>
          </a:p>
        </p:txBody>
      </p:sp>
      <p:sp>
        <p:nvSpPr>
          <p:cNvPr id="31" name="Text 29"/>
          <p:cNvSpPr/>
          <p:nvPr/>
        </p:nvSpPr>
        <p:spPr>
          <a:xfrm>
            <a:off x="6078885" y="2003663"/>
            <a:ext cx="1138982" cy="733276"/>
          </a:xfrm>
          <a:prstGeom prst="roundRect">
            <a:avLst>
              <a:gd name="adj" fmla="val 6928"/>
            </a:avLst>
          </a:prstGeom>
          <a:solidFill>
            <a:srgbClr val="F2F7F4"/>
          </a:solidFill>
          <a:ln/>
        </p:spPr>
        <p:txBody>
          <a:bodyPr wrap="square" rtlCol="0" anchor="ctr"/>
          <a:lstStyle/>
          <a:p>
            <a:pPr marL="0" indent="0">
              <a:buNone/>
            </a:pPr>
            <a:endParaRPr lang="en-US" dirty="0"/>
          </a:p>
        </p:txBody>
      </p:sp>
      <p:sp>
        <p:nvSpPr>
          <p:cNvPr id="32" name="Text 30"/>
          <p:cNvSpPr/>
          <p:nvPr/>
        </p:nvSpPr>
        <p:spPr>
          <a:xfrm>
            <a:off x="6196984" y="2130613"/>
            <a:ext cx="902782" cy="142875"/>
          </a:xfrm>
          <a:prstGeom prst="rect">
            <a:avLst/>
          </a:prstGeom>
          <a:noFill/>
          <a:ln/>
        </p:spPr>
        <p:txBody>
          <a:bodyPr wrap="square" lIns="0" tIns="0" rIns="0" bIns="0" rtlCol="0" anchor="t"/>
          <a:lstStyle/>
          <a:p>
            <a:pPr marL="0" indent="0" algn="ctr">
              <a:spcAft>
                <a:spcPts val="400"/>
              </a:spcAft>
              <a:buNone/>
            </a:pPr>
            <a:r>
              <a:rPr lang="en-US" sz="1000" dirty="0">
                <a:solidFill>
                  <a:srgbClr val="87B89D"/>
                </a:solidFill>
                <a:latin typeface="Arial" pitchFamily="34" charset="0"/>
                <a:ea typeface="Arial" pitchFamily="34" charset="-122"/>
                <a:cs typeface="Arial" pitchFamily="34" charset="-120"/>
              </a:rPr>
              <a:t>NEXT</a:t>
            </a:r>
            <a:endParaRPr lang="en-US" sz="1000" dirty="0"/>
          </a:p>
        </p:txBody>
      </p:sp>
      <p:sp>
        <p:nvSpPr>
          <p:cNvPr id="33" name="Text 31"/>
          <p:cNvSpPr/>
          <p:nvPr/>
        </p:nvSpPr>
        <p:spPr>
          <a:xfrm>
            <a:off x="6196984" y="2324239"/>
            <a:ext cx="902782" cy="152400"/>
          </a:xfrm>
          <a:prstGeom prst="rect">
            <a:avLst/>
          </a:prstGeom>
          <a:noFill/>
          <a:ln/>
        </p:spPr>
        <p:txBody>
          <a:bodyPr wrap="square" lIns="0" tIns="0" rIns="0" bIns="0" rtlCol="0" anchor="t"/>
          <a:lstStyle/>
          <a:p>
            <a:pPr marL="0" indent="0" algn="ctr">
              <a:buNone/>
            </a:pPr>
            <a:r>
              <a:rPr lang="en-US" sz="1100" b="1" dirty="0">
                <a:solidFill>
                  <a:srgbClr val="2D2D2D"/>
                </a:solidFill>
                <a:latin typeface="Arial" pitchFamily="34" charset="0"/>
                <a:ea typeface="Arial" pitchFamily="34" charset="-122"/>
                <a:cs typeface="Arial" pitchFamily="34" charset="-120"/>
              </a:rPr>
              <a:t>Months 2-3</a:t>
            </a:r>
            <a:endParaRPr lang="en-US" sz="1100" dirty="0"/>
          </a:p>
        </p:txBody>
      </p:sp>
      <p:sp>
        <p:nvSpPr>
          <p:cNvPr id="34" name="Text 32"/>
          <p:cNvSpPr/>
          <p:nvPr/>
        </p:nvSpPr>
        <p:spPr>
          <a:xfrm>
            <a:off x="6196984" y="2476639"/>
            <a:ext cx="902782" cy="133350"/>
          </a:xfrm>
          <a:prstGeom prst="rect">
            <a:avLst/>
          </a:prstGeom>
          <a:noFill/>
          <a:ln/>
        </p:spPr>
        <p:txBody>
          <a:bodyPr wrap="square" lIns="0" tIns="0" rIns="0" bIns="0" rtlCol="0" anchor="t"/>
          <a:lstStyle/>
          <a:p>
            <a:pPr marL="0" indent="0" algn="ctr">
              <a:buNone/>
            </a:pPr>
            <a:r>
              <a:rPr lang="en-US" sz="900" dirty="0">
                <a:solidFill>
                  <a:srgbClr val="87B89D"/>
                </a:solidFill>
                <a:latin typeface="Arial" pitchFamily="34" charset="0"/>
                <a:ea typeface="Arial" pitchFamily="34" charset="-122"/>
                <a:cs typeface="Arial" pitchFamily="34" charset="-120"/>
              </a:rPr>
              <a:t>Pilot + Plaid live</a:t>
            </a:r>
            <a:endParaRPr lang="en-US" sz="900" dirty="0"/>
          </a:p>
        </p:txBody>
      </p:sp>
      <p:sp>
        <p:nvSpPr>
          <p:cNvPr id="35" name="Text 33"/>
          <p:cNvSpPr/>
          <p:nvPr/>
        </p:nvSpPr>
        <p:spPr>
          <a:xfrm>
            <a:off x="7319367" y="2003663"/>
            <a:ext cx="1138982" cy="733276"/>
          </a:xfrm>
          <a:prstGeom prst="roundRect">
            <a:avLst>
              <a:gd name="adj" fmla="val 6928"/>
            </a:avLst>
          </a:prstGeom>
          <a:solidFill>
            <a:srgbClr val="F2F7F4"/>
          </a:solidFill>
          <a:ln/>
        </p:spPr>
        <p:txBody>
          <a:bodyPr wrap="square" rtlCol="0" anchor="ctr"/>
          <a:lstStyle/>
          <a:p>
            <a:pPr marL="0" indent="0">
              <a:buNone/>
            </a:pPr>
            <a:endParaRPr lang="en-US" dirty="0"/>
          </a:p>
        </p:txBody>
      </p:sp>
      <p:sp>
        <p:nvSpPr>
          <p:cNvPr id="36" name="Text 34"/>
          <p:cNvSpPr/>
          <p:nvPr/>
        </p:nvSpPr>
        <p:spPr>
          <a:xfrm>
            <a:off x="7437467" y="2130613"/>
            <a:ext cx="902782" cy="142875"/>
          </a:xfrm>
          <a:prstGeom prst="rect">
            <a:avLst/>
          </a:prstGeom>
          <a:noFill/>
          <a:ln/>
        </p:spPr>
        <p:txBody>
          <a:bodyPr wrap="square" lIns="0" tIns="0" rIns="0" bIns="0" rtlCol="0" anchor="t"/>
          <a:lstStyle/>
          <a:p>
            <a:pPr marL="0" indent="0" algn="ctr">
              <a:spcAft>
                <a:spcPts val="400"/>
              </a:spcAft>
              <a:buNone/>
            </a:pPr>
            <a:r>
              <a:rPr lang="en-US" sz="1000" dirty="0">
                <a:solidFill>
                  <a:srgbClr val="87B89D"/>
                </a:solidFill>
                <a:latin typeface="Arial" pitchFamily="34" charset="0"/>
                <a:ea typeface="Arial" pitchFamily="34" charset="-122"/>
                <a:cs typeface="Arial" pitchFamily="34" charset="-120"/>
              </a:rPr>
              <a:t>THEN</a:t>
            </a:r>
            <a:endParaRPr lang="en-US" sz="1000" dirty="0"/>
          </a:p>
        </p:txBody>
      </p:sp>
      <p:sp>
        <p:nvSpPr>
          <p:cNvPr id="37" name="Text 35"/>
          <p:cNvSpPr/>
          <p:nvPr/>
        </p:nvSpPr>
        <p:spPr>
          <a:xfrm>
            <a:off x="7437467" y="2324239"/>
            <a:ext cx="902782" cy="152400"/>
          </a:xfrm>
          <a:prstGeom prst="rect">
            <a:avLst/>
          </a:prstGeom>
          <a:noFill/>
          <a:ln/>
        </p:spPr>
        <p:txBody>
          <a:bodyPr wrap="square" lIns="0" tIns="0" rIns="0" bIns="0" rtlCol="0" anchor="t"/>
          <a:lstStyle/>
          <a:p>
            <a:pPr marL="0" indent="0" algn="ctr">
              <a:buNone/>
            </a:pPr>
            <a:r>
              <a:rPr lang="en-US" sz="1100" b="1" dirty="0">
                <a:solidFill>
                  <a:srgbClr val="2D2D2D"/>
                </a:solidFill>
                <a:latin typeface="Arial" pitchFamily="34" charset="0"/>
                <a:ea typeface="Arial" pitchFamily="34" charset="-122"/>
                <a:cs typeface="Arial" pitchFamily="34" charset="-120"/>
              </a:rPr>
              <a:t>Month 4+</a:t>
            </a:r>
            <a:endParaRPr lang="en-US" sz="1100" dirty="0"/>
          </a:p>
        </p:txBody>
      </p:sp>
      <p:sp>
        <p:nvSpPr>
          <p:cNvPr id="38" name="Text 36"/>
          <p:cNvSpPr/>
          <p:nvPr/>
        </p:nvSpPr>
        <p:spPr>
          <a:xfrm>
            <a:off x="7437467" y="2476639"/>
            <a:ext cx="902782" cy="133350"/>
          </a:xfrm>
          <a:prstGeom prst="rect">
            <a:avLst/>
          </a:prstGeom>
          <a:noFill/>
          <a:ln/>
        </p:spPr>
        <p:txBody>
          <a:bodyPr wrap="square" lIns="0" tIns="0" rIns="0" bIns="0" rtlCol="0" anchor="t"/>
          <a:lstStyle/>
          <a:p>
            <a:pPr marL="0" indent="0" algn="ctr">
              <a:buNone/>
            </a:pPr>
            <a:r>
              <a:rPr lang="en-US" sz="900" dirty="0">
                <a:solidFill>
                  <a:srgbClr val="87B89D"/>
                </a:solidFill>
                <a:latin typeface="Arial" pitchFamily="34" charset="0"/>
                <a:ea typeface="Arial" pitchFamily="34" charset="-122"/>
                <a:cs typeface="Arial" pitchFamily="34" charset="-120"/>
              </a:rPr>
              <a:t>Raise seed round</a:t>
            </a:r>
            <a:endParaRPr lang="en-US" sz="900" dirty="0"/>
          </a:p>
        </p:txBody>
      </p:sp>
      <p:sp>
        <p:nvSpPr>
          <p:cNvPr id="39" name="Text 37"/>
          <p:cNvSpPr/>
          <p:nvPr/>
        </p:nvSpPr>
        <p:spPr>
          <a:xfrm>
            <a:off x="4660850" y="2839165"/>
            <a:ext cx="3975199" cy="1535757"/>
          </a:xfrm>
          <a:prstGeom prst="roundRect">
            <a:avLst>
              <a:gd name="adj" fmla="val 6616"/>
            </a:avLst>
          </a:prstGeom>
          <a:solidFill>
            <a:srgbClr val="FFFFFF"/>
          </a:solidFill>
          <a:ln/>
        </p:spPr>
        <p:txBody>
          <a:bodyPr wrap="square" rtlCol="0" anchor="ctr"/>
          <a:lstStyle/>
          <a:p>
            <a:pPr marL="0" indent="0">
              <a:buNone/>
            </a:pPr>
            <a:endParaRPr lang="en-US" dirty="0"/>
          </a:p>
        </p:txBody>
      </p:sp>
      <p:sp>
        <p:nvSpPr>
          <p:cNvPr id="40" name="Text 38"/>
          <p:cNvSpPr/>
          <p:nvPr/>
        </p:nvSpPr>
        <p:spPr>
          <a:xfrm>
            <a:off x="4838551" y="3385566"/>
            <a:ext cx="3692194" cy="171450"/>
          </a:xfrm>
          <a:prstGeom prst="rect">
            <a:avLst/>
          </a:prstGeom>
          <a:noFill/>
          <a:ln/>
        </p:spPr>
        <p:txBody>
          <a:bodyPr wrap="square" lIns="0" tIns="0" rIns="0" bIns="0" rtlCol="0" anchor="t"/>
          <a:lstStyle/>
          <a:p>
            <a:pPr marL="0" indent="0" algn="l">
              <a:spcAft>
                <a:spcPts val="400"/>
              </a:spcAft>
              <a:buNone/>
            </a:pPr>
            <a:r>
              <a:rPr lang="en-US" sz="1200" b="1" dirty="0">
                <a:solidFill>
                  <a:srgbClr val="5A9171"/>
                </a:solidFill>
                <a:latin typeface="Arial" pitchFamily="34" charset="0"/>
                <a:ea typeface="Arial" pitchFamily="34" charset="-122"/>
                <a:cs typeface="Arial" pitchFamily="34" charset="-120"/>
              </a:rPr>
              <a:t>The Story</a:t>
            </a:r>
            <a:endParaRPr lang="en-US" sz="1200" dirty="0"/>
          </a:p>
        </p:txBody>
      </p:sp>
      <p:sp>
        <p:nvSpPr>
          <p:cNvPr id="41" name="Text 39"/>
          <p:cNvSpPr/>
          <p:nvPr/>
        </p:nvSpPr>
        <p:spPr>
          <a:xfrm>
            <a:off x="4838551" y="3607766"/>
            <a:ext cx="3692194" cy="371475"/>
          </a:xfrm>
          <a:prstGeom prst="rect">
            <a:avLst/>
          </a:prstGeom>
          <a:noFill/>
          <a:ln/>
        </p:spPr>
        <p:txBody>
          <a:bodyPr wrap="square" lIns="0" tIns="0" rIns="0" bIns="0" rtlCol="0" anchor="t"/>
          <a:lstStyle/>
          <a:p>
            <a:pPr marL="0" indent="0" algn="l">
              <a:buNone/>
            </a:pPr>
            <a:r>
              <a:rPr lang="en-US" sz="2600" b="1" dirty="0">
                <a:solidFill>
                  <a:srgbClr val="2D2D2D"/>
                </a:solidFill>
                <a:latin typeface="Arial" pitchFamily="34" charset="0"/>
                <a:ea typeface="Arial" pitchFamily="34" charset="-122"/>
                <a:cs typeface="Arial" pitchFamily="34" charset="-120"/>
              </a:rPr>
              <a:t>3 mo</a:t>
            </a:r>
            <a:endParaRPr lang="en-US" sz="2600" dirty="0"/>
          </a:p>
        </p:txBody>
      </p:sp>
      <p:sp>
        <p:nvSpPr>
          <p:cNvPr id="42" name="Text 40"/>
          <p:cNvSpPr/>
          <p:nvPr/>
        </p:nvSpPr>
        <p:spPr>
          <a:xfrm>
            <a:off x="4838551" y="3979241"/>
            <a:ext cx="3692194" cy="586680"/>
          </a:xfrm>
          <a:prstGeom prst="rect">
            <a:avLst/>
          </a:prstGeom>
          <a:noFill/>
          <a:ln/>
        </p:spPr>
        <p:txBody>
          <a:bodyPr wrap="square" lIns="0" tIns="0" rIns="0" bIns="0" rtlCol="0" anchor="t"/>
          <a:lstStyle/>
          <a:p>
            <a:pPr marL="0" indent="0" algn="l">
              <a:lnSpc>
                <a:spcPts val="1540"/>
              </a:lnSpc>
              <a:buNone/>
            </a:pPr>
            <a:r>
              <a:rPr lang="en-US" sz="1100" dirty="0">
                <a:solidFill>
                  <a:srgbClr val="87B89D"/>
                </a:solidFill>
                <a:latin typeface="Arial" pitchFamily="34" charset="0"/>
                <a:ea typeface="Arial" pitchFamily="34" charset="-122"/>
                <a:cs typeface="Arial" pitchFamily="34" charset="-120"/>
              </a:rPr>
              <a:t>to validate the core loop with real pilot users and get Plaid live, then raise a seed round to fund public launch.</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7F4"/>
        </a:solidFill>
        <a:effectLst/>
      </p:bgPr>
    </p:bg>
    <p:spTree>
      <p:nvGrpSpPr>
        <p:cNvPr id="1" name=""/>
        <p:cNvGrpSpPr/>
        <p:nvPr/>
      </p:nvGrpSpPr>
      <p:grpSpPr>
        <a:xfrm>
          <a:off x="0" y="0"/>
          <a:ext cx="0" cy="0"/>
          <a:chOff x="0" y="0"/>
          <a:chExt cx="0" cy="0"/>
        </a:xfrm>
      </p:grpSpPr>
      <p:sp>
        <p:nvSpPr>
          <p:cNvPr id="2" name="TextBox 1"/>
          <p:cNvSpPr txBox="1"/>
          <p:nvPr/>
        </p:nvSpPr>
        <p:spPr>
          <a:xfrm>
            <a:off x="0" y="365760"/>
            <a:ext cx="9144000" cy="365760"/>
          </a:xfrm>
          <a:prstGeom prst="rect">
            <a:avLst/>
          </a:prstGeom>
          <a:noFill/>
        </p:spPr>
        <p:txBody>
          <a:bodyPr wrap="square">
            <a:spAutoFit/>
          </a:bodyPr>
          <a:lstStyle/>
          <a:p>
            <a:pPr algn="ctr"/>
            <a:r>
              <a:rPr sz="2800" b="1">
                <a:solidFill>
                  <a:srgbClr val="5A9171"/>
                </a:solidFill>
                <a:latin typeface="Arial"/>
              </a:rPr>
              <a:t>MONEY IN PLAIN ENGLISH</a:t>
            </a:r>
          </a:p>
        </p:txBody>
      </p:sp>
      <p:pic>
        <p:nvPicPr>
          <p:cNvPr id="3" name="Picture 2" descr="image.png"/>
          <p:cNvPicPr>
            <a:picLocks noChangeAspect="1"/>
          </p:cNvPicPr>
          <p:nvPr/>
        </p:nvPicPr>
        <p:blipFill>
          <a:blip r:embed="rId2"/>
          <a:stretch>
            <a:fillRect/>
          </a:stretch>
        </p:blipFill>
        <p:spPr>
          <a:xfrm>
            <a:off x="3536195" y="960120"/>
            <a:ext cx="2071610" cy="2300000"/>
          </a:xfrm>
          <a:prstGeom prst="rect">
            <a:avLst/>
          </a:prstGeom>
        </p:spPr>
      </p:pic>
      <p:sp>
        <p:nvSpPr>
          <p:cNvPr id="4" name="TextBox 3"/>
          <p:cNvSpPr txBox="1"/>
          <p:nvPr/>
        </p:nvSpPr>
        <p:spPr>
          <a:xfrm>
            <a:off x="0" y="3383280"/>
            <a:ext cx="9144000" cy="400050"/>
          </a:xfrm>
          <a:prstGeom prst="rect">
            <a:avLst/>
          </a:prstGeom>
          <a:noFill/>
        </p:spPr>
        <p:txBody>
          <a:bodyPr wrap="square">
            <a:spAutoFit/>
          </a:bodyPr>
          <a:lstStyle/>
          <a:p>
            <a:pPr algn="ctr"/>
            <a:r>
              <a:rPr sz="2000" b="1">
                <a:solidFill>
                  <a:srgbClr val="2D2D2D"/>
                </a:solidFill>
                <a:latin typeface="Arial"/>
              </a:rPr>
              <a:t>Invest in financial clarity for the next generation.</a:t>
            </a:r>
          </a:p>
        </p:txBody>
      </p:sp>
      <p:cxnSp>
        <p:nvCxnSpPr>
          <p:cNvPr id="5" name="Connector 4"/>
          <p:cNvCxnSpPr/>
          <p:nvPr/>
        </p:nvCxnSpPr>
        <p:spPr>
          <a:xfrm>
            <a:off x="4267200" y="3932555"/>
            <a:ext cx="609600" cy="0"/>
          </a:xfrm>
          <a:prstGeom prst="line">
            <a:avLst/>
          </a:prstGeom>
          <a:ln w="19050">
            <a:solidFill>
              <a:srgbClr val="5A917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0" y="4560570"/>
            <a:ext cx="9144000" cy="209550"/>
          </a:xfrm>
          <a:prstGeom prst="rect">
            <a:avLst/>
          </a:prstGeom>
          <a:noFill/>
        </p:spPr>
        <p:txBody>
          <a:bodyPr wrap="square">
            <a:spAutoFit/>
          </a:bodyPr>
          <a:lstStyle/>
          <a:p>
            <a:pPr algn="ctr"/>
            <a:r>
              <a:rPr sz="1400" b="1">
                <a:solidFill>
                  <a:srgbClr val="2D2D2D"/>
                </a:solidFill>
                <a:latin typeface="Arial"/>
              </a:rPr>
              <a:t>Laila Hamza</a:t>
            </a:r>
          </a:p>
        </p:txBody>
      </p:sp>
      <p:sp>
        <p:nvSpPr>
          <p:cNvPr id="7" name="TextBox 6"/>
          <p:cNvSpPr txBox="1"/>
          <p:nvPr/>
        </p:nvSpPr>
        <p:spPr>
          <a:xfrm>
            <a:off x="0" y="4800600"/>
            <a:ext cx="9144000" cy="171450"/>
          </a:xfrm>
          <a:prstGeom prst="rect">
            <a:avLst/>
          </a:prstGeom>
          <a:noFill/>
        </p:spPr>
        <p:txBody>
          <a:bodyPr wrap="square">
            <a:spAutoFit/>
          </a:bodyPr>
          <a:lstStyle/>
          <a:p>
            <a:pPr algn="ctr"/>
            <a:r>
              <a:rPr sz="1200" b="0">
                <a:solidFill>
                  <a:srgbClr val="87B89D"/>
                </a:solidFill>
                <a:latin typeface="Arial"/>
              </a:rPr>
              <a:t>Connect on LinkedIn: Laila Hamza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432</TotalTime>
  <Words>3576</Words>
  <Application>Microsoft Office PowerPoint</Application>
  <PresentationFormat>On-screen Show (16:9)</PresentationFormat>
  <Paragraphs>358</Paragraphs>
  <Slides>15</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Money in Plain English - Pitch Deck</dc:title>
  <dc:subject>PptxGenJS Presentation</dc:subject>
  <dc:creator>Laila Hamza</dc:creator>
  <cp:lastModifiedBy>Hamza, Laila</cp:lastModifiedBy>
  <cp:revision>1</cp:revision>
  <dcterms:created xsi:type="dcterms:W3CDTF">2026-07-30T13:39:04Z</dcterms:created>
  <dcterms:modified xsi:type="dcterms:W3CDTF">2026-08-04T19:32:22Z</dcterms:modified>
</cp:coreProperties>
</file>