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16CFA2-4BBA-46DB-B3BA-754BE4CFAB10}" v="7" dt="2026-06-30T19:25:21.6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la Hamza" userId="37e3e0ed-4d92-4d8b-9466-2e38223b7fdf" providerId="ADAL" clId="{C4F51FD1-E34C-424C-8E22-3D0597D7201F}"/>
    <pc:docChg chg="undo custSel modSld">
      <pc:chgData name="Laila Hamza" userId="37e3e0ed-4d92-4d8b-9466-2e38223b7fdf" providerId="ADAL" clId="{C4F51FD1-E34C-424C-8E22-3D0597D7201F}" dt="2026-06-30T19:28:02.197" v="544" actId="255"/>
      <pc:docMkLst>
        <pc:docMk/>
      </pc:docMkLst>
      <pc:sldChg chg="modSp mod">
        <pc:chgData name="Laila Hamza" userId="37e3e0ed-4d92-4d8b-9466-2e38223b7fdf" providerId="ADAL" clId="{C4F51FD1-E34C-424C-8E22-3D0597D7201F}" dt="2026-06-30T19:26:51.087" v="539" actId="1038"/>
        <pc:sldMkLst>
          <pc:docMk/>
          <pc:sldMk cId="0" sldId="256"/>
        </pc:sldMkLst>
        <pc:spChg chg="mod">
          <ac:chgData name="Laila Hamza" userId="37e3e0ed-4d92-4d8b-9466-2e38223b7fdf" providerId="ADAL" clId="{C4F51FD1-E34C-424C-8E22-3D0597D7201F}" dt="2026-06-30T19:26:51.087" v="539" actId="1038"/>
          <ac:spMkLst>
            <pc:docMk/>
            <pc:sldMk cId="0" sldId="256"/>
            <ac:spMk id="5" creationId="{00000000-0000-0000-0000-000000000000}"/>
          </ac:spMkLst>
        </pc:spChg>
        <pc:spChg chg="mod">
          <ac:chgData name="Laila Hamza" userId="37e3e0ed-4d92-4d8b-9466-2e38223b7fdf" providerId="ADAL" clId="{C4F51FD1-E34C-424C-8E22-3D0597D7201F}" dt="2026-06-30T19:26:35.092" v="532" actId="1036"/>
          <ac:spMkLst>
            <pc:docMk/>
            <pc:sldMk cId="0" sldId="256"/>
            <ac:spMk id="6" creationId="{00000000-0000-0000-0000-000000000000}"/>
          </ac:spMkLst>
        </pc:spChg>
        <pc:spChg chg="mod">
          <ac:chgData name="Laila Hamza" userId="37e3e0ed-4d92-4d8b-9466-2e38223b7fdf" providerId="ADAL" clId="{C4F51FD1-E34C-424C-8E22-3D0597D7201F}" dt="2026-06-30T17:42:22.998" v="139" actId="1036"/>
          <ac:spMkLst>
            <pc:docMk/>
            <pc:sldMk cId="0" sldId="256"/>
            <ac:spMk id="7" creationId="{00000000-0000-0000-0000-000000000000}"/>
          </ac:spMkLst>
        </pc:spChg>
        <pc:spChg chg="mod">
          <ac:chgData name="Laila Hamza" userId="37e3e0ed-4d92-4d8b-9466-2e38223b7fdf" providerId="ADAL" clId="{C4F51FD1-E34C-424C-8E22-3D0597D7201F}" dt="2026-06-30T17:42:16.725" v="103" actId="1036"/>
          <ac:spMkLst>
            <pc:docMk/>
            <pc:sldMk cId="0" sldId="256"/>
            <ac:spMk id="8" creationId="{00000000-0000-0000-0000-000000000000}"/>
          </ac:spMkLst>
        </pc:spChg>
        <pc:spChg chg="mod">
          <ac:chgData name="Laila Hamza" userId="37e3e0ed-4d92-4d8b-9466-2e38223b7fdf" providerId="ADAL" clId="{C4F51FD1-E34C-424C-8E22-3D0597D7201F}" dt="2026-06-30T17:42:11.659" v="80" actId="1036"/>
          <ac:spMkLst>
            <pc:docMk/>
            <pc:sldMk cId="0" sldId="256"/>
            <ac:spMk id="9" creationId="{00000000-0000-0000-0000-000000000000}"/>
          </ac:spMkLst>
        </pc:spChg>
        <pc:picChg chg="mod">
          <ac:chgData name="Laila Hamza" userId="37e3e0ed-4d92-4d8b-9466-2e38223b7fdf" providerId="ADAL" clId="{C4F51FD1-E34C-424C-8E22-3D0597D7201F}" dt="2026-06-30T19:26:46.129" v="533" actId="14100"/>
          <ac:picMkLst>
            <pc:docMk/>
            <pc:sldMk cId="0" sldId="256"/>
            <ac:picMk id="4" creationId="{00000000-0000-0000-0000-000000000000}"/>
          </ac:picMkLst>
        </pc:picChg>
      </pc:sldChg>
      <pc:sldChg chg="modSp mod">
        <pc:chgData name="Laila Hamza" userId="37e3e0ed-4d92-4d8b-9466-2e38223b7fdf" providerId="ADAL" clId="{C4F51FD1-E34C-424C-8E22-3D0597D7201F}" dt="2026-06-30T18:10:36.920" v="295" actId="255"/>
        <pc:sldMkLst>
          <pc:docMk/>
          <pc:sldMk cId="0" sldId="257"/>
        </pc:sldMkLst>
        <pc:spChg chg="mod">
          <ac:chgData name="Laila Hamza" userId="37e3e0ed-4d92-4d8b-9466-2e38223b7fdf" providerId="ADAL" clId="{C4F51FD1-E34C-424C-8E22-3D0597D7201F}" dt="2026-06-30T17:45:15.342" v="252" actId="255"/>
          <ac:spMkLst>
            <pc:docMk/>
            <pc:sldMk cId="0" sldId="257"/>
            <ac:spMk id="3" creationId="{00000000-0000-0000-0000-000000000000}"/>
          </ac:spMkLst>
        </pc:spChg>
        <pc:spChg chg="mod">
          <ac:chgData name="Laila Hamza" userId="37e3e0ed-4d92-4d8b-9466-2e38223b7fdf" providerId="ADAL" clId="{C4F51FD1-E34C-424C-8E22-3D0597D7201F}" dt="2026-06-30T18:10:25.454" v="294" actId="255"/>
          <ac:spMkLst>
            <pc:docMk/>
            <pc:sldMk cId="0" sldId="257"/>
            <ac:spMk id="4" creationId="{00000000-0000-0000-0000-000000000000}"/>
          </ac:spMkLst>
        </pc:spChg>
        <pc:spChg chg="mod">
          <ac:chgData name="Laila Hamza" userId="37e3e0ed-4d92-4d8b-9466-2e38223b7fdf" providerId="ADAL" clId="{C4F51FD1-E34C-424C-8E22-3D0597D7201F}" dt="2026-06-30T18:04:49.475" v="293" actId="1036"/>
          <ac:spMkLst>
            <pc:docMk/>
            <pc:sldMk cId="0" sldId="257"/>
            <ac:spMk id="7" creationId="{00000000-0000-0000-0000-000000000000}"/>
          </ac:spMkLst>
        </pc:spChg>
        <pc:spChg chg="mod">
          <ac:chgData name="Laila Hamza" userId="37e3e0ed-4d92-4d8b-9466-2e38223b7fdf" providerId="ADAL" clId="{C4F51FD1-E34C-424C-8E22-3D0597D7201F}" dt="2026-06-30T18:02:55.003" v="287" actId="1035"/>
          <ac:spMkLst>
            <pc:docMk/>
            <pc:sldMk cId="0" sldId="257"/>
            <ac:spMk id="8" creationId="{00000000-0000-0000-0000-000000000000}"/>
          </ac:spMkLst>
        </pc:spChg>
        <pc:spChg chg="mod">
          <ac:chgData name="Laila Hamza" userId="37e3e0ed-4d92-4d8b-9466-2e38223b7fdf" providerId="ADAL" clId="{C4F51FD1-E34C-424C-8E22-3D0597D7201F}" dt="2026-06-30T18:02:55.003" v="287" actId="1035"/>
          <ac:spMkLst>
            <pc:docMk/>
            <pc:sldMk cId="0" sldId="257"/>
            <ac:spMk id="9" creationId="{00000000-0000-0000-0000-000000000000}"/>
          </ac:spMkLst>
        </pc:spChg>
        <pc:spChg chg="mod">
          <ac:chgData name="Laila Hamza" userId="37e3e0ed-4d92-4d8b-9466-2e38223b7fdf" providerId="ADAL" clId="{C4F51FD1-E34C-424C-8E22-3D0597D7201F}" dt="2026-06-30T18:02:55.003" v="287" actId="1035"/>
          <ac:spMkLst>
            <pc:docMk/>
            <pc:sldMk cId="0" sldId="257"/>
            <ac:spMk id="10" creationId="{00000000-0000-0000-0000-000000000000}"/>
          </ac:spMkLst>
        </pc:spChg>
        <pc:spChg chg="mod">
          <ac:chgData name="Laila Hamza" userId="37e3e0ed-4d92-4d8b-9466-2e38223b7fdf" providerId="ADAL" clId="{C4F51FD1-E34C-424C-8E22-3D0597D7201F}" dt="2026-06-30T18:02:55.003" v="287" actId="1035"/>
          <ac:spMkLst>
            <pc:docMk/>
            <pc:sldMk cId="0" sldId="257"/>
            <ac:spMk id="11" creationId="{00000000-0000-0000-0000-000000000000}"/>
          </ac:spMkLst>
        </pc:spChg>
        <pc:spChg chg="mod">
          <ac:chgData name="Laila Hamza" userId="37e3e0ed-4d92-4d8b-9466-2e38223b7fdf" providerId="ADAL" clId="{C4F51FD1-E34C-424C-8E22-3D0597D7201F}" dt="2026-06-30T18:02:55.003" v="287" actId="1035"/>
          <ac:spMkLst>
            <pc:docMk/>
            <pc:sldMk cId="0" sldId="257"/>
            <ac:spMk id="12" creationId="{00000000-0000-0000-0000-000000000000}"/>
          </ac:spMkLst>
        </pc:spChg>
        <pc:spChg chg="mod">
          <ac:chgData name="Laila Hamza" userId="37e3e0ed-4d92-4d8b-9466-2e38223b7fdf" providerId="ADAL" clId="{C4F51FD1-E34C-424C-8E22-3D0597D7201F}" dt="2026-06-30T18:02:55.003" v="287" actId="1035"/>
          <ac:spMkLst>
            <pc:docMk/>
            <pc:sldMk cId="0" sldId="257"/>
            <ac:spMk id="13" creationId="{00000000-0000-0000-0000-000000000000}"/>
          </ac:spMkLst>
        </pc:spChg>
        <pc:spChg chg="mod">
          <ac:chgData name="Laila Hamza" userId="37e3e0ed-4d92-4d8b-9466-2e38223b7fdf" providerId="ADAL" clId="{C4F51FD1-E34C-424C-8E22-3D0597D7201F}" dt="2026-06-30T18:02:55.003" v="287" actId="1035"/>
          <ac:spMkLst>
            <pc:docMk/>
            <pc:sldMk cId="0" sldId="257"/>
            <ac:spMk id="14" creationId="{00000000-0000-0000-0000-000000000000}"/>
          </ac:spMkLst>
        </pc:spChg>
        <pc:spChg chg="mod">
          <ac:chgData name="Laila Hamza" userId="37e3e0ed-4d92-4d8b-9466-2e38223b7fdf" providerId="ADAL" clId="{C4F51FD1-E34C-424C-8E22-3D0597D7201F}" dt="2026-06-30T18:10:36.920" v="295" actId="255"/>
          <ac:spMkLst>
            <pc:docMk/>
            <pc:sldMk cId="0" sldId="257"/>
            <ac:spMk id="15" creationId="{00000000-0000-0000-0000-000000000000}"/>
          </ac:spMkLst>
        </pc:spChg>
        <pc:spChg chg="mod">
          <ac:chgData name="Laila Hamza" userId="37e3e0ed-4d92-4d8b-9466-2e38223b7fdf" providerId="ADAL" clId="{C4F51FD1-E34C-424C-8E22-3D0597D7201F}" dt="2026-06-30T17:44:08.994" v="227" actId="1035"/>
          <ac:spMkLst>
            <pc:docMk/>
            <pc:sldMk cId="0" sldId="257"/>
            <ac:spMk id="16" creationId="{00000000-0000-0000-0000-000000000000}"/>
          </ac:spMkLst>
        </pc:spChg>
      </pc:sldChg>
      <pc:sldChg chg="modSp mod">
        <pc:chgData name="Laila Hamza" userId="37e3e0ed-4d92-4d8b-9466-2e38223b7fdf" providerId="ADAL" clId="{C4F51FD1-E34C-424C-8E22-3D0597D7201F}" dt="2026-06-30T18:11:23.156" v="337" actId="1035"/>
        <pc:sldMkLst>
          <pc:docMk/>
          <pc:sldMk cId="0" sldId="258"/>
        </pc:sldMkLst>
        <pc:spChg chg="mod">
          <ac:chgData name="Laila Hamza" userId="37e3e0ed-4d92-4d8b-9466-2e38223b7fdf" providerId="ADAL" clId="{C4F51FD1-E34C-424C-8E22-3D0597D7201F}" dt="2026-06-30T18:11:23.156" v="337" actId="1035"/>
          <ac:spMkLst>
            <pc:docMk/>
            <pc:sldMk cId="0" sldId="258"/>
            <ac:spMk id="3" creationId="{00000000-0000-0000-0000-000000000000}"/>
          </ac:spMkLst>
        </pc:spChg>
        <pc:spChg chg="mod">
          <ac:chgData name="Laila Hamza" userId="37e3e0ed-4d92-4d8b-9466-2e38223b7fdf" providerId="ADAL" clId="{C4F51FD1-E34C-424C-8E22-3D0597D7201F}" dt="2026-06-30T18:11:12.353" v="332" actId="1036"/>
          <ac:spMkLst>
            <pc:docMk/>
            <pc:sldMk cId="0" sldId="258"/>
            <ac:spMk id="4" creationId="{00000000-0000-0000-0000-000000000000}"/>
          </ac:spMkLst>
        </pc:spChg>
        <pc:spChg chg="mod">
          <ac:chgData name="Laila Hamza" userId="37e3e0ed-4d92-4d8b-9466-2e38223b7fdf" providerId="ADAL" clId="{C4F51FD1-E34C-424C-8E22-3D0597D7201F}" dt="2026-06-30T18:11:05.110" v="331" actId="1036"/>
          <ac:spMkLst>
            <pc:docMk/>
            <pc:sldMk cId="0" sldId="258"/>
            <ac:spMk id="7" creationId="{00000000-0000-0000-0000-000000000000}"/>
          </ac:spMkLst>
        </pc:spChg>
        <pc:spChg chg="mod">
          <ac:chgData name="Laila Hamza" userId="37e3e0ed-4d92-4d8b-9466-2e38223b7fdf" providerId="ADAL" clId="{C4F51FD1-E34C-424C-8E22-3D0597D7201F}" dt="2026-06-30T18:11:05.110" v="331" actId="1036"/>
          <ac:spMkLst>
            <pc:docMk/>
            <pc:sldMk cId="0" sldId="258"/>
            <ac:spMk id="8" creationId="{00000000-0000-0000-0000-000000000000}"/>
          </ac:spMkLst>
        </pc:spChg>
        <pc:spChg chg="mod">
          <ac:chgData name="Laila Hamza" userId="37e3e0ed-4d92-4d8b-9466-2e38223b7fdf" providerId="ADAL" clId="{C4F51FD1-E34C-424C-8E22-3D0597D7201F}" dt="2026-06-30T18:11:05.110" v="331" actId="1036"/>
          <ac:spMkLst>
            <pc:docMk/>
            <pc:sldMk cId="0" sldId="258"/>
            <ac:spMk id="10" creationId="{00000000-0000-0000-0000-000000000000}"/>
          </ac:spMkLst>
        </pc:spChg>
        <pc:spChg chg="mod">
          <ac:chgData name="Laila Hamza" userId="37e3e0ed-4d92-4d8b-9466-2e38223b7fdf" providerId="ADAL" clId="{C4F51FD1-E34C-424C-8E22-3D0597D7201F}" dt="2026-06-30T18:11:05.110" v="331" actId="1036"/>
          <ac:spMkLst>
            <pc:docMk/>
            <pc:sldMk cId="0" sldId="258"/>
            <ac:spMk id="11" creationId="{00000000-0000-0000-0000-000000000000}"/>
          </ac:spMkLst>
        </pc:spChg>
        <pc:spChg chg="mod">
          <ac:chgData name="Laila Hamza" userId="37e3e0ed-4d92-4d8b-9466-2e38223b7fdf" providerId="ADAL" clId="{C4F51FD1-E34C-424C-8E22-3D0597D7201F}" dt="2026-06-30T18:11:05.110" v="331" actId="1036"/>
          <ac:spMkLst>
            <pc:docMk/>
            <pc:sldMk cId="0" sldId="258"/>
            <ac:spMk id="15" creationId="{00000000-0000-0000-0000-000000000000}"/>
          </ac:spMkLst>
        </pc:spChg>
        <pc:spChg chg="mod">
          <ac:chgData name="Laila Hamza" userId="37e3e0ed-4d92-4d8b-9466-2e38223b7fdf" providerId="ADAL" clId="{C4F51FD1-E34C-424C-8E22-3D0597D7201F}" dt="2026-06-30T18:11:05.110" v="331" actId="1036"/>
          <ac:spMkLst>
            <pc:docMk/>
            <pc:sldMk cId="0" sldId="258"/>
            <ac:spMk id="18" creationId="{00000000-0000-0000-0000-000000000000}"/>
          </ac:spMkLst>
        </pc:spChg>
        <pc:spChg chg="mod">
          <ac:chgData name="Laila Hamza" userId="37e3e0ed-4d92-4d8b-9466-2e38223b7fdf" providerId="ADAL" clId="{C4F51FD1-E34C-424C-8E22-3D0597D7201F}" dt="2026-06-30T18:11:05.110" v="331" actId="1036"/>
          <ac:spMkLst>
            <pc:docMk/>
            <pc:sldMk cId="0" sldId="258"/>
            <ac:spMk id="19" creationId="{00000000-0000-0000-0000-000000000000}"/>
          </ac:spMkLst>
        </pc:spChg>
        <pc:spChg chg="mod">
          <ac:chgData name="Laila Hamza" userId="37e3e0ed-4d92-4d8b-9466-2e38223b7fdf" providerId="ADAL" clId="{C4F51FD1-E34C-424C-8E22-3D0597D7201F}" dt="2026-06-30T18:11:05.110" v="331" actId="1036"/>
          <ac:spMkLst>
            <pc:docMk/>
            <pc:sldMk cId="0" sldId="258"/>
            <ac:spMk id="20" creationId="{00000000-0000-0000-0000-000000000000}"/>
          </ac:spMkLst>
        </pc:spChg>
        <pc:spChg chg="mod">
          <ac:chgData name="Laila Hamza" userId="37e3e0ed-4d92-4d8b-9466-2e38223b7fdf" providerId="ADAL" clId="{C4F51FD1-E34C-424C-8E22-3D0597D7201F}" dt="2026-06-30T18:11:05.110" v="331" actId="1036"/>
          <ac:spMkLst>
            <pc:docMk/>
            <pc:sldMk cId="0" sldId="258"/>
            <ac:spMk id="23" creationId="{00000000-0000-0000-0000-000000000000}"/>
          </ac:spMkLst>
        </pc:spChg>
        <pc:spChg chg="mod">
          <ac:chgData name="Laila Hamza" userId="37e3e0ed-4d92-4d8b-9466-2e38223b7fdf" providerId="ADAL" clId="{C4F51FD1-E34C-424C-8E22-3D0597D7201F}" dt="2026-06-30T18:11:05.110" v="331" actId="1036"/>
          <ac:spMkLst>
            <pc:docMk/>
            <pc:sldMk cId="0" sldId="258"/>
            <ac:spMk id="24" creationId="{00000000-0000-0000-0000-000000000000}"/>
          </ac:spMkLst>
        </pc:spChg>
      </pc:sldChg>
      <pc:sldChg chg="addSp modSp mod">
        <pc:chgData name="Laila Hamza" userId="37e3e0ed-4d92-4d8b-9466-2e38223b7fdf" providerId="ADAL" clId="{C4F51FD1-E34C-424C-8E22-3D0597D7201F}" dt="2026-06-30T19:27:50.802" v="543" actId="1036"/>
        <pc:sldMkLst>
          <pc:docMk/>
          <pc:sldMk cId="0" sldId="259"/>
        </pc:sldMkLst>
        <pc:spChg chg="mod">
          <ac:chgData name="Laila Hamza" userId="37e3e0ed-4d92-4d8b-9466-2e38223b7fdf" providerId="ADAL" clId="{C4F51FD1-E34C-424C-8E22-3D0597D7201F}" dt="2026-06-30T19:27:50.802" v="543" actId="1036"/>
          <ac:spMkLst>
            <pc:docMk/>
            <pc:sldMk cId="0" sldId="259"/>
            <ac:spMk id="3" creationId="{00000000-0000-0000-0000-000000000000}"/>
          </ac:spMkLst>
        </pc:spChg>
        <pc:spChg chg="mod">
          <ac:chgData name="Laila Hamza" userId="37e3e0ed-4d92-4d8b-9466-2e38223b7fdf" providerId="ADAL" clId="{C4F51FD1-E34C-424C-8E22-3D0597D7201F}" dt="2026-06-30T18:19:56.238" v="388" actId="115"/>
          <ac:spMkLst>
            <pc:docMk/>
            <pc:sldMk cId="0" sldId="259"/>
            <ac:spMk id="4" creationId="{00000000-0000-0000-0000-000000000000}"/>
          </ac:spMkLst>
        </pc:spChg>
        <pc:spChg chg="mod">
          <ac:chgData name="Laila Hamza" userId="37e3e0ed-4d92-4d8b-9466-2e38223b7fdf" providerId="ADAL" clId="{C4F51FD1-E34C-424C-8E22-3D0597D7201F}" dt="2026-06-30T18:19:47.535" v="387" actId="1036"/>
          <ac:spMkLst>
            <pc:docMk/>
            <pc:sldMk cId="0" sldId="259"/>
            <ac:spMk id="7" creationId="{00000000-0000-0000-0000-000000000000}"/>
          </ac:spMkLst>
        </pc:spChg>
        <pc:spChg chg="mod">
          <ac:chgData name="Laila Hamza" userId="37e3e0ed-4d92-4d8b-9466-2e38223b7fdf" providerId="ADAL" clId="{C4F51FD1-E34C-424C-8E22-3D0597D7201F}" dt="2026-06-30T18:17:59.403" v="385" actId="1036"/>
          <ac:spMkLst>
            <pc:docMk/>
            <pc:sldMk cId="0" sldId="259"/>
            <ac:spMk id="9" creationId="{00000000-0000-0000-0000-000000000000}"/>
          </ac:spMkLst>
        </pc:spChg>
        <pc:spChg chg="mod">
          <ac:chgData name="Laila Hamza" userId="37e3e0ed-4d92-4d8b-9466-2e38223b7fdf" providerId="ADAL" clId="{C4F51FD1-E34C-424C-8E22-3D0597D7201F}" dt="2026-06-30T18:17:50.971" v="381" actId="1036"/>
          <ac:spMkLst>
            <pc:docMk/>
            <pc:sldMk cId="0" sldId="259"/>
            <ac:spMk id="10" creationId="{00000000-0000-0000-0000-000000000000}"/>
          </ac:spMkLst>
        </pc:spChg>
        <pc:spChg chg="mod">
          <ac:chgData name="Laila Hamza" userId="37e3e0ed-4d92-4d8b-9466-2e38223b7fdf" providerId="ADAL" clId="{C4F51FD1-E34C-424C-8E22-3D0597D7201F}" dt="2026-06-30T18:12:07.902" v="338" actId="164"/>
          <ac:spMkLst>
            <pc:docMk/>
            <pc:sldMk cId="0" sldId="259"/>
            <ac:spMk id="11" creationId="{00000000-0000-0000-0000-000000000000}"/>
          </ac:spMkLst>
        </pc:spChg>
        <pc:spChg chg="mod">
          <ac:chgData name="Laila Hamza" userId="37e3e0ed-4d92-4d8b-9466-2e38223b7fdf" providerId="ADAL" clId="{C4F51FD1-E34C-424C-8E22-3D0597D7201F}" dt="2026-06-30T18:12:07.902" v="338" actId="164"/>
          <ac:spMkLst>
            <pc:docMk/>
            <pc:sldMk cId="0" sldId="259"/>
            <ac:spMk id="12" creationId="{00000000-0000-0000-0000-000000000000}"/>
          </ac:spMkLst>
        </pc:spChg>
        <pc:spChg chg="mod">
          <ac:chgData name="Laila Hamza" userId="37e3e0ed-4d92-4d8b-9466-2e38223b7fdf" providerId="ADAL" clId="{C4F51FD1-E34C-424C-8E22-3D0597D7201F}" dt="2026-06-30T18:12:07.902" v="338" actId="164"/>
          <ac:spMkLst>
            <pc:docMk/>
            <pc:sldMk cId="0" sldId="259"/>
            <ac:spMk id="13" creationId="{00000000-0000-0000-0000-000000000000}"/>
          </ac:spMkLst>
        </pc:spChg>
        <pc:spChg chg="mod">
          <ac:chgData name="Laila Hamza" userId="37e3e0ed-4d92-4d8b-9466-2e38223b7fdf" providerId="ADAL" clId="{C4F51FD1-E34C-424C-8E22-3D0597D7201F}" dt="2026-06-30T18:12:07.902" v="338" actId="164"/>
          <ac:spMkLst>
            <pc:docMk/>
            <pc:sldMk cId="0" sldId="259"/>
            <ac:spMk id="14" creationId="{00000000-0000-0000-0000-000000000000}"/>
          </ac:spMkLst>
        </pc:spChg>
        <pc:spChg chg="mod">
          <ac:chgData name="Laila Hamza" userId="37e3e0ed-4d92-4d8b-9466-2e38223b7fdf" providerId="ADAL" clId="{C4F51FD1-E34C-424C-8E22-3D0597D7201F}" dt="2026-06-30T18:12:07.902" v="338" actId="164"/>
          <ac:spMkLst>
            <pc:docMk/>
            <pc:sldMk cId="0" sldId="259"/>
            <ac:spMk id="15" creationId="{00000000-0000-0000-0000-000000000000}"/>
          </ac:spMkLst>
        </pc:spChg>
        <pc:spChg chg="mod">
          <ac:chgData name="Laila Hamza" userId="37e3e0ed-4d92-4d8b-9466-2e38223b7fdf" providerId="ADAL" clId="{C4F51FD1-E34C-424C-8E22-3D0597D7201F}" dt="2026-06-30T18:12:07.902" v="338" actId="164"/>
          <ac:spMkLst>
            <pc:docMk/>
            <pc:sldMk cId="0" sldId="259"/>
            <ac:spMk id="16" creationId="{00000000-0000-0000-0000-000000000000}"/>
          </ac:spMkLst>
        </pc:spChg>
        <pc:spChg chg="mod">
          <ac:chgData name="Laila Hamza" userId="37e3e0ed-4d92-4d8b-9466-2e38223b7fdf" providerId="ADAL" clId="{C4F51FD1-E34C-424C-8E22-3D0597D7201F}" dt="2026-06-30T18:12:07.902" v="338" actId="164"/>
          <ac:spMkLst>
            <pc:docMk/>
            <pc:sldMk cId="0" sldId="259"/>
            <ac:spMk id="21" creationId="{00000000-0000-0000-0000-000000000000}"/>
          </ac:spMkLst>
        </pc:spChg>
        <pc:spChg chg="mod">
          <ac:chgData name="Laila Hamza" userId="37e3e0ed-4d92-4d8b-9466-2e38223b7fdf" providerId="ADAL" clId="{C4F51FD1-E34C-424C-8E22-3D0597D7201F}" dt="2026-06-30T18:12:07.902" v="338" actId="164"/>
          <ac:spMkLst>
            <pc:docMk/>
            <pc:sldMk cId="0" sldId="259"/>
            <ac:spMk id="22" creationId="{00000000-0000-0000-0000-000000000000}"/>
          </ac:spMkLst>
        </pc:spChg>
        <pc:spChg chg="mod">
          <ac:chgData name="Laila Hamza" userId="37e3e0ed-4d92-4d8b-9466-2e38223b7fdf" providerId="ADAL" clId="{C4F51FD1-E34C-424C-8E22-3D0597D7201F}" dt="2026-06-30T18:12:07.902" v="338" actId="164"/>
          <ac:spMkLst>
            <pc:docMk/>
            <pc:sldMk cId="0" sldId="259"/>
            <ac:spMk id="23" creationId="{00000000-0000-0000-0000-000000000000}"/>
          </ac:spMkLst>
        </pc:spChg>
        <pc:spChg chg="mod">
          <ac:chgData name="Laila Hamza" userId="37e3e0ed-4d92-4d8b-9466-2e38223b7fdf" providerId="ADAL" clId="{C4F51FD1-E34C-424C-8E22-3D0597D7201F}" dt="2026-06-30T18:12:07.902" v="338" actId="164"/>
          <ac:spMkLst>
            <pc:docMk/>
            <pc:sldMk cId="0" sldId="259"/>
            <ac:spMk id="25" creationId="{00000000-0000-0000-0000-000000000000}"/>
          </ac:spMkLst>
        </pc:spChg>
        <pc:grpChg chg="mod">
          <ac:chgData name="Laila Hamza" userId="37e3e0ed-4d92-4d8b-9466-2e38223b7fdf" providerId="ADAL" clId="{C4F51FD1-E34C-424C-8E22-3D0597D7201F}" dt="2026-06-30T18:17:20.168" v="375" actId="1036"/>
          <ac:grpSpMkLst>
            <pc:docMk/>
            <pc:sldMk cId="0" sldId="259"/>
            <ac:grpSpMk id="26" creationId="{10DA1B78-67FF-3340-9670-EC56F48B8E94}"/>
          </ac:grpSpMkLst>
        </pc:grpChg>
      </pc:sldChg>
      <pc:sldChg chg="modSp mod">
        <pc:chgData name="Laila Hamza" userId="37e3e0ed-4d92-4d8b-9466-2e38223b7fdf" providerId="ADAL" clId="{C4F51FD1-E34C-424C-8E22-3D0597D7201F}" dt="2026-06-30T19:27:43.907" v="541" actId="1036"/>
        <pc:sldMkLst>
          <pc:docMk/>
          <pc:sldMk cId="0" sldId="260"/>
        </pc:sldMkLst>
        <pc:spChg chg="mod">
          <ac:chgData name="Laila Hamza" userId="37e3e0ed-4d92-4d8b-9466-2e38223b7fdf" providerId="ADAL" clId="{C4F51FD1-E34C-424C-8E22-3D0597D7201F}" dt="2026-06-30T19:27:43.907" v="541" actId="1036"/>
          <ac:spMkLst>
            <pc:docMk/>
            <pc:sldMk cId="0" sldId="260"/>
            <ac:spMk id="3" creationId="{00000000-0000-0000-0000-000000000000}"/>
          </ac:spMkLst>
        </pc:spChg>
        <pc:spChg chg="mod">
          <ac:chgData name="Laila Hamza" userId="37e3e0ed-4d92-4d8b-9466-2e38223b7fdf" providerId="ADAL" clId="{C4F51FD1-E34C-424C-8E22-3D0597D7201F}" dt="2026-06-30T17:47:25.088" v="257" actId="255"/>
          <ac:spMkLst>
            <pc:docMk/>
            <pc:sldMk cId="0" sldId="260"/>
            <ac:spMk id="7" creationId="{00000000-0000-0000-0000-000000000000}"/>
          </ac:spMkLst>
        </pc:spChg>
        <pc:spChg chg="mod">
          <ac:chgData name="Laila Hamza" userId="37e3e0ed-4d92-4d8b-9466-2e38223b7fdf" providerId="ADAL" clId="{C4F51FD1-E34C-424C-8E22-3D0597D7201F}" dt="2026-06-30T18:24:30.459" v="390" actId="1076"/>
          <ac:spMkLst>
            <pc:docMk/>
            <pc:sldMk cId="0" sldId="260"/>
            <ac:spMk id="46" creationId="{00000000-0000-0000-0000-000000000000}"/>
          </ac:spMkLst>
        </pc:spChg>
      </pc:sldChg>
      <pc:sldChg chg="modSp mod">
        <pc:chgData name="Laila Hamza" userId="37e3e0ed-4d92-4d8b-9466-2e38223b7fdf" providerId="ADAL" clId="{C4F51FD1-E34C-424C-8E22-3D0597D7201F}" dt="2026-06-30T18:36:26.157" v="418" actId="1036"/>
        <pc:sldMkLst>
          <pc:docMk/>
          <pc:sldMk cId="0" sldId="261"/>
        </pc:sldMkLst>
        <pc:spChg chg="mod">
          <ac:chgData name="Laila Hamza" userId="37e3e0ed-4d92-4d8b-9466-2e38223b7fdf" providerId="ADAL" clId="{C4F51FD1-E34C-424C-8E22-3D0597D7201F}" dt="2026-06-30T18:36:26.157" v="418" actId="1036"/>
          <ac:spMkLst>
            <pc:docMk/>
            <pc:sldMk cId="0" sldId="261"/>
            <ac:spMk id="3" creationId="{00000000-0000-0000-0000-000000000000}"/>
          </ac:spMkLst>
        </pc:spChg>
        <pc:spChg chg="mod">
          <ac:chgData name="Laila Hamza" userId="37e3e0ed-4d92-4d8b-9466-2e38223b7fdf" providerId="ADAL" clId="{C4F51FD1-E34C-424C-8E22-3D0597D7201F}" dt="2026-06-30T18:36:15.979" v="413" actId="1036"/>
          <ac:spMkLst>
            <pc:docMk/>
            <pc:sldMk cId="0" sldId="261"/>
            <ac:spMk id="4" creationId="{00000000-0000-0000-0000-000000000000}"/>
          </ac:spMkLst>
        </pc:spChg>
        <pc:spChg chg="mod">
          <ac:chgData name="Laila Hamza" userId="37e3e0ed-4d92-4d8b-9466-2e38223b7fdf" providerId="ADAL" clId="{C4F51FD1-E34C-424C-8E22-3D0597D7201F}" dt="2026-06-30T18:36:08.293" v="412" actId="1036"/>
          <ac:spMkLst>
            <pc:docMk/>
            <pc:sldMk cId="0" sldId="261"/>
            <ac:spMk id="8" creationId="{00000000-0000-0000-0000-000000000000}"/>
          </ac:spMkLst>
        </pc:spChg>
        <pc:spChg chg="mod">
          <ac:chgData name="Laila Hamza" userId="37e3e0ed-4d92-4d8b-9466-2e38223b7fdf" providerId="ADAL" clId="{C4F51FD1-E34C-424C-8E22-3D0597D7201F}" dt="2026-06-30T18:36:08.293" v="412" actId="1036"/>
          <ac:spMkLst>
            <pc:docMk/>
            <pc:sldMk cId="0" sldId="261"/>
            <ac:spMk id="9"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0"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1"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2"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4"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5"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6"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7" creationId="{00000000-0000-0000-0000-000000000000}"/>
          </ac:spMkLst>
        </pc:spChg>
        <pc:spChg chg="mod">
          <ac:chgData name="Laila Hamza" userId="37e3e0ed-4d92-4d8b-9466-2e38223b7fdf" providerId="ADAL" clId="{C4F51FD1-E34C-424C-8E22-3D0597D7201F}" dt="2026-06-30T18:36:08.293" v="412" actId="1036"/>
          <ac:spMkLst>
            <pc:docMk/>
            <pc:sldMk cId="0" sldId="261"/>
            <ac:spMk id="18" creationId="{00000000-0000-0000-0000-000000000000}"/>
          </ac:spMkLst>
        </pc:spChg>
      </pc:sldChg>
      <pc:sldChg chg="modSp mod">
        <pc:chgData name="Laila Hamza" userId="37e3e0ed-4d92-4d8b-9466-2e38223b7fdf" providerId="ADAL" clId="{C4F51FD1-E34C-424C-8E22-3D0597D7201F}" dt="2026-06-30T19:28:02.197" v="544" actId="255"/>
        <pc:sldMkLst>
          <pc:docMk/>
          <pc:sldMk cId="0" sldId="262"/>
        </pc:sldMkLst>
        <pc:spChg chg="mod">
          <ac:chgData name="Laila Hamza" userId="37e3e0ed-4d92-4d8b-9466-2e38223b7fdf" providerId="ADAL" clId="{C4F51FD1-E34C-424C-8E22-3D0597D7201F}" dt="2026-06-30T19:28:02.197" v="544" actId="255"/>
          <ac:spMkLst>
            <pc:docMk/>
            <pc:sldMk cId="0" sldId="262"/>
            <ac:spMk id="3" creationId="{00000000-0000-0000-0000-000000000000}"/>
          </ac:spMkLst>
        </pc:spChg>
      </pc:sldChg>
      <pc:sldChg chg="modSp mod">
        <pc:chgData name="Laila Hamza" userId="37e3e0ed-4d92-4d8b-9466-2e38223b7fdf" providerId="ADAL" clId="{C4F51FD1-E34C-424C-8E22-3D0597D7201F}" dt="2026-06-30T19:22:03.636" v="426" actId="255"/>
        <pc:sldMkLst>
          <pc:docMk/>
          <pc:sldMk cId="0" sldId="263"/>
        </pc:sldMkLst>
        <pc:spChg chg="mod">
          <ac:chgData name="Laila Hamza" userId="37e3e0ed-4d92-4d8b-9466-2e38223b7fdf" providerId="ADAL" clId="{C4F51FD1-E34C-424C-8E22-3D0597D7201F}" dt="2026-06-30T19:22:03.636" v="426" actId="255"/>
          <ac:spMkLst>
            <pc:docMk/>
            <pc:sldMk cId="0" sldId="263"/>
            <ac:spMk id="3" creationId="{00000000-0000-0000-0000-000000000000}"/>
          </ac:spMkLst>
        </pc:spChg>
        <pc:spChg chg="mod">
          <ac:chgData name="Laila Hamza" userId="37e3e0ed-4d92-4d8b-9466-2e38223b7fdf" providerId="ADAL" clId="{C4F51FD1-E34C-424C-8E22-3D0597D7201F}" dt="2026-06-30T19:21:57.005" v="425" actId="1035"/>
          <ac:spMkLst>
            <pc:docMk/>
            <pc:sldMk cId="0" sldId="263"/>
            <ac:spMk id="4" creationId="{00000000-0000-0000-0000-000000000000}"/>
          </ac:spMkLst>
        </pc:spChg>
        <pc:spChg chg="mod">
          <ac:chgData name="Laila Hamza" userId="37e3e0ed-4d92-4d8b-9466-2e38223b7fdf" providerId="ADAL" clId="{C4F51FD1-E34C-424C-8E22-3D0597D7201F}" dt="2026-06-30T19:21:34.176" v="421" actId="255"/>
          <ac:spMkLst>
            <pc:docMk/>
            <pc:sldMk cId="0" sldId="263"/>
            <ac:spMk id="8" creationId="{00000000-0000-0000-0000-000000000000}"/>
          </ac:spMkLst>
        </pc:spChg>
        <pc:spChg chg="mod">
          <ac:chgData name="Laila Hamza" userId="37e3e0ed-4d92-4d8b-9466-2e38223b7fdf" providerId="ADAL" clId="{C4F51FD1-E34C-424C-8E22-3D0597D7201F}" dt="2026-06-30T19:21:44.757" v="422" actId="255"/>
          <ac:spMkLst>
            <pc:docMk/>
            <pc:sldMk cId="0" sldId="263"/>
            <ac:spMk id="10" creationId="{00000000-0000-0000-0000-000000000000}"/>
          </ac:spMkLst>
        </pc:spChg>
        <pc:spChg chg="mod">
          <ac:chgData name="Laila Hamza" userId="37e3e0ed-4d92-4d8b-9466-2e38223b7fdf" providerId="ADAL" clId="{C4F51FD1-E34C-424C-8E22-3D0597D7201F}" dt="2026-06-30T19:21:51.895" v="423" actId="255"/>
          <ac:spMkLst>
            <pc:docMk/>
            <pc:sldMk cId="0" sldId="263"/>
            <ac:spMk id="12" creationId="{00000000-0000-0000-0000-000000000000}"/>
          </ac:spMkLst>
        </pc:spChg>
        <pc:spChg chg="mod">
          <ac:chgData name="Laila Hamza" userId="37e3e0ed-4d92-4d8b-9466-2e38223b7fdf" providerId="ADAL" clId="{C4F51FD1-E34C-424C-8E22-3D0597D7201F}" dt="2026-06-30T19:21:26.798" v="420" actId="255"/>
          <ac:spMkLst>
            <pc:docMk/>
            <pc:sldMk cId="0" sldId="263"/>
            <ac:spMk id="13" creationId="{00000000-0000-0000-0000-000000000000}"/>
          </ac:spMkLst>
        </pc:spChg>
        <pc:spChg chg="mod">
          <ac:chgData name="Laila Hamza" userId="37e3e0ed-4d92-4d8b-9466-2e38223b7fdf" providerId="ADAL" clId="{C4F51FD1-E34C-424C-8E22-3D0597D7201F}" dt="2026-06-30T19:21:26.798" v="420" actId="255"/>
          <ac:spMkLst>
            <pc:docMk/>
            <pc:sldMk cId="0" sldId="263"/>
            <ac:spMk id="14" creationId="{00000000-0000-0000-0000-000000000000}"/>
          </ac:spMkLst>
        </pc:spChg>
        <pc:spChg chg="mod">
          <ac:chgData name="Laila Hamza" userId="37e3e0ed-4d92-4d8b-9466-2e38223b7fdf" providerId="ADAL" clId="{C4F51FD1-E34C-424C-8E22-3D0597D7201F}" dt="2026-06-30T19:21:07.197" v="419" actId="255"/>
          <ac:spMkLst>
            <pc:docMk/>
            <pc:sldMk cId="0" sldId="263"/>
            <ac:spMk id="15" creationId="{00000000-0000-0000-0000-000000000000}"/>
          </ac:spMkLst>
        </pc:spChg>
        <pc:spChg chg="mod">
          <ac:chgData name="Laila Hamza" userId="37e3e0ed-4d92-4d8b-9466-2e38223b7fdf" providerId="ADAL" clId="{C4F51FD1-E34C-424C-8E22-3D0597D7201F}" dt="2026-06-30T19:21:07.197" v="419" actId="255"/>
          <ac:spMkLst>
            <pc:docMk/>
            <pc:sldMk cId="0" sldId="263"/>
            <ac:spMk id="16" creationId="{00000000-0000-0000-0000-000000000000}"/>
          </ac:spMkLst>
        </pc:spChg>
        <pc:spChg chg="mod">
          <ac:chgData name="Laila Hamza" userId="37e3e0ed-4d92-4d8b-9466-2e38223b7fdf" providerId="ADAL" clId="{C4F51FD1-E34C-424C-8E22-3D0597D7201F}" dt="2026-06-30T19:21:26.798" v="420" actId="255"/>
          <ac:spMkLst>
            <pc:docMk/>
            <pc:sldMk cId="0" sldId="263"/>
            <ac:spMk id="19" creationId="{00000000-0000-0000-0000-000000000000}"/>
          </ac:spMkLst>
        </pc:spChg>
        <pc:spChg chg="mod">
          <ac:chgData name="Laila Hamza" userId="37e3e0ed-4d92-4d8b-9466-2e38223b7fdf" providerId="ADAL" clId="{C4F51FD1-E34C-424C-8E22-3D0597D7201F}" dt="2026-06-30T19:21:26.798" v="420" actId="255"/>
          <ac:spMkLst>
            <pc:docMk/>
            <pc:sldMk cId="0" sldId="263"/>
            <ac:spMk id="20" creationId="{00000000-0000-0000-0000-000000000000}"/>
          </ac:spMkLst>
        </pc:spChg>
        <pc:spChg chg="mod">
          <ac:chgData name="Laila Hamza" userId="37e3e0ed-4d92-4d8b-9466-2e38223b7fdf" providerId="ADAL" clId="{C4F51FD1-E34C-424C-8E22-3D0597D7201F}" dt="2026-06-30T19:21:07.197" v="419" actId="255"/>
          <ac:spMkLst>
            <pc:docMk/>
            <pc:sldMk cId="0" sldId="263"/>
            <ac:spMk id="21" creationId="{00000000-0000-0000-0000-000000000000}"/>
          </ac:spMkLst>
        </pc:spChg>
        <pc:spChg chg="mod">
          <ac:chgData name="Laila Hamza" userId="37e3e0ed-4d92-4d8b-9466-2e38223b7fdf" providerId="ADAL" clId="{C4F51FD1-E34C-424C-8E22-3D0597D7201F}" dt="2026-06-30T19:21:07.197" v="419" actId="255"/>
          <ac:spMkLst>
            <pc:docMk/>
            <pc:sldMk cId="0" sldId="263"/>
            <ac:spMk id="22" creationId="{00000000-0000-0000-0000-000000000000}"/>
          </ac:spMkLst>
        </pc:spChg>
        <pc:spChg chg="mod">
          <ac:chgData name="Laila Hamza" userId="37e3e0ed-4d92-4d8b-9466-2e38223b7fdf" providerId="ADAL" clId="{C4F51FD1-E34C-424C-8E22-3D0597D7201F}" dt="2026-06-30T19:21:26.798" v="420" actId="255"/>
          <ac:spMkLst>
            <pc:docMk/>
            <pc:sldMk cId="0" sldId="263"/>
            <ac:spMk id="25" creationId="{00000000-0000-0000-0000-000000000000}"/>
          </ac:spMkLst>
        </pc:spChg>
        <pc:spChg chg="mod">
          <ac:chgData name="Laila Hamza" userId="37e3e0ed-4d92-4d8b-9466-2e38223b7fdf" providerId="ADAL" clId="{C4F51FD1-E34C-424C-8E22-3D0597D7201F}" dt="2026-06-30T19:21:26.798" v="420" actId="255"/>
          <ac:spMkLst>
            <pc:docMk/>
            <pc:sldMk cId="0" sldId="263"/>
            <ac:spMk id="26" creationId="{00000000-0000-0000-0000-000000000000}"/>
          </ac:spMkLst>
        </pc:spChg>
        <pc:spChg chg="mod">
          <ac:chgData name="Laila Hamza" userId="37e3e0ed-4d92-4d8b-9466-2e38223b7fdf" providerId="ADAL" clId="{C4F51FD1-E34C-424C-8E22-3D0597D7201F}" dt="2026-06-30T19:21:07.197" v="419" actId="255"/>
          <ac:spMkLst>
            <pc:docMk/>
            <pc:sldMk cId="0" sldId="263"/>
            <ac:spMk id="27" creationId="{00000000-0000-0000-0000-000000000000}"/>
          </ac:spMkLst>
        </pc:spChg>
        <pc:spChg chg="mod">
          <ac:chgData name="Laila Hamza" userId="37e3e0ed-4d92-4d8b-9466-2e38223b7fdf" providerId="ADAL" clId="{C4F51FD1-E34C-424C-8E22-3D0597D7201F}" dt="2026-06-30T19:21:07.197" v="419" actId="255"/>
          <ac:spMkLst>
            <pc:docMk/>
            <pc:sldMk cId="0" sldId="263"/>
            <ac:spMk id="28" creationId="{00000000-0000-0000-0000-000000000000}"/>
          </ac:spMkLst>
        </pc:spChg>
        <pc:spChg chg="mod">
          <ac:chgData name="Laila Hamza" userId="37e3e0ed-4d92-4d8b-9466-2e38223b7fdf" providerId="ADAL" clId="{C4F51FD1-E34C-424C-8E22-3D0597D7201F}" dt="2026-06-30T19:21:26.798" v="420" actId="255"/>
          <ac:spMkLst>
            <pc:docMk/>
            <pc:sldMk cId="0" sldId="263"/>
            <ac:spMk id="31" creationId="{00000000-0000-0000-0000-000000000000}"/>
          </ac:spMkLst>
        </pc:spChg>
        <pc:spChg chg="mod">
          <ac:chgData name="Laila Hamza" userId="37e3e0ed-4d92-4d8b-9466-2e38223b7fdf" providerId="ADAL" clId="{C4F51FD1-E34C-424C-8E22-3D0597D7201F}" dt="2026-06-30T19:21:26.798" v="420" actId="255"/>
          <ac:spMkLst>
            <pc:docMk/>
            <pc:sldMk cId="0" sldId="263"/>
            <ac:spMk id="32" creationId="{00000000-0000-0000-0000-000000000000}"/>
          </ac:spMkLst>
        </pc:spChg>
        <pc:spChg chg="mod">
          <ac:chgData name="Laila Hamza" userId="37e3e0ed-4d92-4d8b-9466-2e38223b7fdf" providerId="ADAL" clId="{C4F51FD1-E34C-424C-8E22-3D0597D7201F}" dt="2026-06-30T19:21:07.197" v="419" actId="255"/>
          <ac:spMkLst>
            <pc:docMk/>
            <pc:sldMk cId="0" sldId="263"/>
            <ac:spMk id="33" creationId="{00000000-0000-0000-0000-000000000000}"/>
          </ac:spMkLst>
        </pc:spChg>
        <pc:spChg chg="mod">
          <ac:chgData name="Laila Hamza" userId="37e3e0ed-4d92-4d8b-9466-2e38223b7fdf" providerId="ADAL" clId="{C4F51FD1-E34C-424C-8E22-3D0597D7201F}" dt="2026-06-30T19:21:07.197" v="419" actId="255"/>
          <ac:spMkLst>
            <pc:docMk/>
            <pc:sldMk cId="0" sldId="263"/>
            <ac:spMk id="34" creationId="{00000000-0000-0000-0000-000000000000}"/>
          </ac:spMkLst>
        </pc:spChg>
        <pc:spChg chg="mod">
          <ac:chgData name="Laila Hamza" userId="37e3e0ed-4d92-4d8b-9466-2e38223b7fdf" providerId="ADAL" clId="{C4F51FD1-E34C-424C-8E22-3D0597D7201F}" dt="2026-06-30T19:21:26.798" v="420" actId="255"/>
          <ac:spMkLst>
            <pc:docMk/>
            <pc:sldMk cId="0" sldId="263"/>
            <ac:spMk id="37" creationId="{00000000-0000-0000-0000-000000000000}"/>
          </ac:spMkLst>
        </pc:spChg>
        <pc:spChg chg="mod">
          <ac:chgData name="Laila Hamza" userId="37e3e0ed-4d92-4d8b-9466-2e38223b7fdf" providerId="ADAL" clId="{C4F51FD1-E34C-424C-8E22-3D0597D7201F}" dt="2026-06-30T19:21:26.798" v="420" actId="255"/>
          <ac:spMkLst>
            <pc:docMk/>
            <pc:sldMk cId="0" sldId="263"/>
            <ac:spMk id="38" creationId="{00000000-0000-0000-0000-000000000000}"/>
          </ac:spMkLst>
        </pc:spChg>
        <pc:spChg chg="mod">
          <ac:chgData name="Laila Hamza" userId="37e3e0ed-4d92-4d8b-9466-2e38223b7fdf" providerId="ADAL" clId="{C4F51FD1-E34C-424C-8E22-3D0597D7201F}" dt="2026-06-30T19:21:07.197" v="419" actId="255"/>
          <ac:spMkLst>
            <pc:docMk/>
            <pc:sldMk cId="0" sldId="263"/>
            <ac:spMk id="39" creationId="{00000000-0000-0000-0000-000000000000}"/>
          </ac:spMkLst>
        </pc:spChg>
        <pc:spChg chg="mod">
          <ac:chgData name="Laila Hamza" userId="37e3e0ed-4d92-4d8b-9466-2e38223b7fdf" providerId="ADAL" clId="{C4F51FD1-E34C-424C-8E22-3D0597D7201F}" dt="2026-06-30T19:21:07.197" v="419" actId="255"/>
          <ac:spMkLst>
            <pc:docMk/>
            <pc:sldMk cId="0" sldId="263"/>
            <ac:spMk id="40" creationId="{00000000-0000-0000-0000-000000000000}"/>
          </ac:spMkLst>
        </pc:spChg>
      </pc:sldChg>
      <pc:sldChg chg="modSp mod">
        <pc:chgData name="Laila Hamza" userId="37e3e0ed-4d92-4d8b-9466-2e38223b7fdf" providerId="ADAL" clId="{C4F51FD1-E34C-424C-8E22-3D0597D7201F}" dt="2026-06-30T19:22:29.281" v="445" actId="1036"/>
        <pc:sldMkLst>
          <pc:docMk/>
          <pc:sldMk cId="0" sldId="264"/>
        </pc:sldMkLst>
        <pc:spChg chg="mod">
          <ac:chgData name="Laila Hamza" userId="37e3e0ed-4d92-4d8b-9466-2e38223b7fdf" providerId="ADAL" clId="{C4F51FD1-E34C-424C-8E22-3D0597D7201F}" dt="2026-06-30T19:22:09.340" v="427" actId="255"/>
          <ac:spMkLst>
            <pc:docMk/>
            <pc:sldMk cId="0" sldId="264"/>
            <ac:spMk id="3" creationId="{00000000-0000-0000-0000-000000000000}"/>
          </ac:spMkLst>
        </pc:spChg>
        <pc:spChg chg="mod">
          <ac:chgData name="Laila Hamza" userId="37e3e0ed-4d92-4d8b-9466-2e38223b7fdf" providerId="ADAL" clId="{C4F51FD1-E34C-424C-8E22-3D0597D7201F}" dt="2026-06-30T19:22:29.281" v="445" actId="1036"/>
          <ac:spMkLst>
            <pc:docMk/>
            <pc:sldMk cId="0" sldId="264"/>
            <ac:spMk id="7" creationId="{00000000-0000-0000-0000-000000000000}"/>
          </ac:spMkLst>
        </pc:spChg>
        <pc:spChg chg="mod">
          <ac:chgData name="Laila Hamza" userId="37e3e0ed-4d92-4d8b-9466-2e38223b7fdf" providerId="ADAL" clId="{C4F51FD1-E34C-424C-8E22-3D0597D7201F}" dt="2026-06-30T19:22:29.281" v="445" actId="1036"/>
          <ac:spMkLst>
            <pc:docMk/>
            <pc:sldMk cId="0" sldId="264"/>
            <ac:spMk id="8" creationId="{00000000-0000-0000-0000-000000000000}"/>
          </ac:spMkLst>
        </pc:spChg>
        <pc:spChg chg="mod">
          <ac:chgData name="Laila Hamza" userId="37e3e0ed-4d92-4d8b-9466-2e38223b7fdf" providerId="ADAL" clId="{C4F51FD1-E34C-424C-8E22-3D0597D7201F}" dt="2026-06-30T19:22:29.281" v="445" actId="1036"/>
          <ac:spMkLst>
            <pc:docMk/>
            <pc:sldMk cId="0" sldId="264"/>
            <ac:spMk id="9" creationId="{00000000-0000-0000-0000-000000000000}"/>
          </ac:spMkLst>
        </pc:spChg>
        <pc:spChg chg="mod">
          <ac:chgData name="Laila Hamza" userId="37e3e0ed-4d92-4d8b-9466-2e38223b7fdf" providerId="ADAL" clId="{C4F51FD1-E34C-424C-8E22-3D0597D7201F}" dt="2026-06-30T19:22:29.281" v="445" actId="1036"/>
          <ac:spMkLst>
            <pc:docMk/>
            <pc:sldMk cId="0" sldId="264"/>
            <ac:spMk id="10" creationId="{00000000-0000-0000-0000-000000000000}"/>
          </ac:spMkLst>
        </pc:spChg>
        <pc:spChg chg="mod">
          <ac:chgData name="Laila Hamza" userId="37e3e0ed-4d92-4d8b-9466-2e38223b7fdf" providerId="ADAL" clId="{C4F51FD1-E34C-424C-8E22-3D0597D7201F}" dt="2026-06-30T19:22:29.281" v="445" actId="1036"/>
          <ac:spMkLst>
            <pc:docMk/>
            <pc:sldMk cId="0" sldId="264"/>
            <ac:spMk id="11" creationId="{00000000-0000-0000-0000-000000000000}"/>
          </ac:spMkLst>
        </pc:spChg>
        <pc:spChg chg="mod">
          <ac:chgData name="Laila Hamza" userId="37e3e0ed-4d92-4d8b-9466-2e38223b7fdf" providerId="ADAL" clId="{C4F51FD1-E34C-424C-8E22-3D0597D7201F}" dt="2026-06-30T19:22:29.281" v="445" actId="1036"/>
          <ac:spMkLst>
            <pc:docMk/>
            <pc:sldMk cId="0" sldId="264"/>
            <ac:spMk id="15" creationId="{00000000-0000-0000-0000-000000000000}"/>
          </ac:spMkLst>
        </pc:spChg>
        <pc:spChg chg="mod">
          <ac:chgData name="Laila Hamza" userId="37e3e0ed-4d92-4d8b-9466-2e38223b7fdf" providerId="ADAL" clId="{C4F51FD1-E34C-424C-8E22-3D0597D7201F}" dt="2026-06-30T19:22:29.281" v="445" actId="1036"/>
          <ac:spMkLst>
            <pc:docMk/>
            <pc:sldMk cId="0" sldId="264"/>
            <ac:spMk id="16" creationId="{00000000-0000-0000-0000-000000000000}"/>
          </ac:spMkLst>
        </pc:spChg>
        <pc:spChg chg="mod">
          <ac:chgData name="Laila Hamza" userId="37e3e0ed-4d92-4d8b-9466-2e38223b7fdf" providerId="ADAL" clId="{C4F51FD1-E34C-424C-8E22-3D0597D7201F}" dt="2026-06-30T19:22:29.281" v="445" actId="1036"/>
          <ac:spMkLst>
            <pc:docMk/>
            <pc:sldMk cId="0" sldId="264"/>
            <ac:spMk id="18" creationId="{00000000-0000-0000-0000-000000000000}"/>
          </ac:spMkLst>
        </pc:spChg>
        <pc:spChg chg="mod">
          <ac:chgData name="Laila Hamza" userId="37e3e0ed-4d92-4d8b-9466-2e38223b7fdf" providerId="ADAL" clId="{C4F51FD1-E34C-424C-8E22-3D0597D7201F}" dt="2026-06-30T19:22:29.281" v="445" actId="1036"/>
          <ac:spMkLst>
            <pc:docMk/>
            <pc:sldMk cId="0" sldId="264"/>
            <ac:spMk id="21" creationId="{00000000-0000-0000-0000-000000000000}"/>
          </ac:spMkLst>
        </pc:spChg>
        <pc:spChg chg="mod">
          <ac:chgData name="Laila Hamza" userId="37e3e0ed-4d92-4d8b-9466-2e38223b7fdf" providerId="ADAL" clId="{C4F51FD1-E34C-424C-8E22-3D0597D7201F}" dt="2026-06-30T19:22:29.281" v="445" actId="1036"/>
          <ac:spMkLst>
            <pc:docMk/>
            <pc:sldMk cId="0" sldId="264"/>
            <ac:spMk id="22" creationId="{00000000-0000-0000-0000-000000000000}"/>
          </ac:spMkLst>
        </pc:spChg>
      </pc:sldChg>
      <pc:sldChg chg="modSp mod">
        <pc:chgData name="Laila Hamza" userId="37e3e0ed-4d92-4d8b-9466-2e38223b7fdf" providerId="ADAL" clId="{C4F51FD1-E34C-424C-8E22-3D0597D7201F}" dt="2026-06-30T19:23:04.442" v="451" actId="1035"/>
        <pc:sldMkLst>
          <pc:docMk/>
          <pc:sldMk cId="0" sldId="265"/>
        </pc:sldMkLst>
        <pc:spChg chg="mod">
          <ac:chgData name="Laila Hamza" userId="37e3e0ed-4d92-4d8b-9466-2e38223b7fdf" providerId="ADAL" clId="{C4F51FD1-E34C-424C-8E22-3D0597D7201F}" dt="2026-06-30T17:49:42.915" v="258" actId="255"/>
          <ac:spMkLst>
            <pc:docMk/>
            <pc:sldMk cId="0" sldId="265"/>
            <ac:spMk id="3" creationId="{00000000-0000-0000-0000-000000000000}"/>
          </ac:spMkLst>
        </pc:spChg>
        <pc:spChg chg="mod">
          <ac:chgData name="Laila Hamza" userId="37e3e0ed-4d92-4d8b-9466-2e38223b7fdf" providerId="ADAL" clId="{C4F51FD1-E34C-424C-8E22-3D0597D7201F}" dt="2026-06-30T19:23:04.442" v="451" actId="1035"/>
          <ac:spMkLst>
            <pc:docMk/>
            <pc:sldMk cId="0" sldId="265"/>
            <ac:spMk id="9" creationId="{00000000-0000-0000-0000-000000000000}"/>
          </ac:spMkLst>
        </pc:spChg>
        <pc:spChg chg="mod">
          <ac:chgData name="Laila Hamza" userId="37e3e0ed-4d92-4d8b-9466-2e38223b7fdf" providerId="ADAL" clId="{C4F51FD1-E34C-424C-8E22-3D0597D7201F}" dt="2026-06-30T19:22:49.021" v="447" actId="255"/>
          <ac:spMkLst>
            <pc:docMk/>
            <pc:sldMk cId="0" sldId="265"/>
            <ac:spMk id="13" creationId="{00000000-0000-0000-0000-000000000000}"/>
          </ac:spMkLst>
        </pc:spChg>
        <pc:spChg chg="mod">
          <ac:chgData name="Laila Hamza" userId="37e3e0ed-4d92-4d8b-9466-2e38223b7fdf" providerId="ADAL" clId="{C4F51FD1-E34C-424C-8E22-3D0597D7201F}" dt="2026-06-30T19:22:44.119" v="446" actId="255"/>
          <ac:spMkLst>
            <pc:docMk/>
            <pc:sldMk cId="0" sldId="265"/>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122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Good [morning/afternoon]. My name is Laila Hamza and I'm presenting Money in Plain English — a financial awareness tool for recent college graduates.</a:t>
            </a:r>
          </a:p>
          <a:p>
            <a:endParaRPr dirty="0"/>
          </a:p>
          <a:p>
            <a:r>
              <a:rPr dirty="0"/>
              <a:t>The name says what it does. Most financial apps talk to you in the language of budgets, categories, and systems. This one talks to you the way a friend who happens to be good with money would: plainly, without judgment, in language that actually makes sense.</a:t>
            </a:r>
          </a:p>
          <a:p>
            <a:endParaRPr dirty="0"/>
          </a:p>
          <a:p>
            <a:r>
              <a:rPr dirty="0"/>
              <a:t>I'll walk you through the problem, what I learned from customers, the product, the business model, what I've built, and where I need help. I'll be transparent about what's validated, what's still an assumption, and what I know I need to go find out.</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This is the customer. She is not careless with money. She double-thinks purchases. She is paying attention. And she still can't hold the behavior.</a:t>
            </a:r>
          </a:p>
          <a:p>
            <a:endParaRPr dirty="0"/>
          </a:p>
          <a:p>
            <a:r>
              <a:rPr dirty="0"/>
              <a:t>The key insight from the interview: when I asked what she did after overspending, she didn't say she looked for a tool or tried to build a budget. She said she would "try and be more careful." That's a vague intention with no structure behind it. Two weeks later, the cycle repeats.</a:t>
            </a:r>
          </a:p>
          <a:p>
            <a:endParaRPr dirty="0"/>
          </a:p>
          <a:p>
            <a:r>
              <a:rPr dirty="0"/>
              <a:t>This finding changed the direction of what I'm building. I thought the problem was that people didn't know where their money went. Noor knows. The gap is what happens after she knows — nothing sticks.</a:t>
            </a:r>
          </a:p>
          <a:p>
            <a:endParaRPr dirty="0"/>
          </a:p>
          <a:p>
            <a:r>
              <a:rPr dirty="0"/>
              <a:t>Why it matters beyond Noor: roughly 4 million students graduate from US colleges each year and the vast majority enter their first jobs without a working financial system. Every year that gap stays open costs them savings momentum and compounding interest they won't easily recover.</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Two interviews is not enough to call anything confirmed. Every finding here is a signal, not a conclusion.</a:t>
            </a:r>
          </a:p>
          <a:p>
            <a:endParaRPr dirty="0"/>
          </a:p>
          <a:p>
            <a:r>
              <a:rPr dirty="0"/>
              <a:t>The finding that mattered most: Noor already has awareness. My entire original direction assumed people don't know where their money goes. She does. She just doesn't change. That's a different problem and it points toward a different product emphasis.</a:t>
            </a:r>
          </a:p>
          <a:p>
            <a:endParaRPr dirty="0"/>
          </a:p>
          <a:p>
            <a:r>
              <a:rPr dirty="0"/>
              <a:t>The Ben finding is uncomfortable and worth sitting with. He's not the target customer, but he represents a real question: at what point do people figure this out without a product? What separates him from Noor? I don't know yet. The answer would sharpen the target customer definition significantly.</a:t>
            </a:r>
          </a:p>
          <a:p>
            <a:endParaRPr dirty="0"/>
          </a:p>
          <a:p>
            <a:r>
              <a:rPr dirty="0"/>
              <a:t>The most important thing that fell out of these interviews that isn't on this slide: willingness to connect a bank account was never tested. Neither Noor nor Ben was asked whether they would share financial data with a new product. The entire product depends on this. It's the first question in the next round of interviews.</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The positioning is deliberate: we are not a budgeting app. Budgeting apps have a 30-year history of not working for this customer segment. They require setup, ongoing maintenance, and the assumption that you're ready to manage money. Our customer is not ready. She's trying to understand what happened last month.</a:t>
            </a:r>
          </a:p>
          <a:p>
            <a:endParaRPr dirty="0"/>
          </a:p>
          <a:p>
            <a:r>
              <a:rPr dirty="0"/>
              <a:t>The three steps map directly to the interview data. Noor doesn't need a new system. She needs to see clearly what's happening in her current situation, in language that doesn't require a financial background to interpret.</a:t>
            </a:r>
          </a:p>
          <a:p>
            <a:endParaRPr dirty="0"/>
          </a:p>
          <a:p>
            <a:r>
              <a:rPr dirty="0"/>
              <a:t>What I'm not claiming: that visibility alone solves the problem. This is still an open question from the interviews. The A/B test I've built tests two versions of the weekly message — one with data only, one with data plus a specific action recommendation — to find out whether awareness is enough or whether the product needs to do more. Those are genuinely different products with different complexity. The test result will tell me which one to build.</a:t>
            </a:r>
          </a:p>
          <a:p>
            <a:endParaRPr dirty="0"/>
          </a:p>
          <a:p>
            <a:r>
              <a:rPr dirty="0"/>
              <a:t>No working product exists yet. What exists is a landing page prototype, an A/B test mockup, and mock transaction data.</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The unit economics are structurally sound. A 70% gross margin on variable costs is normal for SaaS. The per-user numbers are not the problem.</a:t>
            </a:r>
          </a:p>
          <a:p>
            <a:endParaRPr dirty="0"/>
          </a:p>
          <a:p>
            <a:r>
              <a:rPr dirty="0"/>
              <a:t>The problem is timing. Institutional sales cycles run 6 to 18 months. The free consumer tier costs $0.89 per user per month from day one with zero revenue. The gap between the first free user and the first institutional check is roughly 18 to 24 months of operating at a loss. That is a capital problem, not a unit economics problem.</a:t>
            </a:r>
          </a:p>
          <a:p>
            <a:endParaRPr dirty="0"/>
          </a:p>
          <a:p>
            <a:r>
              <a:rPr dirty="0"/>
              <a:t>The most important thing to flag about this entire slide: the $3 PMPM base case is a competitive inference. It comes from research on what comparable programs — LearnLux, SmartDollar, iGrad — appear to charge. No buyer has been asked. This week I'm running pricing conversations with HR benefits managers to replace this number with a real quote. If the actual market rate is $1, the break-even timeline doubles. If it's $6, it drops to 21 months.</a:t>
            </a:r>
          </a:p>
          <a:p>
            <a:endParaRPr dirty="0"/>
          </a:p>
          <a:p>
            <a:r>
              <a:rPr dirty="0"/>
              <a:t>I also ran a stress test: one signed contract, 200 users, 20% annual churn. Monthly loss: $6,685. Break-even at one contract per quarter: 60 months. That is not a forecast. It is a signal that this model requires outside capital or a materially faster sales cycle than industry average.</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No working product has been built. What exists is infrastructure for learning: a landing page that communicates the value proposition, an A/B test framework, and realistic mock data.</a:t>
            </a:r>
          </a:p>
          <a:p>
            <a:endParaRPr dirty="0"/>
          </a:p>
          <a:p>
            <a:r>
              <a:rPr dirty="0"/>
              <a:t>The landing page was built to test whether the messaging resonates — specifically, whether opening with Noor's own words and the 'step before budgeting' framing makes someone want to sign up. The page is not live, which means it hasn't been tested with real traffic yet. That's the immediate gap.</a:t>
            </a:r>
          </a:p>
          <a:p>
            <a:endParaRPr dirty="0"/>
          </a:p>
          <a:p>
            <a:r>
              <a:rPr dirty="0"/>
              <a:t>The A/B test is the most analytically interesting thing here. Version A includes a specific suggestion: 'try a 3-day waiting period after payday.' Version B just shows the spending pattern. The question is whether naming the action changes behavior more than naming the pattern. The answer tells me whether I'm building a visibility tool or a habit coach. Those are genuinely different products.</a:t>
            </a:r>
          </a:p>
          <a:p>
            <a:endParaRPr dirty="0"/>
          </a:p>
          <a:p>
            <a:r>
              <a:rPr dirty="0"/>
              <a:t>What I need to do before the next milestone: get the landing page live. Netlify takes a static HTML file and hosts it for free in under 10 minutes. Once it's live, I can share the URL in interviews and observe who actually signs up versus who just says they would.</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I want to be honest about where traction stands: it's pre-traction. Two interviews, three prototypes, a pricing test in progress. No sign-ups, no payments. That's appropriate for week 5 — the product doesn't exist yet.</a:t>
            </a:r>
          </a:p>
          <a:p>
            <a:endParaRPr dirty="0"/>
          </a:p>
          <a:p>
            <a:r>
              <a:rPr dirty="0"/>
              <a:t>What I'm not going to do is dress this up with leading indicators that don't exist. The traction column is a list of real things that happened, and the zeros are real zeros.</a:t>
            </a:r>
          </a:p>
          <a:p>
            <a:endParaRPr dirty="0"/>
          </a:p>
          <a:p>
            <a:r>
              <a:rPr dirty="0"/>
              <a:t>The institutional pricing test is the most important activity this week. One conversation with an HR benefits manager who tells me what her company pays for financial wellness programs replaces the most load-bearing assumption in my entire financial model. If the answer is $6, my model is conservative. If it's $1, I need to rebuild every break-even calculation. One phone call.</a:t>
            </a:r>
          </a:p>
          <a:p>
            <a:endParaRPr dirty="0"/>
          </a:p>
          <a:p>
            <a:r>
              <a:rPr dirty="0"/>
              <a:t>If pricing test results are available before this presentation, they should replace this flag. If not, this slide is accurate as-of June 30.</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This is the most important slide in the deck from a learning standpoint and I want to spend real time on it.</a:t>
            </a:r>
          </a:p>
          <a:p>
            <a:endParaRPr dirty="0"/>
          </a:p>
          <a:p>
            <a:r>
              <a:rPr dirty="0"/>
              <a:t>The problem pivot: I built the original direction on the assumption that people don't know where their money goes. Noor knows. She just doesn't change. That's a sharper, more specific problem — and it points to a different product emphasis. Not just showing data, but catching users at the moment of resolve.</a:t>
            </a:r>
          </a:p>
          <a:p>
            <a:endParaRPr dirty="0"/>
          </a:p>
          <a:p>
            <a:r>
              <a:rPr dirty="0"/>
              <a:t>The revenue model pivot was driven by stress-testing, not interviews. When I traced exactly who writes the check, when, and what triggers it, the B2C subscription broke at acquisition. Noor hasn't asked for the product, hasn't paid for anything like it, and would need to pay before experiencing value. That sequence fails. Freemium removes the barrier; institutional revenue fixes the economics.</a:t>
            </a:r>
          </a:p>
          <a:p>
            <a:endParaRPr dirty="0"/>
          </a:p>
          <a:p>
            <a:r>
              <a:rPr dirty="0"/>
              <a:t>The AI assumption: I designed an AI product without ever asking a target customer whether AI was what they wanted or needed. Noor's magic fix was 'shop smarter' and 'appreciate what I already have.' That's behavioral and psychological, not technological. The AI layer may still be the right mechanism — but it needs to be validated, not assumed. That is the most exposed assumption left in the direction.</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These three priorities are in order of importance, and the sequencing matters.</a:t>
            </a:r>
          </a:p>
          <a:p>
            <a:endParaRPr dirty="0"/>
          </a:p>
          <a:p>
            <a:r>
              <a:rPr dirty="0"/>
              <a:t>Institutional pricing is first because it's the single number that most affects whether the business model works. Everything else — break-even, runway, investor story — cascades from whether $3 PMPM is in range. If it's not, I need to know now, before building six months of roadmap around a wrong number.</a:t>
            </a:r>
          </a:p>
          <a:p>
            <a:endParaRPr dirty="0"/>
          </a:p>
          <a:p>
            <a:r>
              <a:rPr dirty="0"/>
              <a:t>More interviews come second because I have one target customer data point. Noor may be atypical. The patterns I've found — the awareness-behavior gap, the vague resolve cycle — need to hold across multiple people before I can treat them as real. Three to five interviews would give me enough to start drawing conclusions versus just tracking signals. The bank account question is the most important thing to add to these interviews.</a:t>
            </a:r>
          </a:p>
          <a:p>
            <a:endParaRPr dirty="0"/>
          </a:p>
          <a:p>
            <a:r>
              <a:rPr dirty="0"/>
              <a:t>Deploying the landing page is third but the fastest to execute. It takes less than an hour and it's the only way to start collecting behavioral signal — someone actually signing up — rather than stated intent in an interview. I should be collecting this now.</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dirty="0"/>
          </a:p>
        </p:txBody>
      </p:sp>
      <p:sp>
        <p:nvSpPr>
          <p:cNvPr id="3" name="Notes Placeholder 2"/>
          <p:cNvSpPr>
            <a:spLocks noGrp="1"/>
          </p:cNvSpPr>
          <p:nvPr>
            <p:ph type="body" sz="quarter" idx="3"/>
          </p:nvPr>
        </p:nvSpPr>
        <p:spPr/>
        <p:txBody>
          <a:bodyPr/>
          <a:lstStyle/>
          <a:p>
            <a:r>
              <a:rPr dirty="0"/>
              <a:t>The HR introduction is the most important ask. I want to be specific about what I'm looking for: not a sales conversation, a research conversation. Fifteen minutes with someone who can tell me what their company currently pays for financial wellness programs. That number either validates the $3 to $6 PMPM range my model depends on or tells me I need to rethink the entire revenue side.</a:t>
            </a:r>
          </a:p>
          <a:p>
            <a:endParaRPr dirty="0"/>
          </a:p>
          <a:p>
            <a:r>
              <a:rPr dirty="0"/>
              <a:t>The target customer interviews are the second ask. I've talked to one person who fits the profile. Three to five more conversations would either confirm the patterns I found or tell me Noor is an outlier. Either outcome is valuable and would directly change what I build.</a:t>
            </a:r>
          </a:p>
          <a:p>
            <a:endParaRPr dirty="0"/>
          </a:p>
          <a:p>
            <a:r>
              <a:rPr dirty="0"/>
              <a:t>The structural timing question is the longest-horizon ask. If anyone has experience with B2B2C businesses — or knows founders who sold institutional software to HR departments or universities — I'd genuinely like to understand how they navigated the period between free users and first institutional revenue.</a:t>
            </a:r>
          </a:p>
          <a:p>
            <a:endParaRPr dirty="0"/>
          </a:p>
          <a:p>
            <a:r>
              <a:rPr dirty="0"/>
              <a:t>Thank you for your time. Happy to take questions.</a:t>
            </a:r>
          </a:p>
        </p:txBody>
      </p:sp>
      <p:sp>
        <p:nvSpPr>
          <p:cNvPr id="4" name="Slide Number Placeholder 3"/>
          <p:cNvSpPr>
            <a:spLocks noGrp="1"/>
          </p:cNvSpPr>
          <p:nvPr>
            <p:ph type="sldNum" sz="quarter" idx="5"/>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6775704"/>
            <a:ext cx="12188952" cy="8229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4" name="Picture 3" descr="logo.png"/>
          <p:cNvPicPr>
            <a:picLocks noChangeAspect="1"/>
          </p:cNvPicPr>
          <p:nvPr/>
        </p:nvPicPr>
        <p:blipFill>
          <a:blip r:embed="rId3"/>
          <a:stretch>
            <a:fillRect/>
          </a:stretch>
        </p:blipFill>
        <p:spPr>
          <a:xfrm>
            <a:off x="3102964" y="540370"/>
            <a:ext cx="5643272" cy="3349258"/>
          </a:xfrm>
          <a:prstGeom prst="rect">
            <a:avLst/>
          </a:prstGeom>
        </p:spPr>
      </p:pic>
      <p:sp>
        <p:nvSpPr>
          <p:cNvPr id="5" name="TextBox 4"/>
          <p:cNvSpPr txBox="1"/>
          <p:nvPr/>
        </p:nvSpPr>
        <p:spPr>
          <a:xfrm>
            <a:off x="1828800" y="3685328"/>
            <a:ext cx="8531352" cy="457200"/>
          </a:xfrm>
          <a:prstGeom prst="rect">
            <a:avLst/>
          </a:prstGeom>
          <a:noFill/>
        </p:spPr>
        <p:txBody>
          <a:bodyPr wrap="square"/>
          <a:lstStyle/>
          <a:p>
            <a:pPr algn="ctr"/>
            <a:r>
              <a:rPr lang="en-US" sz="1600" i="1" dirty="0">
                <a:solidFill>
                  <a:srgbClr val="87B89D"/>
                </a:solidFill>
                <a:latin typeface="Lato"/>
              </a:rPr>
              <a:t>Awareness before budgeting</a:t>
            </a:r>
            <a:endParaRPr sz="1600" b="0" i="1" dirty="0">
              <a:solidFill>
                <a:srgbClr val="87B89D"/>
              </a:solidFill>
              <a:latin typeface="Lato"/>
            </a:endParaRPr>
          </a:p>
        </p:txBody>
      </p:sp>
      <p:sp>
        <p:nvSpPr>
          <p:cNvPr id="6" name="Rectangle 5"/>
          <p:cNvSpPr/>
          <p:nvPr/>
        </p:nvSpPr>
        <p:spPr>
          <a:xfrm>
            <a:off x="4114800" y="3530930"/>
            <a:ext cx="3959352" cy="18288"/>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1828800" y="4684122"/>
            <a:ext cx="8531352" cy="457200"/>
          </a:xfrm>
          <a:prstGeom prst="rect">
            <a:avLst/>
          </a:prstGeom>
          <a:noFill/>
        </p:spPr>
        <p:txBody>
          <a:bodyPr wrap="square"/>
          <a:lstStyle/>
          <a:p>
            <a:pPr algn="ctr"/>
            <a:r>
              <a:rPr sz="2000" b="1" i="0" dirty="0">
                <a:solidFill>
                  <a:srgbClr val="2D2D2D"/>
                </a:solidFill>
                <a:latin typeface="Nunito"/>
              </a:rPr>
              <a:t>Laila Hamza</a:t>
            </a:r>
          </a:p>
        </p:txBody>
      </p:sp>
      <p:sp>
        <p:nvSpPr>
          <p:cNvPr id="8" name="TextBox 7"/>
          <p:cNvSpPr txBox="1"/>
          <p:nvPr/>
        </p:nvSpPr>
        <p:spPr>
          <a:xfrm>
            <a:off x="1828800" y="5057979"/>
            <a:ext cx="8531352" cy="347472"/>
          </a:xfrm>
          <a:prstGeom prst="rect">
            <a:avLst/>
          </a:prstGeom>
          <a:noFill/>
        </p:spPr>
        <p:txBody>
          <a:bodyPr wrap="square"/>
          <a:lstStyle/>
          <a:p>
            <a:pPr algn="ctr"/>
            <a:r>
              <a:rPr sz="1500" b="0" i="0" dirty="0">
                <a:solidFill>
                  <a:srgbClr val="6B7280"/>
                </a:solidFill>
                <a:latin typeface="Lato"/>
              </a:rPr>
              <a:t>June 30, 2026</a:t>
            </a:r>
          </a:p>
        </p:txBody>
      </p:sp>
      <p:sp>
        <p:nvSpPr>
          <p:cNvPr id="9" name="TextBox 8"/>
          <p:cNvSpPr txBox="1"/>
          <p:nvPr/>
        </p:nvSpPr>
        <p:spPr>
          <a:xfrm>
            <a:off x="1828800" y="5765964"/>
            <a:ext cx="8531352" cy="320040"/>
          </a:xfrm>
          <a:prstGeom prst="rect">
            <a:avLst/>
          </a:prstGeom>
          <a:noFill/>
        </p:spPr>
        <p:txBody>
          <a:bodyPr wrap="square"/>
          <a:lstStyle/>
          <a:p>
            <a:pPr algn="ctr"/>
            <a:r>
              <a:rPr sz="1300" b="0" i="0" dirty="0">
                <a:solidFill>
                  <a:srgbClr val="87B89D"/>
                </a:solidFill>
                <a:latin typeface="Lato"/>
              </a:rPr>
              <a:t>BUS 395: Venture Creation with AI  ·  Rollins College  ·  Summer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202966"/>
            <a:ext cx="10789920" cy="621792"/>
          </a:xfrm>
          <a:prstGeom prst="rect">
            <a:avLst/>
          </a:prstGeom>
          <a:noFill/>
        </p:spPr>
        <p:txBody>
          <a:bodyPr wrap="square"/>
          <a:lstStyle/>
          <a:p>
            <a:pPr algn="l"/>
            <a:r>
              <a:rPr sz="3200" b="1" i="0" dirty="0">
                <a:solidFill>
                  <a:srgbClr val="5A9171"/>
                </a:solidFill>
                <a:latin typeface="Nunito"/>
              </a:rPr>
              <a:t>The Problem</a:t>
            </a:r>
          </a:p>
        </p:txBody>
      </p:sp>
      <p:sp>
        <p:nvSpPr>
          <p:cNvPr id="4" name="TextBox 3"/>
          <p:cNvSpPr txBox="1"/>
          <p:nvPr/>
        </p:nvSpPr>
        <p:spPr>
          <a:xfrm>
            <a:off x="548640" y="731520"/>
            <a:ext cx="10789920" cy="329184"/>
          </a:xfrm>
          <a:prstGeom prst="rect">
            <a:avLst/>
          </a:prstGeom>
          <a:noFill/>
        </p:spPr>
        <p:txBody>
          <a:bodyPr wrap="square"/>
          <a:lstStyle/>
          <a:p>
            <a:pPr algn="l"/>
            <a:r>
              <a:rPr sz="1500" b="0" i="0" dirty="0">
                <a:solidFill>
                  <a:srgbClr val="87B89D"/>
                </a:solidFill>
                <a:latin typeface="Lato"/>
              </a:rPr>
              <a:t>Who has it and why it matters</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2</a:t>
            </a:r>
          </a:p>
        </p:txBody>
      </p:sp>
      <p:sp>
        <p:nvSpPr>
          <p:cNvPr id="7" name="TextBox 6"/>
          <p:cNvSpPr txBox="1"/>
          <p:nvPr/>
        </p:nvSpPr>
        <p:spPr>
          <a:xfrm>
            <a:off x="548640" y="1260372"/>
            <a:ext cx="5486400" cy="502920"/>
          </a:xfrm>
          <a:prstGeom prst="rect">
            <a:avLst/>
          </a:prstGeom>
          <a:noFill/>
        </p:spPr>
        <p:txBody>
          <a:bodyPr wrap="square"/>
          <a:lstStyle/>
          <a:p>
            <a:pPr algn="l"/>
            <a:r>
              <a:rPr sz="1500" b="0" i="0" dirty="0">
                <a:solidFill>
                  <a:srgbClr val="2D2D2D"/>
                </a:solidFill>
                <a:latin typeface="Lato"/>
              </a:rPr>
              <a:t>Recent college graduates entering financial independence face a specific, repeating cycle:</a:t>
            </a:r>
          </a:p>
        </p:txBody>
      </p:sp>
      <p:sp>
        <p:nvSpPr>
          <p:cNvPr id="8" name="Rectangle 7"/>
          <p:cNvSpPr/>
          <p:nvPr/>
        </p:nvSpPr>
        <p:spPr>
          <a:xfrm>
            <a:off x="548640" y="2300089"/>
            <a:ext cx="54864" cy="21945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777240" y="2217793"/>
            <a:ext cx="5120640" cy="384048"/>
          </a:xfrm>
          <a:prstGeom prst="rect">
            <a:avLst/>
          </a:prstGeom>
          <a:noFill/>
        </p:spPr>
        <p:txBody>
          <a:bodyPr wrap="square"/>
          <a:lstStyle/>
          <a:p>
            <a:pPr algn="l"/>
            <a:r>
              <a:rPr sz="1400" b="0" i="0" dirty="0">
                <a:solidFill>
                  <a:srgbClr val="2D2D2D"/>
                </a:solidFill>
                <a:latin typeface="Lato"/>
              </a:rPr>
              <a:t>They overspend — usually right after payday.</a:t>
            </a:r>
          </a:p>
        </p:txBody>
      </p:sp>
      <p:sp>
        <p:nvSpPr>
          <p:cNvPr id="10" name="Rectangle 9"/>
          <p:cNvSpPr/>
          <p:nvPr/>
        </p:nvSpPr>
        <p:spPr>
          <a:xfrm>
            <a:off x="548640" y="2757289"/>
            <a:ext cx="54864" cy="21945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777240" y="2674993"/>
            <a:ext cx="5120640" cy="384048"/>
          </a:xfrm>
          <a:prstGeom prst="rect">
            <a:avLst/>
          </a:prstGeom>
          <a:noFill/>
        </p:spPr>
        <p:txBody>
          <a:bodyPr wrap="square"/>
          <a:lstStyle/>
          <a:p>
            <a:pPr algn="l"/>
            <a:r>
              <a:rPr sz="1400" b="0" i="0" dirty="0">
                <a:solidFill>
                  <a:srgbClr val="2D2D2D"/>
                </a:solidFill>
                <a:latin typeface="Lato"/>
              </a:rPr>
              <a:t>They notice. They feel bad. They resolve to do better.</a:t>
            </a:r>
          </a:p>
        </p:txBody>
      </p:sp>
      <p:sp>
        <p:nvSpPr>
          <p:cNvPr id="12" name="Rectangle 11"/>
          <p:cNvSpPr/>
          <p:nvPr/>
        </p:nvSpPr>
        <p:spPr>
          <a:xfrm>
            <a:off x="548640" y="3214489"/>
            <a:ext cx="54864" cy="21945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777240" y="3132193"/>
            <a:ext cx="5120640" cy="384048"/>
          </a:xfrm>
          <a:prstGeom prst="rect">
            <a:avLst/>
          </a:prstGeom>
          <a:noFill/>
        </p:spPr>
        <p:txBody>
          <a:bodyPr wrap="square"/>
          <a:lstStyle/>
          <a:p>
            <a:pPr algn="l"/>
            <a:r>
              <a:rPr sz="1400" b="0" i="0" dirty="0">
                <a:solidFill>
                  <a:srgbClr val="2D2D2D"/>
                </a:solidFill>
                <a:latin typeface="Lato"/>
              </a:rPr>
              <a:t>Two weeks later, it happens again.</a:t>
            </a:r>
          </a:p>
        </p:txBody>
      </p:sp>
      <p:sp>
        <p:nvSpPr>
          <p:cNvPr id="14" name="TextBox 13"/>
          <p:cNvSpPr txBox="1"/>
          <p:nvPr/>
        </p:nvSpPr>
        <p:spPr>
          <a:xfrm>
            <a:off x="548640" y="3738543"/>
            <a:ext cx="5486400" cy="640080"/>
          </a:xfrm>
          <a:prstGeom prst="rect">
            <a:avLst/>
          </a:prstGeom>
          <a:noFill/>
        </p:spPr>
        <p:txBody>
          <a:bodyPr wrap="square"/>
          <a:lstStyle/>
          <a:p>
            <a:pPr algn="l"/>
            <a:r>
              <a:rPr sz="1300" b="0" i="1" dirty="0">
                <a:solidFill>
                  <a:srgbClr val="6B7280"/>
                </a:solidFill>
                <a:latin typeface="Lato"/>
              </a:rPr>
              <a:t>The problem is not that they lack information. It's that awareness without structure doesn't produce sustained change.</a:t>
            </a:r>
          </a:p>
        </p:txBody>
      </p:sp>
      <p:sp>
        <p:nvSpPr>
          <p:cNvPr id="15" name="TextBox 14"/>
          <p:cNvSpPr txBox="1"/>
          <p:nvPr/>
        </p:nvSpPr>
        <p:spPr>
          <a:xfrm>
            <a:off x="548640" y="4738091"/>
            <a:ext cx="5486400" cy="256032"/>
          </a:xfrm>
          <a:prstGeom prst="rect">
            <a:avLst/>
          </a:prstGeom>
          <a:noFill/>
        </p:spPr>
        <p:txBody>
          <a:bodyPr wrap="square"/>
          <a:lstStyle/>
          <a:p>
            <a:pPr algn="l"/>
            <a:r>
              <a:rPr sz="1200" b="1" i="0" dirty="0">
                <a:solidFill>
                  <a:srgbClr val="87B89D"/>
                </a:solidFill>
                <a:latin typeface="Lato"/>
              </a:rPr>
              <a:t>WHO HAS IT</a:t>
            </a:r>
          </a:p>
        </p:txBody>
      </p:sp>
      <p:sp>
        <p:nvSpPr>
          <p:cNvPr id="16" name="TextBox 15"/>
          <p:cNvSpPr txBox="1"/>
          <p:nvPr/>
        </p:nvSpPr>
        <p:spPr>
          <a:xfrm>
            <a:off x="548640" y="5042387"/>
            <a:ext cx="5486400" cy="594360"/>
          </a:xfrm>
          <a:prstGeom prst="rect">
            <a:avLst/>
          </a:prstGeom>
          <a:noFill/>
        </p:spPr>
        <p:txBody>
          <a:bodyPr wrap="square"/>
          <a:lstStyle/>
          <a:p>
            <a:pPr algn="l"/>
            <a:r>
              <a:rPr sz="1300" b="0" i="0" dirty="0">
                <a:solidFill>
                  <a:srgbClr val="2D2D2D"/>
                </a:solidFill>
                <a:latin typeface="Lato"/>
              </a:rPr>
              <a:t>Recent graduates, first real job, managing rent + student loans + credit cards simultaneously — no financial system, operating on intention alone.</a:t>
            </a:r>
          </a:p>
        </p:txBody>
      </p:sp>
      <p:sp>
        <p:nvSpPr>
          <p:cNvPr id="17" name="Rectangle 16"/>
          <p:cNvSpPr/>
          <p:nvPr/>
        </p:nvSpPr>
        <p:spPr>
          <a:xfrm>
            <a:off x="6492240" y="1115568"/>
            <a:ext cx="5212080" cy="4370832"/>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ectangle 17"/>
          <p:cNvSpPr/>
          <p:nvPr/>
        </p:nvSpPr>
        <p:spPr>
          <a:xfrm>
            <a:off x="6492240" y="1115568"/>
            <a:ext cx="54864" cy="437083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TextBox 18"/>
          <p:cNvSpPr txBox="1"/>
          <p:nvPr/>
        </p:nvSpPr>
        <p:spPr>
          <a:xfrm>
            <a:off x="6720840" y="1508760"/>
            <a:ext cx="4754880" cy="2926080"/>
          </a:xfrm>
          <a:prstGeom prst="rect">
            <a:avLst/>
          </a:prstGeom>
          <a:noFill/>
        </p:spPr>
        <p:txBody>
          <a:bodyPr wrap="square"/>
          <a:lstStyle/>
          <a:p>
            <a:pPr algn="l"/>
            <a:r>
              <a:rPr sz="1600" b="0" i="1" dirty="0">
                <a:solidFill>
                  <a:srgbClr val="2D2D2D"/>
                </a:solidFill>
                <a:latin typeface="Lato"/>
              </a:rPr>
              <a:t>“The sheer amount of it. On top of saving money to move out, I also have other expenses — credit cards, gas, student loans. I try to be careful. I double-think every purchase. But I still don’t feel on top of it.”</a:t>
            </a:r>
          </a:p>
        </p:txBody>
      </p:sp>
      <p:sp>
        <p:nvSpPr>
          <p:cNvPr id="20" name="TextBox 19"/>
          <p:cNvSpPr txBox="1"/>
          <p:nvPr/>
        </p:nvSpPr>
        <p:spPr>
          <a:xfrm>
            <a:off x="6720840" y="4572000"/>
            <a:ext cx="4754880" cy="685800"/>
          </a:xfrm>
          <a:prstGeom prst="rect">
            <a:avLst/>
          </a:prstGeom>
          <a:noFill/>
        </p:spPr>
        <p:txBody>
          <a:bodyPr wrap="square"/>
          <a:lstStyle/>
          <a:p>
            <a:pPr algn="l"/>
            <a:r>
              <a:rPr sz="1200" b="0" i="0" dirty="0">
                <a:solidFill>
                  <a:srgbClr val="6B7280"/>
                </a:solidFill>
                <a:latin typeface="Lato"/>
              </a:rPr>
              <a:t>— Noor, 24
Recent master’s graduate · First full-time job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72986"/>
            <a:ext cx="10789920" cy="621792"/>
          </a:xfrm>
          <a:prstGeom prst="rect">
            <a:avLst/>
          </a:prstGeom>
          <a:noFill/>
        </p:spPr>
        <p:txBody>
          <a:bodyPr wrap="square"/>
          <a:lstStyle/>
          <a:p>
            <a:pPr algn="l"/>
            <a:r>
              <a:rPr sz="3200" b="1" i="0" dirty="0">
                <a:solidFill>
                  <a:srgbClr val="5A9171"/>
                </a:solidFill>
                <a:latin typeface="Nunito"/>
              </a:rPr>
              <a:t>What I Learned</a:t>
            </a:r>
          </a:p>
        </p:txBody>
      </p:sp>
      <p:sp>
        <p:nvSpPr>
          <p:cNvPr id="4" name="TextBox 3"/>
          <p:cNvSpPr txBox="1"/>
          <p:nvPr/>
        </p:nvSpPr>
        <p:spPr>
          <a:xfrm>
            <a:off x="548640" y="746510"/>
            <a:ext cx="10789920" cy="329184"/>
          </a:xfrm>
          <a:prstGeom prst="rect">
            <a:avLst/>
          </a:prstGeom>
          <a:noFill/>
        </p:spPr>
        <p:txBody>
          <a:bodyPr wrap="square"/>
          <a:lstStyle/>
          <a:p>
            <a:pPr algn="l"/>
            <a:r>
              <a:rPr sz="1300" b="0" i="0" dirty="0">
                <a:solidFill>
                  <a:srgbClr val="87B89D"/>
                </a:solidFill>
                <a:latin typeface="Lato"/>
              </a:rPr>
              <a:t>2 interviews · 1 target customer (Noor, 24) · 1 outside target (Ben, 36)</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3</a:t>
            </a:r>
          </a:p>
        </p:txBody>
      </p:sp>
      <p:sp>
        <p:nvSpPr>
          <p:cNvPr id="7" name="Rectangle 6"/>
          <p:cNvSpPr/>
          <p:nvPr/>
        </p:nvSpPr>
        <p:spPr>
          <a:xfrm>
            <a:off x="457200" y="1691784"/>
            <a:ext cx="365760" cy="365760"/>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57200" y="1673496"/>
            <a:ext cx="365760" cy="365760"/>
          </a:xfrm>
          <a:prstGeom prst="rect">
            <a:avLst/>
          </a:prstGeom>
          <a:noFill/>
        </p:spPr>
        <p:txBody>
          <a:bodyPr wrap="square"/>
          <a:lstStyle/>
          <a:p>
            <a:pPr algn="ctr"/>
            <a:r>
              <a:rPr sz="1400" b="1" i="0" dirty="0">
                <a:solidFill>
                  <a:srgbClr val="FFFFFF"/>
                </a:solidFill>
                <a:latin typeface="Nunito"/>
              </a:rPr>
              <a:t>1</a:t>
            </a:r>
          </a:p>
        </p:txBody>
      </p:sp>
      <p:sp>
        <p:nvSpPr>
          <p:cNvPr id="9" name="TextBox 8"/>
          <p:cNvSpPr txBox="1"/>
          <p:nvPr/>
        </p:nvSpPr>
        <p:spPr>
          <a:xfrm>
            <a:off x="1024128" y="1655208"/>
            <a:ext cx="10607040" cy="320040"/>
          </a:xfrm>
          <a:prstGeom prst="rect">
            <a:avLst/>
          </a:prstGeom>
          <a:noFill/>
        </p:spPr>
        <p:txBody>
          <a:bodyPr wrap="square"/>
          <a:lstStyle/>
          <a:p>
            <a:pPr algn="l"/>
            <a:r>
              <a:rPr sz="1400" b="1" i="0" dirty="0">
                <a:solidFill>
                  <a:srgbClr val="2D2D2D"/>
                </a:solidFill>
                <a:latin typeface="Nunito"/>
              </a:rPr>
              <a:t>The awareness hypothesis is incomplete.</a:t>
            </a:r>
          </a:p>
        </p:txBody>
      </p:sp>
      <p:sp>
        <p:nvSpPr>
          <p:cNvPr id="10" name="TextBox 9"/>
          <p:cNvSpPr txBox="1"/>
          <p:nvPr/>
        </p:nvSpPr>
        <p:spPr>
          <a:xfrm>
            <a:off x="1024128" y="1975248"/>
            <a:ext cx="10607040" cy="502920"/>
          </a:xfrm>
          <a:prstGeom prst="rect">
            <a:avLst/>
          </a:prstGeom>
          <a:noFill/>
        </p:spPr>
        <p:txBody>
          <a:bodyPr wrap="square"/>
          <a:lstStyle/>
          <a:p>
            <a:pPr algn="l"/>
            <a:r>
              <a:rPr sz="1300" b="0" i="0" dirty="0">
                <a:solidFill>
                  <a:srgbClr val="6B7280"/>
                </a:solidFill>
                <a:latin typeface="Lato"/>
              </a:rPr>
              <a:t>Noor already monitors her spending consciously and can describe her pattern clearly. Awareness is present — and still not enough. The gap is what happens after someone realizes they overspent and nothing changes.</a:t>
            </a:r>
          </a:p>
        </p:txBody>
      </p:sp>
      <p:sp>
        <p:nvSpPr>
          <p:cNvPr id="11" name="Rectangle 10"/>
          <p:cNvSpPr/>
          <p:nvPr/>
        </p:nvSpPr>
        <p:spPr>
          <a:xfrm>
            <a:off x="457200" y="2606184"/>
            <a:ext cx="11274552"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a:xfrm>
            <a:off x="457200" y="2770776"/>
            <a:ext cx="365760" cy="365760"/>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457200" y="2752488"/>
            <a:ext cx="365760" cy="365760"/>
          </a:xfrm>
          <a:prstGeom prst="rect">
            <a:avLst/>
          </a:prstGeom>
          <a:noFill/>
        </p:spPr>
        <p:txBody>
          <a:bodyPr wrap="square"/>
          <a:lstStyle/>
          <a:p>
            <a:pPr algn="ctr"/>
            <a:r>
              <a:rPr sz="1400" b="1" i="0" dirty="0">
                <a:solidFill>
                  <a:srgbClr val="FFFFFF"/>
                </a:solidFill>
                <a:latin typeface="Nunito"/>
              </a:rPr>
              <a:t>2</a:t>
            </a:r>
          </a:p>
        </p:txBody>
      </p:sp>
      <p:sp>
        <p:nvSpPr>
          <p:cNvPr id="14" name="TextBox 13"/>
          <p:cNvSpPr txBox="1"/>
          <p:nvPr/>
        </p:nvSpPr>
        <p:spPr>
          <a:xfrm>
            <a:off x="1024128" y="2734200"/>
            <a:ext cx="10607040" cy="320040"/>
          </a:xfrm>
          <a:prstGeom prst="rect">
            <a:avLst/>
          </a:prstGeom>
          <a:noFill/>
        </p:spPr>
        <p:txBody>
          <a:bodyPr wrap="square"/>
          <a:lstStyle/>
          <a:p>
            <a:pPr algn="l"/>
            <a:r>
              <a:rPr sz="1400" b="1" i="0" dirty="0">
                <a:solidFill>
                  <a:srgbClr val="2D2D2D"/>
                </a:solidFill>
                <a:latin typeface="Nunito"/>
              </a:rPr>
              <a:t>Neither interviewee asked for a product.</a:t>
            </a:r>
          </a:p>
        </p:txBody>
      </p:sp>
      <p:sp>
        <p:nvSpPr>
          <p:cNvPr id="15" name="TextBox 14"/>
          <p:cNvSpPr txBox="1"/>
          <p:nvPr/>
        </p:nvSpPr>
        <p:spPr>
          <a:xfrm>
            <a:off x="1024128" y="3054240"/>
            <a:ext cx="10607040" cy="502920"/>
          </a:xfrm>
          <a:prstGeom prst="rect">
            <a:avLst/>
          </a:prstGeom>
          <a:noFill/>
        </p:spPr>
        <p:txBody>
          <a:bodyPr wrap="square"/>
          <a:lstStyle/>
          <a:p>
            <a:pPr algn="l"/>
            <a:r>
              <a:rPr sz="1300" b="0" i="0" dirty="0">
                <a:solidFill>
                  <a:srgbClr val="6B7280"/>
                </a:solidFill>
                <a:latin typeface="Lato"/>
              </a:rPr>
              <a:t>Both described their “magic fix” in behavioral terms. Noor: “shop smarter, appreciate what I already have.” Ben: “automated saving toward goals.” No one asked for an app, a dashboard, or AI.</a:t>
            </a:r>
          </a:p>
        </p:txBody>
      </p:sp>
      <p:sp>
        <p:nvSpPr>
          <p:cNvPr id="16" name="Rectangle 15"/>
          <p:cNvSpPr/>
          <p:nvPr/>
        </p:nvSpPr>
        <p:spPr>
          <a:xfrm>
            <a:off x="457200" y="3685176"/>
            <a:ext cx="11274552"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Rectangle 16"/>
          <p:cNvSpPr/>
          <p:nvPr/>
        </p:nvSpPr>
        <p:spPr>
          <a:xfrm>
            <a:off x="457200" y="3849768"/>
            <a:ext cx="365760" cy="365760"/>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457200" y="3831480"/>
            <a:ext cx="365760" cy="365760"/>
          </a:xfrm>
          <a:prstGeom prst="rect">
            <a:avLst/>
          </a:prstGeom>
          <a:noFill/>
        </p:spPr>
        <p:txBody>
          <a:bodyPr wrap="square"/>
          <a:lstStyle/>
          <a:p>
            <a:pPr algn="ctr"/>
            <a:r>
              <a:rPr sz="1400" b="1" i="0" dirty="0">
                <a:solidFill>
                  <a:srgbClr val="FFFFFF"/>
                </a:solidFill>
                <a:latin typeface="Nunito"/>
              </a:rPr>
              <a:t>3</a:t>
            </a:r>
          </a:p>
        </p:txBody>
      </p:sp>
      <p:sp>
        <p:nvSpPr>
          <p:cNvPr id="19" name="TextBox 18"/>
          <p:cNvSpPr txBox="1"/>
          <p:nvPr/>
        </p:nvSpPr>
        <p:spPr>
          <a:xfrm>
            <a:off x="1024128" y="3813192"/>
            <a:ext cx="10607040" cy="320040"/>
          </a:xfrm>
          <a:prstGeom prst="rect">
            <a:avLst/>
          </a:prstGeom>
          <a:noFill/>
        </p:spPr>
        <p:txBody>
          <a:bodyPr wrap="square"/>
          <a:lstStyle/>
          <a:p>
            <a:pPr algn="l"/>
            <a:r>
              <a:rPr sz="1400" b="1" i="0" dirty="0">
                <a:solidFill>
                  <a:srgbClr val="2D2D2D"/>
                </a:solidFill>
                <a:latin typeface="Nunito"/>
              </a:rPr>
              <a:t>Someone outside the target solved it himself — for free.</a:t>
            </a:r>
          </a:p>
        </p:txBody>
      </p:sp>
      <p:sp>
        <p:nvSpPr>
          <p:cNvPr id="20" name="TextBox 19"/>
          <p:cNvSpPr txBox="1"/>
          <p:nvPr/>
        </p:nvSpPr>
        <p:spPr>
          <a:xfrm>
            <a:off x="1024128" y="4133232"/>
            <a:ext cx="10607040" cy="502920"/>
          </a:xfrm>
          <a:prstGeom prst="rect">
            <a:avLst/>
          </a:prstGeom>
          <a:noFill/>
        </p:spPr>
        <p:txBody>
          <a:bodyPr wrap="square"/>
          <a:lstStyle/>
          <a:p>
            <a:pPr algn="l"/>
            <a:r>
              <a:rPr sz="1300" b="0" i="0" dirty="0">
                <a:solidFill>
                  <a:srgbClr val="6B7280"/>
                </a:solidFill>
                <a:latin typeface="Lato"/>
              </a:rPr>
              <a:t>Ben, 36, built a clean financial system with two bank accounts and his bank’s native app. Cost: $0. No product needed. This challenges the assumption that a new tool is what the market requires.</a:t>
            </a:r>
          </a:p>
        </p:txBody>
      </p:sp>
      <p:sp>
        <p:nvSpPr>
          <p:cNvPr id="21" name="Rectangle 20"/>
          <p:cNvSpPr/>
          <p:nvPr/>
        </p:nvSpPr>
        <p:spPr>
          <a:xfrm>
            <a:off x="457200" y="4764168"/>
            <a:ext cx="11274552"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Rectangle 21"/>
          <p:cNvSpPr/>
          <p:nvPr/>
        </p:nvSpPr>
        <p:spPr>
          <a:xfrm>
            <a:off x="457200" y="4928760"/>
            <a:ext cx="365760" cy="365760"/>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p:cNvSpPr txBox="1"/>
          <p:nvPr/>
        </p:nvSpPr>
        <p:spPr>
          <a:xfrm>
            <a:off x="457200" y="4910472"/>
            <a:ext cx="365760" cy="365760"/>
          </a:xfrm>
          <a:prstGeom prst="rect">
            <a:avLst/>
          </a:prstGeom>
          <a:noFill/>
        </p:spPr>
        <p:txBody>
          <a:bodyPr wrap="square"/>
          <a:lstStyle/>
          <a:p>
            <a:pPr algn="ctr"/>
            <a:r>
              <a:rPr sz="1400" b="1" i="0" dirty="0">
                <a:solidFill>
                  <a:srgbClr val="FFFFFF"/>
                </a:solidFill>
                <a:latin typeface="Nunito"/>
              </a:rPr>
              <a:t>4</a:t>
            </a:r>
          </a:p>
        </p:txBody>
      </p:sp>
      <p:sp>
        <p:nvSpPr>
          <p:cNvPr id="24" name="TextBox 23"/>
          <p:cNvSpPr txBox="1"/>
          <p:nvPr/>
        </p:nvSpPr>
        <p:spPr>
          <a:xfrm>
            <a:off x="1024128" y="4892184"/>
            <a:ext cx="10607040" cy="320040"/>
          </a:xfrm>
          <a:prstGeom prst="rect">
            <a:avLst/>
          </a:prstGeom>
          <a:noFill/>
        </p:spPr>
        <p:txBody>
          <a:bodyPr wrap="square"/>
          <a:lstStyle/>
          <a:p>
            <a:pPr algn="l"/>
            <a:r>
              <a:rPr sz="1400" b="1" i="0" dirty="0">
                <a:solidFill>
                  <a:srgbClr val="2D2D2D"/>
                </a:solidFill>
                <a:latin typeface="Nunito"/>
              </a:rPr>
              <a:t>There is a specific moment a product could intervene.</a:t>
            </a:r>
          </a:p>
        </p:txBody>
      </p:sp>
      <p:sp>
        <p:nvSpPr>
          <p:cNvPr id="25" name="TextBox 24"/>
          <p:cNvSpPr txBox="1"/>
          <p:nvPr/>
        </p:nvSpPr>
        <p:spPr>
          <a:xfrm>
            <a:off x="1024128" y="5212224"/>
            <a:ext cx="10607040" cy="502920"/>
          </a:xfrm>
          <a:prstGeom prst="rect">
            <a:avLst/>
          </a:prstGeom>
          <a:noFill/>
        </p:spPr>
        <p:txBody>
          <a:bodyPr wrap="square"/>
          <a:lstStyle/>
          <a:p>
            <a:pPr algn="l"/>
            <a:r>
              <a:rPr sz="1300" b="0" i="0" dirty="0">
                <a:solidFill>
                  <a:srgbClr val="6B7280"/>
                </a:solidFill>
                <a:latin typeface="Lato"/>
              </a:rPr>
              <a:t>After overspending, Noor resolves to “be more careful” — a vague intention with no structure. No current competitor catches users at that moment and converts the resolve into a specific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57996"/>
            <a:ext cx="10789920" cy="621792"/>
          </a:xfrm>
          <a:prstGeom prst="rect">
            <a:avLst/>
          </a:prstGeom>
          <a:noFill/>
        </p:spPr>
        <p:txBody>
          <a:bodyPr wrap="square"/>
          <a:lstStyle/>
          <a:p>
            <a:pPr algn="l"/>
            <a:r>
              <a:rPr sz="3200" b="1" i="0" dirty="0">
                <a:solidFill>
                  <a:srgbClr val="5A9171"/>
                </a:solidFill>
                <a:latin typeface="Nunito"/>
              </a:rPr>
              <a:t>My Solution</a:t>
            </a:r>
          </a:p>
        </p:txBody>
      </p:sp>
      <p:sp>
        <p:nvSpPr>
          <p:cNvPr id="4" name="TextBox 3"/>
          <p:cNvSpPr txBox="1"/>
          <p:nvPr/>
        </p:nvSpPr>
        <p:spPr>
          <a:xfrm>
            <a:off x="548640" y="731520"/>
            <a:ext cx="10789920" cy="329184"/>
          </a:xfrm>
          <a:prstGeom prst="rect">
            <a:avLst/>
          </a:prstGeom>
          <a:noFill/>
        </p:spPr>
        <p:txBody>
          <a:bodyPr wrap="square"/>
          <a:lstStyle/>
          <a:p>
            <a:pPr algn="l"/>
            <a:r>
              <a:rPr sz="1300" b="0" i="0" dirty="0">
                <a:solidFill>
                  <a:srgbClr val="87B89D"/>
                </a:solidFill>
                <a:latin typeface="Lato"/>
              </a:rPr>
              <a:t>The step that comes </a:t>
            </a:r>
            <a:r>
              <a:rPr sz="1300" b="0" i="1" u="sng" dirty="0">
                <a:solidFill>
                  <a:srgbClr val="87B89D"/>
                </a:solidFill>
                <a:latin typeface="Lato"/>
              </a:rPr>
              <a:t>before</a:t>
            </a:r>
            <a:r>
              <a:rPr sz="1300" b="0" i="0" dirty="0">
                <a:solidFill>
                  <a:srgbClr val="87B89D"/>
                </a:solidFill>
                <a:latin typeface="Lato"/>
              </a:rPr>
              <a:t> budgeting</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4</a:t>
            </a:r>
          </a:p>
        </p:txBody>
      </p:sp>
      <p:sp>
        <p:nvSpPr>
          <p:cNvPr id="7" name="TextBox 6"/>
          <p:cNvSpPr txBox="1"/>
          <p:nvPr/>
        </p:nvSpPr>
        <p:spPr>
          <a:xfrm>
            <a:off x="548640" y="1145548"/>
            <a:ext cx="11064240" cy="914400"/>
          </a:xfrm>
          <a:prstGeom prst="rect">
            <a:avLst/>
          </a:prstGeom>
          <a:noFill/>
        </p:spPr>
        <p:txBody>
          <a:bodyPr wrap="square"/>
          <a:lstStyle/>
          <a:p>
            <a:pPr algn="l"/>
            <a:r>
              <a:rPr sz="2000" b="0" i="0" dirty="0">
                <a:solidFill>
                  <a:srgbClr val="2D2D2D"/>
                </a:solidFill>
                <a:latin typeface="Nunito"/>
              </a:rPr>
              <a:t>An AI-connected tool that automatically links to your bank, categorizes your spending, and sends a plain-language summary of where your money went — once a week, no setup required, no budget to build.</a:t>
            </a:r>
          </a:p>
        </p:txBody>
      </p:sp>
      <p:sp>
        <p:nvSpPr>
          <p:cNvPr id="8" name="Rectangle 7"/>
          <p:cNvSpPr/>
          <p:nvPr/>
        </p:nvSpPr>
        <p:spPr>
          <a:xfrm>
            <a:off x="548640" y="2212848"/>
            <a:ext cx="11064240" cy="27432"/>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548640" y="2385834"/>
            <a:ext cx="11064240" cy="256032"/>
          </a:xfrm>
          <a:prstGeom prst="rect">
            <a:avLst/>
          </a:prstGeom>
          <a:noFill/>
        </p:spPr>
        <p:txBody>
          <a:bodyPr wrap="square"/>
          <a:lstStyle/>
          <a:p>
            <a:pPr algn="l"/>
            <a:r>
              <a:rPr sz="1200" b="1" i="0" dirty="0">
                <a:solidFill>
                  <a:srgbClr val="87B89D"/>
                </a:solidFill>
                <a:latin typeface="Lato"/>
              </a:rPr>
              <a:t>WHAT MAKES IT DIFFERENT</a:t>
            </a:r>
          </a:p>
        </p:txBody>
      </p:sp>
      <p:sp>
        <p:nvSpPr>
          <p:cNvPr id="10" name="TextBox 9"/>
          <p:cNvSpPr txBox="1"/>
          <p:nvPr/>
        </p:nvSpPr>
        <p:spPr>
          <a:xfrm>
            <a:off x="548640" y="2723412"/>
            <a:ext cx="11064240" cy="658368"/>
          </a:xfrm>
          <a:prstGeom prst="rect">
            <a:avLst/>
          </a:prstGeom>
          <a:noFill/>
        </p:spPr>
        <p:txBody>
          <a:bodyPr wrap="square"/>
          <a:lstStyle/>
          <a:p>
            <a:pPr algn="l"/>
            <a:r>
              <a:rPr sz="1400" b="0" i="0" dirty="0">
                <a:solidFill>
                  <a:srgbClr val="2D2D2D"/>
                </a:solidFill>
                <a:latin typeface="Lato"/>
              </a:rPr>
              <a:t>Every major competitor — YNAB, Monarch Money, EveryDollar — assumes you are ready to manage your money. They open with budgets, categories, and systems. We start one step before that: helping you see what’s happening before asking you to change anything.</a:t>
            </a:r>
          </a:p>
        </p:txBody>
      </p:sp>
      <p:grpSp>
        <p:nvGrpSpPr>
          <p:cNvPr id="26" name="Group 25">
            <a:extLst>
              <a:ext uri="{FF2B5EF4-FFF2-40B4-BE49-F238E27FC236}">
                <a16:creationId xmlns:a16="http://schemas.microsoft.com/office/drawing/2014/main" id="{10DA1B78-67FF-3340-9670-EC56F48B8E94}"/>
              </a:ext>
            </a:extLst>
          </p:cNvPr>
          <p:cNvGrpSpPr/>
          <p:nvPr/>
        </p:nvGrpSpPr>
        <p:grpSpPr>
          <a:xfrm>
            <a:off x="773490" y="3668840"/>
            <a:ext cx="10552176" cy="2194560"/>
            <a:chOff x="548640" y="3429000"/>
            <a:chExt cx="10552176" cy="2194560"/>
          </a:xfrm>
        </p:grpSpPr>
        <p:sp>
          <p:nvSpPr>
            <p:cNvPr id="11" name="Rectangle 10"/>
            <p:cNvSpPr/>
            <p:nvPr/>
          </p:nvSpPr>
          <p:spPr>
            <a:xfrm>
              <a:off x="548640" y="3429000"/>
              <a:ext cx="3383280" cy="2194560"/>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a:xfrm>
              <a:off x="548640" y="3429000"/>
              <a:ext cx="3383280" cy="45720"/>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731520" y="3538728"/>
              <a:ext cx="457200" cy="457200"/>
            </a:xfrm>
            <a:prstGeom prst="rect">
              <a:avLst/>
            </a:prstGeom>
            <a:noFill/>
          </p:spPr>
          <p:txBody>
            <a:bodyPr wrap="square"/>
            <a:lstStyle/>
            <a:p>
              <a:pPr algn="l"/>
              <a:r>
                <a:rPr sz="2600" b="1" i="0" dirty="0">
                  <a:solidFill>
                    <a:srgbClr val="5A9171"/>
                  </a:solidFill>
                  <a:latin typeface="Nunito"/>
                </a:rPr>
                <a:t>1</a:t>
              </a:r>
            </a:p>
          </p:txBody>
        </p:sp>
        <p:sp>
          <p:nvSpPr>
            <p:cNvPr id="14" name="TextBox 13"/>
            <p:cNvSpPr txBox="1"/>
            <p:nvPr/>
          </p:nvSpPr>
          <p:spPr>
            <a:xfrm>
              <a:off x="731520" y="3995928"/>
              <a:ext cx="3017520" cy="347472"/>
            </a:xfrm>
            <a:prstGeom prst="rect">
              <a:avLst/>
            </a:prstGeom>
            <a:noFill/>
          </p:spPr>
          <p:txBody>
            <a:bodyPr wrap="square"/>
            <a:lstStyle/>
            <a:p>
              <a:pPr algn="l"/>
              <a:r>
                <a:rPr sz="1500" b="1" i="0" dirty="0">
                  <a:solidFill>
                    <a:srgbClr val="2D2D2D"/>
                  </a:solidFill>
                  <a:latin typeface="Nunito"/>
                </a:rPr>
                <a:t>Connect</a:t>
              </a:r>
            </a:p>
          </p:txBody>
        </p:sp>
        <p:sp>
          <p:nvSpPr>
            <p:cNvPr id="15" name="TextBox 14"/>
            <p:cNvSpPr txBox="1"/>
            <p:nvPr/>
          </p:nvSpPr>
          <p:spPr>
            <a:xfrm>
              <a:off x="731520" y="4343400"/>
              <a:ext cx="3017520" cy="1097280"/>
            </a:xfrm>
            <a:prstGeom prst="rect">
              <a:avLst/>
            </a:prstGeom>
            <a:noFill/>
          </p:spPr>
          <p:txBody>
            <a:bodyPr wrap="square"/>
            <a:lstStyle/>
            <a:p>
              <a:pPr algn="l"/>
              <a:r>
                <a:rPr sz="1300" b="0" i="0" dirty="0">
                  <a:solidFill>
                    <a:srgbClr val="6B7280"/>
                  </a:solidFill>
                  <a:latin typeface="Lato"/>
                </a:rPr>
                <a:t>Link your bank in two minutes. No manual entry. The product reads what’s already happening in your accounts.</a:t>
              </a:r>
            </a:p>
          </p:txBody>
        </p:sp>
        <p:sp>
          <p:nvSpPr>
            <p:cNvPr id="16" name="Rectangle 15"/>
            <p:cNvSpPr/>
            <p:nvPr/>
          </p:nvSpPr>
          <p:spPr>
            <a:xfrm>
              <a:off x="4133088" y="3429000"/>
              <a:ext cx="3383280" cy="2194560"/>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Rectangle 16"/>
            <p:cNvSpPr/>
            <p:nvPr/>
          </p:nvSpPr>
          <p:spPr>
            <a:xfrm>
              <a:off x="4133088" y="3429000"/>
              <a:ext cx="3383280" cy="45720"/>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4315968" y="3538728"/>
              <a:ext cx="457200" cy="457200"/>
            </a:xfrm>
            <a:prstGeom prst="rect">
              <a:avLst/>
            </a:prstGeom>
            <a:noFill/>
          </p:spPr>
          <p:txBody>
            <a:bodyPr wrap="square"/>
            <a:lstStyle/>
            <a:p>
              <a:pPr algn="l"/>
              <a:r>
                <a:rPr sz="2600" b="1" i="0" dirty="0">
                  <a:solidFill>
                    <a:srgbClr val="5A9171"/>
                  </a:solidFill>
                  <a:latin typeface="Nunito"/>
                </a:rPr>
                <a:t>2</a:t>
              </a:r>
            </a:p>
          </p:txBody>
        </p:sp>
        <p:sp>
          <p:nvSpPr>
            <p:cNvPr id="19" name="TextBox 18"/>
            <p:cNvSpPr txBox="1"/>
            <p:nvPr/>
          </p:nvSpPr>
          <p:spPr>
            <a:xfrm>
              <a:off x="4315968" y="3995928"/>
              <a:ext cx="3017520" cy="347472"/>
            </a:xfrm>
            <a:prstGeom prst="rect">
              <a:avLst/>
            </a:prstGeom>
            <a:noFill/>
          </p:spPr>
          <p:txBody>
            <a:bodyPr wrap="square"/>
            <a:lstStyle/>
            <a:p>
              <a:pPr algn="l"/>
              <a:r>
                <a:rPr sz="1500" b="1" i="0" dirty="0">
                  <a:solidFill>
                    <a:srgbClr val="2D2D2D"/>
                  </a:solidFill>
                  <a:latin typeface="Nunito"/>
                </a:rPr>
                <a:t>Receive</a:t>
              </a:r>
            </a:p>
          </p:txBody>
        </p:sp>
        <p:sp>
          <p:nvSpPr>
            <p:cNvPr id="20" name="TextBox 19"/>
            <p:cNvSpPr txBox="1"/>
            <p:nvPr/>
          </p:nvSpPr>
          <p:spPr>
            <a:xfrm>
              <a:off x="4315968" y="4343400"/>
              <a:ext cx="3017520" cy="1097280"/>
            </a:xfrm>
            <a:prstGeom prst="rect">
              <a:avLst/>
            </a:prstGeom>
            <a:noFill/>
          </p:spPr>
          <p:txBody>
            <a:bodyPr wrap="square"/>
            <a:lstStyle/>
            <a:p>
              <a:pPr algn="l"/>
              <a:r>
                <a:rPr sz="1300" b="0" i="0" dirty="0">
                  <a:solidFill>
                    <a:srgbClr val="6B7280"/>
                  </a:solidFill>
                  <a:latin typeface="Lato"/>
                </a:rPr>
                <a:t>Every week: a plain-English snapshot of where your money went. No financial jargon. No spreadsheets.</a:t>
              </a:r>
            </a:p>
          </p:txBody>
        </p:sp>
        <p:sp>
          <p:nvSpPr>
            <p:cNvPr id="21" name="Rectangle 20"/>
            <p:cNvSpPr/>
            <p:nvPr/>
          </p:nvSpPr>
          <p:spPr>
            <a:xfrm>
              <a:off x="7717536" y="3429000"/>
              <a:ext cx="3383280" cy="2194560"/>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Rectangle 21"/>
            <p:cNvSpPr/>
            <p:nvPr/>
          </p:nvSpPr>
          <p:spPr>
            <a:xfrm>
              <a:off x="7717536" y="3429000"/>
              <a:ext cx="3383280" cy="45720"/>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TextBox 22"/>
            <p:cNvSpPr txBox="1"/>
            <p:nvPr/>
          </p:nvSpPr>
          <p:spPr>
            <a:xfrm>
              <a:off x="7900416" y="3538728"/>
              <a:ext cx="457200" cy="457200"/>
            </a:xfrm>
            <a:prstGeom prst="rect">
              <a:avLst/>
            </a:prstGeom>
            <a:noFill/>
          </p:spPr>
          <p:txBody>
            <a:bodyPr wrap="square"/>
            <a:lstStyle/>
            <a:p>
              <a:pPr algn="l"/>
              <a:r>
                <a:rPr sz="2600" b="1" i="0" dirty="0">
                  <a:solidFill>
                    <a:srgbClr val="5A9171"/>
                  </a:solidFill>
                  <a:latin typeface="Nunito"/>
                </a:rPr>
                <a:t>3</a:t>
              </a:r>
            </a:p>
          </p:txBody>
        </p:sp>
        <p:sp>
          <p:nvSpPr>
            <p:cNvPr id="24" name="TextBox 23"/>
            <p:cNvSpPr txBox="1"/>
            <p:nvPr/>
          </p:nvSpPr>
          <p:spPr>
            <a:xfrm>
              <a:off x="7900416" y="3995928"/>
              <a:ext cx="3017520" cy="347472"/>
            </a:xfrm>
            <a:prstGeom prst="rect">
              <a:avLst/>
            </a:prstGeom>
            <a:noFill/>
          </p:spPr>
          <p:txBody>
            <a:bodyPr wrap="square"/>
            <a:lstStyle/>
            <a:p>
              <a:pPr algn="l"/>
              <a:r>
                <a:rPr sz="1500" b="1" i="0" dirty="0">
                  <a:solidFill>
                    <a:srgbClr val="2D2D2D"/>
                  </a:solidFill>
                  <a:latin typeface="Nunito"/>
                </a:rPr>
                <a:t>Know</a:t>
              </a:r>
            </a:p>
          </p:txBody>
        </p:sp>
        <p:sp>
          <p:nvSpPr>
            <p:cNvPr id="25" name="TextBox 24"/>
            <p:cNvSpPr txBox="1"/>
            <p:nvPr/>
          </p:nvSpPr>
          <p:spPr>
            <a:xfrm>
              <a:off x="7900416" y="4343400"/>
              <a:ext cx="3017520" cy="1097280"/>
            </a:xfrm>
            <a:prstGeom prst="rect">
              <a:avLst/>
            </a:prstGeom>
            <a:noFill/>
          </p:spPr>
          <p:txBody>
            <a:bodyPr wrap="square"/>
            <a:lstStyle/>
            <a:p>
              <a:pPr algn="l"/>
              <a:r>
                <a:rPr sz="1300" b="0" i="0" dirty="0">
                  <a:solidFill>
                    <a:srgbClr val="6B7280"/>
                  </a:solidFill>
                  <a:latin typeface="Lato"/>
                </a:rPr>
                <a:t>When you decide to “be more careful,” you have something specific to look at — not just a feeling.</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57996"/>
            <a:ext cx="10789920" cy="621792"/>
          </a:xfrm>
          <a:prstGeom prst="rect">
            <a:avLst/>
          </a:prstGeom>
          <a:noFill/>
        </p:spPr>
        <p:txBody>
          <a:bodyPr wrap="square"/>
          <a:lstStyle/>
          <a:p>
            <a:pPr algn="l"/>
            <a:r>
              <a:rPr sz="3200" b="1" i="0" dirty="0">
                <a:solidFill>
                  <a:srgbClr val="5A9171"/>
                </a:solidFill>
                <a:latin typeface="Nunito"/>
              </a:rPr>
              <a:t>Revenue Model &amp; Unit Economics</a:t>
            </a:r>
          </a:p>
        </p:txBody>
      </p:sp>
      <p:sp>
        <p:nvSpPr>
          <p:cNvPr id="4" name="TextBox 3"/>
          <p:cNvSpPr txBox="1"/>
          <p:nvPr/>
        </p:nvSpPr>
        <p:spPr>
          <a:xfrm>
            <a:off x="548640" y="731520"/>
            <a:ext cx="10789920" cy="329184"/>
          </a:xfrm>
          <a:prstGeom prst="rect">
            <a:avLst/>
          </a:prstGeom>
          <a:noFill/>
        </p:spPr>
        <p:txBody>
          <a:bodyPr wrap="square"/>
          <a:lstStyle/>
          <a:p>
            <a:pPr algn="l"/>
            <a:r>
              <a:rPr sz="1300" b="0" i="0" dirty="0">
                <a:solidFill>
                  <a:srgbClr val="87B89D"/>
                </a:solidFill>
                <a:latin typeface="Lato"/>
              </a:rPr>
              <a:t>Freemium → B2B2C</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5</a:t>
            </a:r>
          </a:p>
        </p:txBody>
      </p:sp>
      <p:sp>
        <p:nvSpPr>
          <p:cNvPr id="7" name="TextBox 6"/>
          <p:cNvSpPr txBox="1"/>
          <p:nvPr/>
        </p:nvSpPr>
        <p:spPr>
          <a:xfrm>
            <a:off x="548640" y="1115568"/>
            <a:ext cx="11064240" cy="256032"/>
          </a:xfrm>
          <a:prstGeom prst="rect">
            <a:avLst/>
          </a:prstGeom>
          <a:noFill/>
        </p:spPr>
        <p:txBody>
          <a:bodyPr wrap="square"/>
          <a:lstStyle/>
          <a:p>
            <a:pPr algn="l"/>
            <a:r>
              <a:rPr sz="1000" b="1" i="0" dirty="0">
                <a:solidFill>
                  <a:srgbClr val="87B89D"/>
                </a:solidFill>
                <a:latin typeface="Lato"/>
              </a:rPr>
              <a:t>HOW MONEY MOVES</a:t>
            </a:r>
          </a:p>
        </p:txBody>
      </p:sp>
      <p:sp>
        <p:nvSpPr>
          <p:cNvPr id="8" name="TextBox 7"/>
          <p:cNvSpPr txBox="1"/>
          <p:nvPr/>
        </p:nvSpPr>
        <p:spPr>
          <a:xfrm>
            <a:off x="548640" y="1389888"/>
            <a:ext cx="11064240" cy="530352"/>
          </a:xfrm>
          <a:prstGeom prst="rect">
            <a:avLst/>
          </a:prstGeom>
          <a:noFill/>
        </p:spPr>
        <p:txBody>
          <a:bodyPr wrap="square"/>
          <a:lstStyle/>
          <a:p>
            <a:pPr algn="l"/>
            <a:r>
              <a:rPr sz="1400" b="0" i="0" dirty="0">
                <a:solidFill>
                  <a:srgbClr val="2D2D2D"/>
                </a:solidFill>
                <a:latin typeface="Lato"/>
              </a:rPr>
              <a:t>Consumer tier is free. Revenue comes from employers and universities paying per-member-per-month (PMPM) to offer the product as a benefit. No consumer revenue in the model.</a:t>
            </a:r>
          </a:p>
        </p:txBody>
      </p:sp>
      <p:sp>
        <p:nvSpPr>
          <p:cNvPr id="9" name="Rectangle 8"/>
          <p:cNvSpPr/>
          <p:nvPr/>
        </p:nvSpPr>
        <p:spPr>
          <a:xfrm>
            <a:off x="457200" y="2103120"/>
            <a:ext cx="5394960" cy="3611880"/>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594360" y="2231136"/>
            <a:ext cx="5166360" cy="256032"/>
          </a:xfrm>
          <a:prstGeom prst="rect">
            <a:avLst/>
          </a:prstGeom>
          <a:noFill/>
        </p:spPr>
        <p:txBody>
          <a:bodyPr wrap="square"/>
          <a:lstStyle/>
          <a:p>
            <a:pPr algn="l"/>
            <a:r>
              <a:rPr sz="900" b="1" i="0" dirty="0">
                <a:solidFill>
                  <a:srgbClr val="87B89D"/>
                </a:solidFill>
                <a:latin typeface="Lato"/>
              </a:rPr>
              <a:t>UNIT ECONOMICS — PER INSTITUTIONAL USER / MONTH</a:t>
            </a:r>
          </a:p>
        </p:txBody>
      </p:sp>
      <p:sp>
        <p:nvSpPr>
          <p:cNvPr id="11" name="TextBox 10"/>
          <p:cNvSpPr txBox="1"/>
          <p:nvPr/>
        </p:nvSpPr>
        <p:spPr>
          <a:xfrm>
            <a:off x="640080" y="2578608"/>
            <a:ext cx="3657600" cy="347472"/>
          </a:xfrm>
          <a:prstGeom prst="rect">
            <a:avLst/>
          </a:prstGeom>
          <a:noFill/>
        </p:spPr>
        <p:txBody>
          <a:bodyPr wrap="square"/>
          <a:lstStyle/>
          <a:p>
            <a:pPr algn="l"/>
            <a:r>
              <a:rPr sz="1200" b="0" i="0" dirty="0">
                <a:solidFill>
                  <a:srgbClr val="2D2D2D"/>
                </a:solidFill>
                <a:latin typeface="Lato"/>
              </a:rPr>
              <a:t>Revenue (base case — ASSUMPTION)</a:t>
            </a:r>
          </a:p>
        </p:txBody>
      </p:sp>
      <p:sp>
        <p:nvSpPr>
          <p:cNvPr id="12" name="TextBox 11"/>
          <p:cNvSpPr txBox="1"/>
          <p:nvPr/>
        </p:nvSpPr>
        <p:spPr>
          <a:xfrm>
            <a:off x="4343400" y="2578608"/>
            <a:ext cx="1280160" cy="347472"/>
          </a:xfrm>
          <a:prstGeom prst="rect">
            <a:avLst/>
          </a:prstGeom>
          <a:noFill/>
        </p:spPr>
        <p:txBody>
          <a:bodyPr wrap="square"/>
          <a:lstStyle/>
          <a:p>
            <a:pPr algn="r"/>
            <a:r>
              <a:rPr sz="1200" b="0" i="0" dirty="0">
                <a:solidFill>
                  <a:srgbClr val="2D2D2D"/>
                </a:solidFill>
                <a:latin typeface="Lato"/>
              </a:rPr>
              <a:t>$3.00</a:t>
            </a:r>
          </a:p>
        </p:txBody>
      </p:sp>
      <p:sp>
        <p:nvSpPr>
          <p:cNvPr id="13" name="TextBox 12"/>
          <p:cNvSpPr txBox="1"/>
          <p:nvPr/>
        </p:nvSpPr>
        <p:spPr>
          <a:xfrm>
            <a:off x="640080" y="2926080"/>
            <a:ext cx="3657600" cy="347472"/>
          </a:xfrm>
          <a:prstGeom prst="rect">
            <a:avLst/>
          </a:prstGeom>
          <a:noFill/>
        </p:spPr>
        <p:txBody>
          <a:bodyPr wrap="square"/>
          <a:lstStyle/>
          <a:p>
            <a:pPr algn="l"/>
            <a:r>
              <a:rPr sz="1200" b="0" i="0" dirty="0">
                <a:solidFill>
                  <a:srgbClr val="2D2D2D"/>
                </a:solidFill>
                <a:latin typeface="Lato"/>
              </a:rPr>
              <a:t>Plaid — bank aggregation</a:t>
            </a:r>
          </a:p>
        </p:txBody>
      </p:sp>
      <p:sp>
        <p:nvSpPr>
          <p:cNvPr id="14" name="TextBox 13"/>
          <p:cNvSpPr txBox="1"/>
          <p:nvPr/>
        </p:nvSpPr>
        <p:spPr>
          <a:xfrm>
            <a:off x="4343400" y="2926080"/>
            <a:ext cx="1280160" cy="347472"/>
          </a:xfrm>
          <a:prstGeom prst="rect">
            <a:avLst/>
          </a:prstGeom>
          <a:noFill/>
        </p:spPr>
        <p:txBody>
          <a:bodyPr wrap="square"/>
          <a:lstStyle/>
          <a:p>
            <a:pPr algn="r"/>
            <a:r>
              <a:rPr sz="1200" b="0" i="0" dirty="0">
                <a:solidFill>
                  <a:srgbClr val="2D2D2D"/>
                </a:solidFill>
                <a:latin typeface="Lato"/>
              </a:rPr>
              <a:t>($0.45)</a:t>
            </a:r>
          </a:p>
        </p:txBody>
      </p:sp>
      <p:sp>
        <p:nvSpPr>
          <p:cNvPr id="15" name="TextBox 14"/>
          <p:cNvSpPr txBox="1"/>
          <p:nvPr/>
        </p:nvSpPr>
        <p:spPr>
          <a:xfrm>
            <a:off x="640080" y="3273552"/>
            <a:ext cx="3657600" cy="347472"/>
          </a:xfrm>
          <a:prstGeom prst="rect">
            <a:avLst/>
          </a:prstGeom>
          <a:noFill/>
        </p:spPr>
        <p:txBody>
          <a:bodyPr wrap="square"/>
          <a:lstStyle/>
          <a:p>
            <a:pPr algn="l"/>
            <a:r>
              <a:rPr sz="1200" b="0" i="0" dirty="0">
                <a:solidFill>
                  <a:srgbClr val="2D2D2D"/>
                </a:solidFill>
                <a:latin typeface="Lato"/>
              </a:rPr>
              <a:t>Hosting / infrastructure</a:t>
            </a:r>
          </a:p>
        </p:txBody>
      </p:sp>
      <p:sp>
        <p:nvSpPr>
          <p:cNvPr id="16" name="TextBox 15"/>
          <p:cNvSpPr txBox="1"/>
          <p:nvPr/>
        </p:nvSpPr>
        <p:spPr>
          <a:xfrm>
            <a:off x="4343400" y="3273552"/>
            <a:ext cx="1280160" cy="347472"/>
          </a:xfrm>
          <a:prstGeom prst="rect">
            <a:avLst/>
          </a:prstGeom>
          <a:noFill/>
        </p:spPr>
        <p:txBody>
          <a:bodyPr wrap="square"/>
          <a:lstStyle/>
          <a:p>
            <a:pPr algn="r"/>
            <a:r>
              <a:rPr sz="1200" b="0" i="0" dirty="0">
                <a:solidFill>
                  <a:srgbClr val="2D2D2D"/>
                </a:solidFill>
                <a:latin typeface="Lato"/>
              </a:rPr>
              <a:t>($0.25)</a:t>
            </a:r>
          </a:p>
        </p:txBody>
      </p:sp>
      <p:sp>
        <p:nvSpPr>
          <p:cNvPr id="17" name="TextBox 16"/>
          <p:cNvSpPr txBox="1"/>
          <p:nvPr/>
        </p:nvSpPr>
        <p:spPr>
          <a:xfrm>
            <a:off x="640080" y="3621024"/>
            <a:ext cx="3657600" cy="347472"/>
          </a:xfrm>
          <a:prstGeom prst="rect">
            <a:avLst/>
          </a:prstGeom>
          <a:noFill/>
        </p:spPr>
        <p:txBody>
          <a:bodyPr wrap="square"/>
          <a:lstStyle/>
          <a:p>
            <a:pPr algn="l"/>
            <a:r>
              <a:rPr sz="1200" b="0" i="0" dirty="0">
                <a:solidFill>
                  <a:srgbClr val="2D2D2D"/>
                </a:solidFill>
                <a:latin typeface="Lato"/>
              </a:rPr>
              <a:t>Customer support time</a:t>
            </a:r>
          </a:p>
        </p:txBody>
      </p:sp>
      <p:sp>
        <p:nvSpPr>
          <p:cNvPr id="18" name="TextBox 17"/>
          <p:cNvSpPr txBox="1"/>
          <p:nvPr/>
        </p:nvSpPr>
        <p:spPr>
          <a:xfrm>
            <a:off x="4343400" y="3621024"/>
            <a:ext cx="1280160" cy="347472"/>
          </a:xfrm>
          <a:prstGeom prst="rect">
            <a:avLst/>
          </a:prstGeom>
          <a:noFill/>
        </p:spPr>
        <p:txBody>
          <a:bodyPr wrap="square"/>
          <a:lstStyle/>
          <a:p>
            <a:pPr algn="r"/>
            <a:r>
              <a:rPr sz="1200" b="0" i="0" dirty="0">
                <a:solidFill>
                  <a:srgbClr val="2D2D2D"/>
                </a:solidFill>
                <a:latin typeface="Lato"/>
              </a:rPr>
              <a:t>($0.15)</a:t>
            </a:r>
          </a:p>
        </p:txBody>
      </p:sp>
      <p:sp>
        <p:nvSpPr>
          <p:cNvPr id="19" name="TextBox 18"/>
          <p:cNvSpPr txBox="1"/>
          <p:nvPr/>
        </p:nvSpPr>
        <p:spPr>
          <a:xfrm>
            <a:off x="640080" y="3968496"/>
            <a:ext cx="3657600" cy="347472"/>
          </a:xfrm>
          <a:prstGeom prst="rect">
            <a:avLst/>
          </a:prstGeom>
          <a:noFill/>
        </p:spPr>
        <p:txBody>
          <a:bodyPr wrap="square"/>
          <a:lstStyle/>
          <a:p>
            <a:pPr algn="l"/>
            <a:r>
              <a:rPr sz="1200" b="0" i="0" dirty="0">
                <a:solidFill>
                  <a:srgbClr val="2D2D2D"/>
                </a:solidFill>
                <a:latin typeface="Lato"/>
              </a:rPr>
              <a:t>AI / LLM API calls</a:t>
            </a:r>
          </a:p>
        </p:txBody>
      </p:sp>
      <p:sp>
        <p:nvSpPr>
          <p:cNvPr id="20" name="TextBox 19"/>
          <p:cNvSpPr txBox="1"/>
          <p:nvPr/>
        </p:nvSpPr>
        <p:spPr>
          <a:xfrm>
            <a:off x="4343400" y="3968496"/>
            <a:ext cx="1280160" cy="347472"/>
          </a:xfrm>
          <a:prstGeom prst="rect">
            <a:avLst/>
          </a:prstGeom>
          <a:noFill/>
        </p:spPr>
        <p:txBody>
          <a:bodyPr wrap="square"/>
          <a:lstStyle/>
          <a:p>
            <a:pPr algn="r"/>
            <a:r>
              <a:rPr sz="1200" b="0" i="0" dirty="0">
                <a:solidFill>
                  <a:srgbClr val="2D2D2D"/>
                </a:solidFill>
                <a:latin typeface="Lato"/>
              </a:rPr>
              <a:t>($0.03)</a:t>
            </a:r>
          </a:p>
        </p:txBody>
      </p:sp>
      <p:sp>
        <p:nvSpPr>
          <p:cNvPr id="21" name="TextBox 20"/>
          <p:cNvSpPr txBox="1"/>
          <p:nvPr/>
        </p:nvSpPr>
        <p:spPr>
          <a:xfrm>
            <a:off x="640080" y="4315968"/>
            <a:ext cx="3657600" cy="347472"/>
          </a:xfrm>
          <a:prstGeom prst="rect">
            <a:avLst/>
          </a:prstGeom>
          <a:noFill/>
        </p:spPr>
        <p:txBody>
          <a:bodyPr wrap="square"/>
          <a:lstStyle/>
          <a:p>
            <a:pPr algn="l"/>
            <a:r>
              <a:rPr sz="1200" b="0" i="0" dirty="0">
                <a:solidFill>
                  <a:srgbClr val="2D2D2D"/>
                </a:solidFill>
                <a:latin typeface="Lato"/>
              </a:rPr>
              <a:t>Email delivery</a:t>
            </a:r>
          </a:p>
        </p:txBody>
      </p:sp>
      <p:sp>
        <p:nvSpPr>
          <p:cNvPr id="22" name="TextBox 21"/>
          <p:cNvSpPr txBox="1"/>
          <p:nvPr/>
        </p:nvSpPr>
        <p:spPr>
          <a:xfrm>
            <a:off x="4343400" y="4315968"/>
            <a:ext cx="1280160" cy="347472"/>
          </a:xfrm>
          <a:prstGeom prst="rect">
            <a:avLst/>
          </a:prstGeom>
          <a:noFill/>
        </p:spPr>
        <p:txBody>
          <a:bodyPr wrap="square"/>
          <a:lstStyle/>
          <a:p>
            <a:pPr algn="r"/>
            <a:r>
              <a:rPr sz="1200" b="0" i="0" dirty="0">
                <a:solidFill>
                  <a:srgbClr val="2D2D2D"/>
                </a:solidFill>
                <a:latin typeface="Lato"/>
              </a:rPr>
              <a:t>($0.01)</a:t>
            </a:r>
          </a:p>
        </p:txBody>
      </p:sp>
      <p:sp>
        <p:nvSpPr>
          <p:cNvPr id="23" name="Rectangle 22"/>
          <p:cNvSpPr/>
          <p:nvPr/>
        </p:nvSpPr>
        <p:spPr>
          <a:xfrm>
            <a:off x="502920" y="4636008"/>
            <a:ext cx="5303520" cy="347472"/>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640080" y="4663440"/>
            <a:ext cx="3657600" cy="347472"/>
          </a:xfrm>
          <a:prstGeom prst="rect">
            <a:avLst/>
          </a:prstGeom>
          <a:noFill/>
        </p:spPr>
        <p:txBody>
          <a:bodyPr wrap="square"/>
          <a:lstStyle/>
          <a:p>
            <a:pPr algn="l"/>
            <a:r>
              <a:rPr sz="1200" b="1" i="0" dirty="0">
                <a:solidFill>
                  <a:srgbClr val="2D2D2D"/>
                </a:solidFill>
                <a:latin typeface="Lato"/>
              </a:rPr>
              <a:t>Total variable cost</a:t>
            </a:r>
          </a:p>
        </p:txBody>
      </p:sp>
      <p:sp>
        <p:nvSpPr>
          <p:cNvPr id="25" name="TextBox 24"/>
          <p:cNvSpPr txBox="1"/>
          <p:nvPr/>
        </p:nvSpPr>
        <p:spPr>
          <a:xfrm>
            <a:off x="4343400" y="4663440"/>
            <a:ext cx="1280160" cy="347472"/>
          </a:xfrm>
          <a:prstGeom prst="rect">
            <a:avLst/>
          </a:prstGeom>
          <a:noFill/>
        </p:spPr>
        <p:txBody>
          <a:bodyPr wrap="square"/>
          <a:lstStyle/>
          <a:p>
            <a:pPr algn="r"/>
            <a:r>
              <a:rPr sz="1200" b="1" i="0" dirty="0">
                <a:solidFill>
                  <a:srgbClr val="2D2D2D"/>
                </a:solidFill>
                <a:latin typeface="Lato"/>
              </a:rPr>
              <a:t>($0.89)</a:t>
            </a:r>
          </a:p>
        </p:txBody>
      </p:sp>
      <p:sp>
        <p:nvSpPr>
          <p:cNvPr id="26" name="Rectangle 25"/>
          <p:cNvSpPr/>
          <p:nvPr/>
        </p:nvSpPr>
        <p:spPr>
          <a:xfrm>
            <a:off x="502920" y="4983480"/>
            <a:ext cx="5303520" cy="347472"/>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7" name="TextBox 26"/>
          <p:cNvSpPr txBox="1"/>
          <p:nvPr/>
        </p:nvSpPr>
        <p:spPr>
          <a:xfrm>
            <a:off x="640080" y="5010912"/>
            <a:ext cx="3657600" cy="347472"/>
          </a:xfrm>
          <a:prstGeom prst="rect">
            <a:avLst/>
          </a:prstGeom>
          <a:noFill/>
        </p:spPr>
        <p:txBody>
          <a:bodyPr wrap="square"/>
          <a:lstStyle/>
          <a:p>
            <a:pPr algn="l"/>
            <a:r>
              <a:rPr sz="1200" b="1" i="0" dirty="0">
                <a:solidFill>
                  <a:srgbClr val="2D2D2D"/>
                </a:solidFill>
                <a:latin typeface="Lato"/>
              </a:rPr>
              <a:t>Gross margin (variable only)</a:t>
            </a:r>
          </a:p>
        </p:txBody>
      </p:sp>
      <p:sp>
        <p:nvSpPr>
          <p:cNvPr id="28" name="TextBox 27"/>
          <p:cNvSpPr txBox="1"/>
          <p:nvPr/>
        </p:nvSpPr>
        <p:spPr>
          <a:xfrm>
            <a:off x="4343400" y="5010912"/>
            <a:ext cx="1280160" cy="347472"/>
          </a:xfrm>
          <a:prstGeom prst="rect">
            <a:avLst/>
          </a:prstGeom>
          <a:noFill/>
        </p:spPr>
        <p:txBody>
          <a:bodyPr wrap="square"/>
          <a:lstStyle/>
          <a:p>
            <a:pPr algn="r"/>
            <a:r>
              <a:rPr sz="1200" b="1" i="0" dirty="0">
                <a:solidFill>
                  <a:srgbClr val="2D2D2D"/>
                </a:solidFill>
                <a:latin typeface="Lato"/>
              </a:rPr>
              <a:t>$2.11 · 70%</a:t>
            </a:r>
          </a:p>
        </p:txBody>
      </p:sp>
      <p:sp>
        <p:nvSpPr>
          <p:cNvPr id="29" name="TextBox 28"/>
          <p:cNvSpPr txBox="1"/>
          <p:nvPr/>
        </p:nvSpPr>
        <p:spPr>
          <a:xfrm>
            <a:off x="6492240" y="2103120"/>
            <a:ext cx="5212080" cy="256032"/>
          </a:xfrm>
          <a:prstGeom prst="rect">
            <a:avLst/>
          </a:prstGeom>
          <a:noFill/>
        </p:spPr>
        <p:txBody>
          <a:bodyPr wrap="square"/>
          <a:lstStyle/>
          <a:p>
            <a:pPr algn="l"/>
            <a:r>
              <a:rPr sz="900" b="1" i="0" dirty="0">
                <a:solidFill>
                  <a:srgbClr val="87B89D"/>
                </a:solidFill>
                <a:latin typeface="Lato"/>
              </a:rPr>
              <a:t>BREAK-EVEN ANALYSIS</a:t>
            </a:r>
          </a:p>
        </p:txBody>
      </p:sp>
      <p:sp>
        <p:nvSpPr>
          <p:cNvPr id="30" name="TextBox 29"/>
          <p:cNvSpPr txBox="1"/>
          <p:nvPr/>
        </p:nvSpPr>
        <p:spPr>
          <a:xfrm>
            <a:off x="6492240" y="2432304"/>
            <a:ext cx="3931920" cy="365760"/>
          </a:xfrm>
          <a:prstGeom prst="rect">
            <a:avLst/>
          </a:prstGeom>
          <a:noFill/>
        </p:spPr>
        <p:txBody>
          <a:bodyPr wrap="square"/>
          <a:lstStyle/>
          <a:p>
            <a:pPr algn="l"/>
            <a:r>
              <a:rPr sz="1300" b="0" i="0" dirty="0">
                <a:solidFill>
                  <a:srgbClr val="2D2D2D"/>
                </a:solidFill>
                <a:latin typeface="Lato"/>
              </a:rPr>
              <a:t>Monthly overhead (fixed + founder)</a:t>
            </a:r>
          </a:p>
        </p:txBody>
      </p:sp>
      <p:sp>
        <p:nvSpPr>
          <p:cNvPr id="31" name="TextBox 30"/>
          <p:cNvSpPr txBox="1"/>
          <p:nvPr/>
        </p:nvSpPr>
        <p:spPr>
          <a:xfrm>
            <a:off x="10424160" y="2432304"/>
            <a:ext cx="1463040" cy="365760"/>
          </a:xfrm>
          <a:prstGeom prst="rect">
            <a:avLst/>
          </a:prstGeom>
          <a:noFill/>
        </p:spPr>
        <p:txBody>
          <a:bodyPr wrap="square"/>
          <a:lstStyle/>
          <a:p>
            <a:pPr algn="r"/>
            <a:r>
              <a:rPr sz="1300" b="1" i="0" dirty="0">
                <a:solidFill>
                  <a:srgbClr val="5A9171"/>
                </a:solidFill>
                <a:latin typeface="Nunito"/>
              </a:rPr>
              <a:t>~$6,578 / mo</a:t>
            </a:r>
          </a:p>
        </p:txBody>
      </p:sp>
      <p:sp>
        <p:nvSpPr>
          <p:cNvPr id="32" name="Rectangle 31"/>
          <p:cNvSpPr/>
          <p:nvPr/>
        </p:nvSpPr>
        <p:spPr>
          <a:xfrm>
            <a:off x="6492240" y="2816352"/>
            <a:ext cx="5394960"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p:cNvSpPr txBox="1"/>
          <p:nvPr/>
        </p:nvSpPr>
        <p:spPr>
          <a:xfrm>
            <a:off x="6492240" y="2907792"/>
            <a:ext cx="3931920" cy="365760"/>
          </a:xfrm>
          <a:prstGeom prst="rect">
            <a:avLst/>
          </a:prstGeom>
          <a:noFill/>
        </p:spPr>
        <p:txBody>
          <a:bodyPr wrap="square"/>
          <a:lstStyle/>
          <a:p>
            <a:pPr algn="l"/>
            <a:r>
              <a:rPr sz="1300" b="0" i="0" dirty="0">
                <a:solidFill>
                  <a:srgbClr val="2D2D2D"/>
                </a:solidFill>
                <a:latin typeface="Lato"/>
              </a:rPr>
              <a:t>Users to break even at $3 PMPM</a:t>
            </a:r>
          </a:p>
        </p:txBody>
      </p:sp>
      <p:sp>
        <p:nvSpPr>
          <p:cNvPr id="34" name="TextBox 33"/>
          <p:cNvSpPr txBox="1"/>
          <p:nvPr/>
        </p:nvSpPr>
        <p:spPr>
          <a:xfrm>
            <a:off x="10424160" y="2907792"/>
            <a:ext cx="1463040" cy="365760"/>
          </a:xfrm>
          <a:prstGeom prst="rect">
            <a:avLst/>
          </a:prstGeom>
          <a:noFill/>
        </p:spPr>
        <p:txBody>
          <a:bodyPr wrap="square"/>
          <a:lstStyle/>
          <a:p>
            <a:pPr algn="r"/>
            <a:r>
              <a:rPr sz="1300" b="1" i="0" dirty="0">
                <a:solidFill>
                  <a:srgbClr val="5A9171"/>
                </a:solidFill>
                <a:latin typeface="Nunito"/>
              </a:rPr>
              <a:t>~3,118 users</a:t>
            </a:r>
          </a:p>
        </p:txBody>
      </p:sp>
      <p:sp>
        <p:nvSpPr>
          <p:cNvPr id="35" name="Rectangle 34"/>
          <p:cNvSpPr/>
          <p:nvPr/>
        </p:nvSpPr>
        <p:spPr>
          <a:xfrm>
            <a:off x="6492240" y="3291840"/>
            <a:ext cx="5394960"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6" name="TextBox 35"/>
          <p:cNvSpPr txBox="1"/>
          <p:nvPr/>
        </p:nvSpPr>
        <p:spPr>
          <a:xfrm>
            <a:off x="6492240" y="3383280"/>
            <a:ext cx="3931920" cy="365760"/>
          </a:xfrm>
          <a:prstGeom prst="rect">
            <a:avLst/>
          </a:prstGeom>
          <a:noFill/>
        </p:spPr>
        <p:txBody>
          <a:bodyPr wrap="square"/>
          <a:lstStyle/>
          <a:p>
            <a:pPr algn="l"/>
            <a:r>
              <a:rPr sz="1300" b="0" i="0" dirty="0">
                <a:solidFill>
                  <a:srgbClr val="2D2D2D"/>
                </a:solidFill>
                <a:latin typeface="Lato"/>
              </a:rPr>
              <a:t>Contracts needed (200 users each)</a:t>
            </a:r>
          </a:p>
        </p:txBody>
      </p:sp>
      <p:sp>
        <p:nvSpPr>
          <p:cNvPr id="37" name="TextBox 36"/>
          <p:cNvSpPr txBox="1"/>
          <p:nvPr/>
        </p:nvSpPr>
        <p:spPr>
          <a:xfrm>
            <a:off x="10424160" y="3383280"/>
            <a:ext cx="1463040" cy="365760"/>
          </a:xfrm>
          <a:prstGeom prst="rect">
            <a:avLst/>
          </a:prstGeom>
          <a:noFill/>
        </p:spPr>
        <p:txBody>
          <a:bodyPr wrap="square"/>
          <a:lstStyle/>
          <a:p>
            <a:pPr algn="r"/>
            <a:r>
              <a:rPr sz="1300" b="1" i="0" dirty="0">
                <a:solidFill>
                  <a:srgbClr val="5A9171"/>
                </a:solidFill>
                <a:latin typeface="Nunito"/>
              </a:rPr>
              <a:t>~16 contracts</a:t>
            </a:r>
          </a:p>
        </p:txBody>
      </p:sp>
      <p:sp>
        <p:nvSpPr>
          <p:cNvPr id="38" name="Rectangle 37"/>
          <p:cNvSpPr/>
          <p:nvPr/>
        </p:nvSpPr>
        <p:spPr>
          <a:xfrm>
            <a:off x="6492240" y="3767328"/>
            <a:ext cx="5394960"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9" name="TextBox 38"/>
          <p:cNvSpPr txBox="1"/>
          <p:nvPr/>
        </p:nvSpPr>
        <p:spPr>
          <a:xfrm>
            <a:off x="6492240" y="3858768"/>
            <a:ext cx="3931920" cy="365760"/>
          </a:xfrm>
          <a:prstGeom prst="rect">
            <a:avLst/>
          </a:prstGeom>
          <a:noFill/>
        </p:spPr>
        <p:txBody>
          <a:bodyPr wrap="square"/>
          <a:lstStyle/>
          <a:p>
            <a:pPr algn="l"/>
            <a:r>
              <a:rPr sz="1300" b="0" i="0" dirty="0">
                <a:solidFill>
                  <a:srgbClr val="2D2D2D"/>
                </a:solidFill>
                <a:latin typeface="Lato"/>
              </a:rPr>
              <a:t>Timeline at 1 contract / quarter</a:t>
            </a:r>
          </a:p>
        </p:txBody>
      </p:sp>
      <p:sp>
        <p:nvSpPr>
          <p:cNvPr id="40" name="TextBox 39"/>
          <p:cNvSpPr txBox="1"/>
          <p:nvPr/>
        </p:nvSpPr>
        <p:spPr>
          <a:xfrm>
            <a:off x="10424160" y="3858768"/>
            <a:ext cx="1463040" cy="365760"/>
          </a:xfrm>
          <a:prstGeom prst="rect">
            <a:avLst/>
          </a:prstGeom>
          <a:noFill/>
        </p:spPr>
        <p:txBody>
          <a:bodyPr wrap="square"/>
          <a:lstStyle/>
          <a:p>
            <a:pPr algn="r"/>
            <a:r>
              <a:rPr sz="1300" b="1" i="0" dirty="0">
                <a:solidFill>
                  <a:srgbClr val="5A9171"/>
                </a:solidFill>
                <a:latin typeface="Nunito"/>
              </a:rPr>
              <a:t>48 months</a:t>
            </a:r>
          </a:p>
        </p:txBody>
      </p:sp>
      <p:sp>
        <p:nvSpPr>
          <p:cNvPr id="41" name="Rectangle 40"/>
          <p:cNvSpPr/>
          <p:nvPr/>
        </p:nvSpPr>
        <p:spPr>
          <a:xfrm>
            <a:off x="6492240" y="4242816"/>
            <a:ext cx="5394960"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2" name="Rectangle 41"/>
          <p:cNvSpPr/>
          <p:nvPr/>
        </p:nvSpPr>
        <p:spPr>
          <a:xfrm>
            <a:off x="6492240" y="4572000"/>
            <a:ext cx="5394960" cy="1078992"/>
          </a:xfrm>
          <a:prstGeom prst="rect">
            <a:avLst/>
          </a:prstGeom>
          <a:solidFill>
            <a:srgbClr val="FFF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3" name="Rectangle 42"/>
          <p:cNvSpPr/>
          <p:nvPr/>
        </p:nvSpPr>
        <p:spPr>
          <a:xfrm>
            <a:off x="6492240" y="4572000"/>
            <a:ext cx="45720" cy="10789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4" name="TextBox 43"/>
          <p:cNvSpPr txBox="1"/>
          <p:nvPr/>
        </p:nvSpPr>
        <p:spPr>
          <a:xfrm>
            <a:off x="6629400" y="4626864"/>
            <a:ext cx="5120640" cy="320040"/>
          </a:xfrm>
          <a:prstGeom prst="rect">
            <a:avLst/>
          </a:prstGeom>
          <a:noFill/>
        </p:spPr>
        <p:txBody>
          <a:bodyPr wrap="square"/>
          <a:lstStyle/>
          <a:p>
            <a:pPr algn="l"/>
            <a:r>
              <a:rPr sz="1200" b="1" i="0" dirty="0">
                <a:solidFill>
                  <a:srgbClr val="D97706"/>
                </a:solidFill>
                <a:latin typeface="Lato"/>
              </a:rPr>
              <a:t>⚠  Key risk: timing, not unit economics</a:t>
            </a:r>
          </a:p>
        </p:txBody>
      </p:sp>
      <p:sp>
        <p:nvSpPr>
          <p:cNvPr id="45" name="TextBox 44"/>
          <p:cNvSpPr txBox="1"/>
          <p:nvPr/>
        </p:nvSpPr>
        <p:spPr>
          <a:xfrm>
            <a:off x="6629400" y="4974336"/>
            <a:ext cx="5120640" cy="621792"/>
          </a:xfrm>
          <a:prstGeom prst="rect">
            <a:avLst/>
          </a:prstGeom>
          <a:noFill/>
        </p:spPr>
        <p:txBody>
          <a:bodyPr wrap="square"/>
          <a:lstStyle/>
          <a:p>
            <a:pPr algn="l"/>
            <a:r>
              <a:rPr sz="1200" b="0" i="0" dirty="0">
                <a:solidFill>
                  <a:srgbClr val="2D2D2D"/>
                </a:solidFill>
                <a:latin typeface="Lato"/>
              </a:rPr>
              <a:t>Per-user margins are strong (70% at $3 PMPM). The problem is the 18–36 month gap between today and the first institutional check. That gap requires capital or a faster sales cycle than industry norms.</a:t>
            </a:r>
          </a:p>
        </p:txBody>
      </p:sp>
      <p:sp>
        <p:nvSpPr>
          <p:cNvPr id="46" name="Rectangle 45"/>
          <p:cNvSpPr/>
          <p:nvPr/>
        </p:nvSpPr>
        <p:spPr>
          <a:xfrm>
            <a:off x="457200" y="5650992"/>
            <a:ext cx="11274552" cy="621792"/>
          </a:xfrm>
          <a:prstGeom prst="rect">
            <a:avLst/>
          </a:prstGeom>
          <a:solidFill>
            <a:srgbClr val="FFF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7" name="Rectangle 46"/>
          <p:cNvSpPr/>
          <p:nvPr/>
        </p:nvSpPr>
        <p:spPr>
          <a:xfrm>
            <a:off x="457200" y="5650992"/>
            <a:ext cx="45720" cy="6217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8" name="TextBox 47"/>
          <p:cNvSpPr txBox="1"/>
          <p:nvPr/>
        </p:nvSpPr>
        <p:spPr>
          <a:xfrm>
            <a:off x="640080" y="5705856"/>
            <a:ext cx="10972800" cy="548640"/>
          </a:xfrm>
          <a:prstGeom prst="rect">
            <a:avLst/>
          </a:prstGeom>
          <a:noFill/>
        </p:spPr>
        <p:txBody>
          <a:bodyPr wrap="square"/>
          <a:lstStyle/>
          <a:p>
            <a:pPr algn="l"/>
            <a:r>
              <a:rPr sz="1100" b="0" i="1" dirty="0">
                <a:solidFill>
                  <a:srgbClr val="D97706"/>
                </a:solidFill>
                <a:latin typeface="Lato"/>
              </a:rPr>
              <a:t>⚑  All prices labeled [ASSUMPTION] — no institutional buyer has been contacted. Pricing test underway this week (June 24–30). Results will update the base case.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87976"/>
            <a:ext cx="10789920" cy="621792"/>
          </a:xfrm>
          <a:prstGeom prst="rect">
            <a:avLst/>
          </a:prstGeom>
          <a:noFill/>
        </p:spPr>
        <p:txBody>
          <a:bodyPr wrap="square"/>
          <a:lstStyle/>
          <a:p>
            <a:pPr algn="l"/>
            <a:r>
              <a:rPr sz="3200" b="1" i="0" dirty="0">
                <a:solidFill>
                  <a:srgbClr val="5A9171"/>
                </a:solidFill>
                <a:latin typeface="Nunito"/>
              </a:rPr>
              <a:t>MVP &amp; Landing Page</a:t>
            </a:r>
          </a:p>
        </p:txBody>
      </p:sp>
      <p:sp>
        <p:nvSpPr>
          <p:cNvPr id="4" name="TextBox 3"/>
          <p:cNvSpPr txBox="1"/>
          <p:nvPr/>
        </p:nvSpPr>
        <p:spPr>
          <a:xfrm>
            <a:off x="548640" y="746510"/>
            <a:ext cx="10789920" cy="329184"/>
          </a:xfrm>
          <a:prstGeom prst="rect">
            <a:avLst/>
          </a:prstGeom>
          <a:noFill/>
        </p:spPr>
        <p:txBody>
          <a:bodyPr wrap="square"/>
          <a:lstStyle/>
          <a:p>
            <a:pPr algn="l"/>
            <a:r>
              <a:rPr sz="1300" b="0" i="0" dirty="0">
                <a:solidFill>
                  <a:srgbClr val="87B89D"/>
                </a:solidFill>
                <a:latin typeface="Lato"/>
              </a:rPr>
              <a:t>What exists today</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6</a:t>
            </a:r>
          </a:p>
        </p:txBody>
      </p:sp>
      <p:sp>
        <p:nvSpPr>
          <p:cNvPr id="7" name="Rectangle 6"/>
          <p:cNvSpPr/>
          <p:nvPr/>
        </p:nvSpPr>
        <p:spPr>
          <a:xfrm>
            <a:off x="548640" y="1506808"/>
            <a:ext cx="54864" cy="25603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777240" y="1415368"/>
            <a:ext cx="10698480" cy="347472"/>
          </a:xfrm>
          <a:prstGeom prst="rect">
            <a:avLst/>
          </a:prstGeom>
          <a:noFill/>
        </p:spPr>
        <p:txBody>
          <a:bodyPr wrap="square"/>
          <a:lstStyle/>
          <a:p>
            <a:pPr algn="l"/>
            <a:r>
              <a:rPr sz="1400" b="1" i="0" dirty="0">
                <a:solidFill>
                  <a:srgbClr val="2D2D2D"/>
                </a:solidFill>
                <a:latin typeface="Nunito"/>
              </a:rPr>
              <a:t>Landing page (HTML prototype)</a:t>
            </a:r>
          </a:p>
        </p:txBody>
      </p:sp>
      <p:sp>
        <p:nvSpPr>
          <p:cNvPr id="9" name="TextBox 8"/>
          <p:cNvSpPr txBox="1"/>
          <p:nvPr/>
        </p:nvSpPr>
        <p:spPr>
          <a:xfrm>
            <a:off x="777240" y="1762840"/>
            <a:ext cx="10698480" cy="457200"/>
          </a:xfrm>
          <a:prstGeom prst="rect">
            <a:avLst/>
          </a:prstGeom>
          <a:noFill/>
        </p:spPr>
        <p:txBody>
          <a:bodyPr wrap="square"/>
          <a:lstStyle/>
          <a:p>
            <a:pPr algn="l"/>
            <a:r>
              <a:rPr sz="1300" b="0" i="0" dirty="0">
                <a:solidFill>
                  <a:srgbClr val="6B7280"/>
                </a:solidFill>
                <a:latin typeface="Lato"/>
              </a:rPr>
              <a:t>Full consumer-facing page: hero with Noor’s quote, 3-step product explanation, freemium pricing. Built to test whether the messaging lands before a product exists. Not yet deployed live.</a:t>
            </a:r>
          </a:p>
        </p:txBody>
      </p:sp>
      <p:sp>
        <p:nvSpPr>
          <p:cNvPr id="10" name="Rectangle 9"/>
          <p:cNvSpPr/>
          <p:nvPr/>
        </p:nvSpPr>
        <p:spPr>
          <a:xfrm>
            <a:off x="548640" y="2494360"/>
            <a:ext cx="54864" cy="25603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777240" y="2402920"/>
            <a:ext cx="10698480" cy="347472"/>
          </a:xfrm>
          <a:prstGeom prst="rect">
            <a:avLst/>
          </a:prstGeom>
          <a:noFill/>
        </p:spPr>
        <p:txBody>
          <a:bodyPr wrap="square"/>
          <a:lstStyle/>
          <a:p>
            <a:pPr algn="l"/>
            <a:r>
              <a:rPr sz="1400" b="1" i="0" dirty="0">
                <a:solidFill>
                  <a:srgbClr val="2D2D2D"/>
                </a:solidFill>
                <a:latin typeface="Nunito"/>
              </a:rPr>
              <a:t>A/B test of the weekly summary format</a:t>
            </a:r>
          </a:p>
        </p:txBody>
      </p:sp>
      <p:sp>
        <p:nvSpPr>
          <p:cNvPr id="12" name="TextBox 11"/>
          <p:cNvSpPr txBox="1"/>
          <p:nvPr/>
        </p:nvSpPr>
        <p:spPr>
          <a:xfrm>
            <a:off x="777240" y="2750392"/>
            <a:ext cx="10698480" cy="457200"/>
          </a:xfrm>
          <a:prstGeom prst="rect">
            <a:avLst/>
          </a:prstGeom>
          <a:noFill/>
        </p:spPr>
        <p:txBody>
          <a:bodyPr wrap="square"/>
          <a:lstStyle/>
          <a:p>
            <a:pPr algn="l"/>
            <a:r>
              <a:rPr sz="1300" b="0" i="0" dirty="0">
                <a:solidFill>
                  <a:srgbClr val="6B7280"/>
                </a:solidFill>
                <a:latin typeface="Lato"/>
              </a:rPr>
              <a:t>Two message versions: Version A (data + one specific action) vs. Version B (data only). Tests the core open question from interviews: does visibility alone change behavior, or is a suggestion layer needed?</a:t>
            </a:r>
          </a:p>
        </p:txBody>
      </p:sp>
      <p:sp>
        <p:nvSpPr>
          <p:cNvPr id="13" name="Rectangle 12"/>
          <p:cNvSpPr/>
          <p:nvPr/>
        </p:nvSpPr>
        <p:spPr>
          <a:xfrm>
            <a:off x="548640" y="3481912"/>
            <a:ext cx="54864" cy="25603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777240" y="3390472"/>
            <a:ext cx="10698480" cy="347472"/>
          </a:xfrm>
          <a:prstGeom prst="rect">
            <a:avLst/>
          </a:prstGeom>
          <a:noFill/>
        </p:spPr>
        <p:txBody>
          <a:bodyPr wrap="square"/>
          <a:lstStyle/>
          <a:p>
            <a:pPr algn="l"/>
            <a:r>
              <a:rPr sz="1400" b="1" i="0" dirty="0">
                <a:solidFill>
                  <a:srgbClr val="2D2D2D"/>
                </a:solidFill>
                <a:latin typeface="Nunito"/>
              </a:rPr>
              <a:t>Mock transaction dataset</a:t>
            </a:r>
          </a:p>
        </p:txBody>
      </p:sp>
      <p:sp>
        <p:nvSpPr>
          <p:cNvPr id="15" name="TextBox 14"/>
          <p:cNvSpPr txBox="1"/>
          <p:nvPr/>
        </p:nvSpPr>
        <p:spPr>
          <a:xfrm>
            <a:off x="777240" y="3737944"/>
            <a:ext cx="10698480" cy="457200"/>
          </a:xfrm>
          <a:prstGeom prst="rect">
            <a:avLst/>
          </a:prstGeom>
          <a:noFill/>
        </p:spPr>
        <p:txBody>
          <a:bodyPr wrap="square"/>
          <a:lstStyle/>
          <a:p>
            <a:pPr algn="l"/>
            <a:r>
              <a:rPr sz="1300" b="0" i="0" dirty="0">
                <a:solidFill>
                  <a:srgbClr val="6B7280"/>
                </a:solidFill>
                <a:latin typeface="Lato"/>
              </a:rPr>
              <a:t>Full month of transaction-level data for a 24-year-old at $45K salary in Orlando, FL. Payday spending spike visible and quantified. Powers both A/B test messages and product demos.</a:t>
            </a:r>
          </a:p>
        </p:txBody>
      </p:sp>
      <p:sp>
        <p:nvSpPr>
          <p:cNvPr id="16" name="Rectangle 15"/>
          <p:cNvSpPr/>
          <p:nvPr/>
        </p:nvSpPr>
        <p:spPr>
          <a:xfrm>
            <a:off x="548640" y="4469464"/>
            <a:ext cx="54864" cy="25603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777240" y="4378024"/>
            <a:ext cx="10698480" cy="347472"/>
          </a:xfrm>
          <a:prstGeom prst="rect">
            <a:avLst/>
          </a:prstGeom>
          <a:noFill/>
        </p:spPr>
        <p:txBody>
          <a:bodyPr wrap="square"/>
          <a:lstStyle/>
          <a:p>
            <a:pPr algn="l"/>
            <a:r>
              <a:rPr sz="1400" b="1" i="0" dirty="0">
                <a:solidFill>
                  <a:srgbClr val="2D2D2D"/>
                </a:solidFill>
                <a:latin typeface="Nunito"/>
              </a:rPr>
              <a:t>Brand guide</a:t>
            </a:r>
          </a:p>
        </p:txBody>
      </p:sp>
      <p:sp>
        <p:nvSpPr>
          <p:cNvPr id="18" name="TextBox 17"/>
          <p:cNvSpPr txBox="1"/>
          <p:nvPr/>
        </p:nvSpPr>
        <p:spPr>
          <a:xfrm>
            <a:off x="777240" y="4725496"/>
            <a:ext cx="10698480" cy="457200"/>
          </a:xfrm>
          <a:prstGeom prst="rect">
            <a:avLst/>
          </a:prstGeom>
          <a:noFill/>
        </p:spPr>
        <p:txBody>
          <a:bodyPr wrap="square"/>
          <a:lstStyle/>
          <a:p>
            <a:pPr algn="l"/>
            <a:r>
              <a:rPr sz="1300" b="0" i="0" dirty="0">
                <a:solidFill>
                  <a:srgbClr val="6B7280"/>
                </a:solidFill>
                <a:latin typeface="Lato"/>
              </a:rPr>
              <a:t>Colors (#5A9171 sage, #87B89D soft sage), fonts (Nunito + Lato), voice (Clear. Calm. Human.), tagline, and company description.</a:t>
            </a:r>
          </a:p>
        </p:txBody>
      </p:sp>
      <p:sp>
        <p:nvSpPr>
          <p:cNvPr id="19" name="Rectangle 18"/>
          <p:cNvSpPr/>
          <p:nvPr/>
        </p:nvSpPr>
        <p:spPr>
          <a:xfrm>
            <a:off x="457200" y="5650992"/>
            <a:ext cx="11274552" cy="621792"/>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Rectangle 19"/>
          <p:cNvSpPr/>
          <p:nvPr/>
        </p:nvSpPr>
        <p:spPr>
          <a:xfrm>
            <a:off x="457200" y="5650992"/>
            <a:ext cx="45720" cy="621792"/>
          </a:xfrm>
          <a:prstGeom prst="rect">
            <a:avLst/>
          </a:prstGeom>
          <a:solidFill>
            <a:srgbClr val="377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640080" y="5705856"/>
            <a:ext cx="10972800" cy="548640"/>
          </a:xfrm>
          <a:prstGeom prst="rect">
            <a:avLst/>
          </a:prstGeom>
          <a:noFill/>
        </p:spPr>
        <p:txBody>
          <a:bodyPr wrap="square"/>
          <a:lstStyle/>
          <a:p>
            <a:pPr algn="l"/>
            <a:r>
              <a:rPr sz="1100" b="0" i="1" dirty="0">
                <a:solidFill>
                  <a:srgbClr val="377CF5"/>
                </a:solidFill>
                <a:latin typeface="Lato"/>
              </a:rPr>
              <a:t>⚑  DATA GAP: No live URL. Landing page exists as a local HTML file. To close: deploy to Netlify or Vercel (free, under 10 min) and add a sign-up field to start collecting email addresses.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28016"/>
            <a:ext cx="10789920" cy="621792"/>
          </a:xfrm>
          <a:prstGeom prst="rect">
            <a:avLst/>
          </a:prstGeom>
          <a:noFill/>
        </p:spPr>
        <p:txBody>
          <a:bodyPr wrap="square"/>
          <a:lstStyle/>
          <a:p>
            <a:pPr algn="l"/>
            <a:r>
              <a:rPr sz="3200" b="1" i="0" dirty="0">
                <a:solidFill>
                  <a:srgbClr val="5A9171"/>
                </a:solidFill>
                <a:latin typeface="Nunito"/>
              </a:rPr>
              <a:t>Traction</a:t>
            </a:r>
          </a:p>
        </p:txBody>
      </p:sp>
      <p:sp>
        <p:nvSpPr>
          <p:cNvPr id="4" name="TextBox 3"/>
          <p:cNvSpPr txBox="1"/>
          <p:nvPr/>
        </p:nvSpPr>
        <p:spPr>
          <a:xfrm>
            <a:off x="548640" y="731520"/>
            <a:ext cx="10789920" cy="329184"/>
          </a:xfrm>
          <a:prstGeom prst="rect">
            <a:avLst/>
          </a:prstGeom>
          <a:noFill/>
        </p:spPr>
        <p:txBody>
          <a:bodyPr wrap="square"/>
          <a:lstStyle/>
          <a:p>
            <a:pPr algn="l"/>
            <a:r>
              <a:rPr sz="1300" b="0" i="0" dirty="0">
                <a:solidFill>
                  <a:srgbClr val="87B89D"/>
                </a:solidFill>
                <a:latin typeface="Lato"/>
              </a:rPr>
              <a:t>Where things stand as of June 30, 2026</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7</a:t>
            </a:r>
          </a:p>
        </p:txBody>
      </p:sp>
      <p:sp>
        <p:nvSpPr>
          <p:cNvPr id="7" name="TextBox 6"/>
          <p:cNvSpPr txBox="1"/>
          <p:nvPr/>
        </p:nvSpPr>
        <p:spPr>
          <a:xfrm>
            <a:off x="548640" y="1115568"/>
            <a:ext cx="502920" cy="475488"/>
          </a:xfrm>
          <a:prstGeom prst="rect">
            <a:avLst/>
          </a:prstGeom>
          <a:noFill/>
        </p:spPr>
        <p:txBody>
          <a:bodyPr wrap="square"/>
          <a:lstStyle/>
          <a:p>
            <a:pPr algn="l"/>
            <a:r>
              <a:rPr sz="2600" b="1" i="0" dirty="0">
                <a:solidFill>
                  <a:srgbClr val="5A9171"/>
                </a:solidFill>
                <a:latin typeface="Nunito"/>
              </a:rPr>
              <a:t>2</a:t>
            </a:r>
          </a:p>
        </p:txBody>
      </p:sp>
      <p:sp>
        <p:nvSpPr>
          <p:cNvPr id="8" name="TextBox 7"/>
          <p:cNvSpPr txBox="1"/>
          <p:nvPr/>
        </p:nvSpPr>
        <p:spPr>
          <a:xfrm>
            <a:off x="1170432" y="1188720"/>
            <a:ext cx="4663440" cy="384048"/>
          </a:xfrm>
          <a:prstGeom prst="rect">
            <a:avLst/>
          </a:prstGeom>
          <a:noFill/>
        </p:spPr>
        <p:txBody>
          <a:bodyPr wrap="square"/>
          <a:lstStyle/>
          <a:p>
            <a:pPr algn="l"/>
            <a:r>
              <a:rPr sz="1400" b="0" i="0" dirty="0">
                <a:solidFill>
                  <a:srgbClr val="2D2D2D"/>
                </a:solidFill>
                <a:latin typeface="Lato"/>
              </a:rPr>
              <a:t>customer discovery interviews completed</a:t>
            </a:r>
          </a:p>
        </p:txBody>
      </p:sp>
      <p:sp>
        <p:nvSpPr>
          <p:cNvPr id="9" name="TextBox 8"/>
          <p:cNvSpPr txBox="1"/>
          <p:nvPr/>
        </p:nvSpPr>
        <p:spPr>
          <a:xfrm>
            <a:off x="548640" y="1700784"/>
            <a:ext cx="502920" cy="475488"/>
          </a:xfrm>
          <a:prstGeom prst="rect">
            <a:avLst/>
          </a:prstGeom>
          <a:noFill/>
        </p:spPr>
        <p:txBody>
          <a:bodyPr wrap="square"/>
          <a:lstStyle/>
          <a:p>
            <a:pPr algn="l"/>
            <a:r>
              <a:rPr sz="2600" b="1" i="0" dirty="0">
                <a:solidFill>
                  <a:srgbClr val="5A9171"/>
                </a:solidFill>
                <a:latin typeface="Nunito"/>
              </a:rPr>
              <a:t>1</a:t>
            </a:r>
          </a:p>
        </p:txBody>
      </p:sp>
      <p:sp>
        <p:nvSpPr>
          <p:cNvPr id="10" name="TextBox 9"/>
          <p:cNvSpPr txBox="1"/>
          <p:nvPr/>
        </p:nvSpPr>
        <p:spPr>
          <a:xfrm>
            <a:off x="1170432" y="1773936"/>
            <a:ext cx="4663440" cy="384048"/>
          </a:xfrm>
          <a:prstGeom prst="rect">
            <a:avLst/>
          </a:prstGeom>
          <a:noFill/>
        </p:spPr>
        <p:txBody>
          <a:bodyPr wrap="square"/>
          <a:lstStyle/>
          <a:p>
            <a:pPr algn="l"/>
            <a:r>
              <a:rPr sz="1400" b="0" i="0" dirty="0">
                <a:solidFill>
                  <a:srgbClr val="2D2D2D"/>
                </a:solidFill>
                <a:latin typeface="Lato"/>
              </a:rPr>
              <a:t>target customer confirmed (Noor, 24 — matches profile exactly)</a:t>
            </a:r>
          </a:p>
        </p:txBody>
      </p:sp>
      <p:sp>
        <p:nvSpPr>
          <p:cNvPr id="11" name="TextBox 10"/>
          <p:cNvSpPr txBox="1"/>
          <p:nvPr/>
        </p:nvSpPr>
        <p:spPr>
          <a:xfrm>
            <a:off x="548640" y="2286000"/>
            <a:ext cx="502920" cy="475488"/>
          </a:xfrm>
          <a:prstGeom prst="rect">
            <a:avLst/>
          </a:prstGeom>
          <a:noFill/>
        </p:spPr>
        <p:txBody>
          <a:bodyPr wrap="square"/>
          <a:lstStyle/>
          <a:p>
            <a:pPr algn="l"/>
            <a:r>
              <a:rPr sz="2600" b="1" i="0" dirty="0">
                <a:solidFill>
                  <a:srgbClr val="5A9171"/>
                </a:solidFill>
                <a:latin typeface="Nunito"/>
              </a:rPr>
              <a:t>3</a:t>
            </a:r>
          </a:p>
        </p:txBody>
      </p:sp>
      <p:sp>
        <p:nvSpPr>
          <p:cNvPr id="12" name="TextBox 11"/>
          <p:cNvSpPr txBox="1"/>
          <p:nvPr/>
        </p:nvSpPr>
        <p:spPr>
          <a:xfrm>
            <a:off x="1170432" y="2359152"/>
            <a:ext cx="4663440" cy="384048"/>
          </a:xfrm>
          <a:prstGeom prst="rect">
            <a:avLst/>
          </a:prstGeom>
          <a:noFill/>
        </p:spPr>
        <p:txBody>
          <a:bodyPr wrap="square"/>
          <a:lstStyle/>
          <a:p>
            <a:pPr algn="l"/>
            <a:r>
              <a:rPr sz="1400" b="0" i="0" dirty="0">
                <a:solidFill>
                  <a:srgbClr val="2D2D2D"/>
                </a:solidFill>
                <a:latin typeface="Lato"/>
              </a:rPr>
              <a:t>prototypes built: landing page, A/B test, mock dataset</a:t>
            </a:r>
          </a:p>
        </p:txBody>
      </p:sp>
      <p:sp>
        <p:nvSpPr>
          <p:cNvPr id="13" name="TextBox 12"/>
          <p:cNvSpPr txBox="1"/>
          <p:nvPr/>
        </p:nvSpPr>
        <p:spPr>
          <a:xfrm>
            <a:off x="548640" y="2871216"/>
            <a:ext cx="502920" cy="475488"/>
          </a:xfrm>
          <a:prstGeom prst="rect">
            <a:avLst/>
          </a:prstGeom>
          <a:noFill/>
        </p:spPr>
        <p:txBody>
          <a:bodyPr wrap="square"/>
          <a:lstStyle/>
          <a:p>
            <a:pPr algn="l"/>
            <a:r>
              <a:rPr sz="2600" b="1" i="0" dirty="0">
                <a:solidFill>
                  <a:srgbClr val="5A9171"/>
                </a:solidFill>
                <a:latin typeface="Nunito"/>
              </a:rPr>
              <a:t>1</a:t>
            </a:r>
          </a:p>
        </p:txBody>
      </p:sp>
      <p:sp>
        <p:nvSpPr>
          <p:cNvPr id="14" name="TextBox 13"/>
          <p:cNvSpPr txBox="1"/>
          <p:nvPr/>
        </p:nvSpPr>
        <p:spPr>
          <a:xfrm>
            <a:off x="1170432" y="2944368"/>
            <a:ext cx="4663440" cy="384048"/>
          </a:xfrm>
          <a:prstGeom prst="rect">
            <a:avLst/>
          </a:prstGeom>
          <a:noFill/>
        </p:spPr>
        <p:txBody>
          <a:bodyPr wrap="square"/>
          <a:lstStyle/>
          <a:p>
            <a:pPr algn="l"/>
            <a:r>
              <a:rPr sz="1400" b="0" i="0" dirty="0">
                <a:solidFill>
                  <a:srgbClr val="2D2D2D"/>
                </a:solidFill>
                <a:latin typeface="Lato"/>
              </a:rPr>
              <a:t>pricing test designed and outreach sent this week</a:t>
            </a:r>
          </a:p>
        </p:txBody>
      </p:sp>
      <p:sp>
        <p:nvSpPr>
          <p:cNvPr id="15" name="TextBox 14"/>
          <p:cNvSpPr txBox="1"/>
          <p:nvPr/>
        </p:nvSpPr>
        <p:spPr>
          <a:xfrm>
            <a:off x="548640" y="3456432"/>
            <a:ext cx="502920" cy="475488"/>
          </a:xfrm>
          <a:prstGeom prst="rect">
            <a:avLst/>
          </a:prstGeom>
          <a:noFill/>
        </p:spPr>
        <p:txBody>
          <a:bodyPr wrap="square"/>
          <a:lstStyle/>
          <a:p>
            <a:pPr algn="l"/>
            <a:r>
              <a:rPr sz="2600" b="1" i="0" dirty="0">
                <a:solidFill>
                  <a:srgbClr val="6B7280"/>
                </a:solidFill>
                <a:latin typeface="Nunito"/>
              </a:rPr>
              <a:t>0</a:t>
            </a:r>
          </a:p>
        </p:txBody>
      </p:sp>
      <p:sp>
        <p:nvSpPr>
          <p:cNvPr id="16" name="TextBox 15"/>
          <p:cNvSpPr txBox="1"/>
          <p:nvPr/>
        </p:nvSpPr>
        <p:spPr>
          <a:xfrm>
            <a:off x="1170432" y="3529584"/>
            <a:ext cx="4663440" cy="384048"/>
          </a:xfrm>
          <a:prstGeom prst="rect">
            <a:avLst/>
          </a:prstGeom>
          <a:noFill/>
        </p:spPr>
        <p:txBody>
          <a:bodyPr wrap="square"/>
          <a:lstStyle/>
          <a:p>
            <a:pPr algn="l"/>
            <a:r>
              <a:rPr sz="1400" b="0" i="0" dirty="0">
                <a:solidFill>
                  <a:srgbClr val="2D2D2D"/>
                </a:solidFill>
                <a:latin typeface="Lato"/>
              </a:rPr>
              <a:t>institutional pricing conversations completed (in progress)</a:t>
            </a:r>
          </a:p>
        </p:txBody>
      </p:sp>
      <p:sp>
        <p:nvSpPr>
          <p:cNvPr id="17" name="TextBox 16"/>
          <p:cNvSpPr txBox="1"/>
          <p:nvPr/>
        </p:nvSpPr>
        <p:spPr>
          <a:xfrm>
            <a:off x="548640" y="4041648"/>
            <a:ext cx="502920" cy="475488"/>
          </a:xfrm>
          <a:prstGeom prst="rect">
            <a:avLst/>
          </a:prstGeom>
          <a:noFill/>
        </p:spPr>
        <p:txBody>
          <a:bodyPr wrap="square"/>
          <a:lstStyle/>
          <a:p>
            <a:pPr algn="l"/>
            <a:r>
              <a:rPr sz="2600" b="1" i="0" dirty="0">
                <a:solidFill>
                  <a:srgbClr val="6B7280"/>
                </a:solidFill>
                <a:latin typeface="Nunito"/>
              </a:rPr>
              <a:t>0</a:t>
            </a:r>
          </a:p>
        </p:txBody>
      </p:sp>
      <p:sp>
        <p:nvSpPr>
          <p:cNvPr id="18" name="TextBox 17"/>
          <p:cNvSpPr txBox="1"/>
          <p:nvPr/>
        </p:nvSpPr>
        <p:spPr>
          <a:xfrm>
            <a:off x="1170432" y="4114800"/>
            <a:ext cx="4663440" cy="384048"/>
          </a:xfrm>
          <a:prstGeom prst="rect">
            <a:avLst/>
          </a:prstGeom>
          <a:noFill/>
        </p:spPr>
        <p:txBody>
          <a:bodyPr wrap="square"/>
          <a:lstStyle/>
          <a:p>
            <a:pPr algn="l"/>
            <a:r>
              <a:rPr sz="1400" b="0" i="0" dirty="0">
                <a:solidFill>
                  <a:srgbClr val="2D2D2D"/>
                </a:solidFill>
                <a:latin typeface="Lato"/>
              </a:rPr>
              <a:t>sign-ups, payments, or commitments</a:t>
            </a:r>
          </a:p>
        </p:txBody>
      </p:sp>
      <p:sp>
        <p:nvSpPr>
          <p:cNvPr id="19" name="TextBox 18"/>
          <p:cNvSpPr txBox="1"/>
          <p:nvPr/>
        </p:nvSpPr>
        <p:spPr>
          <a:xfrm>
            <a:off x="6675120" y="1115568"/>
            <a:ext cx="5212080" cy="256032"/>
          </a:xfrm>
          <a:prstGeom prst="rect">
            <a:avLst/>
          </a:prstGeom>
          <a:noFill/>
        </p:spPr>
        <p:txBody>
          <a:bodyPr wrap="square"/>
          <a:lstStyle/>
          <a:p>
            <a:pPr algn="l"/>
            <a:r>
              <a:rPr sz="900" b="1" i="0" dirty="0">
                <a:solidFill>
                  <a:srgbClr val="87B89D"/>
                </a:solidFill>
                <a:latin typeface="Lato"/>
              </a:rPr>
              <a:t>WHAT I AM DOING THIS WEEK (June 24–30)</a:t>
            </a:r>
          </a:p>
        </p:txBody>
      </p:sp>
      <p:sp>
        <p:nvSpPr>
          <p:cNvPr id="20" name="Rectangle 19"/>
          <p:cNvSpPr/>
          <p:nvPr/>
        </p:nvSpPr>
        <p:spPr>
          <a:xfrm>
            <a:off x="6492240" y="1463040"/>
            <a:ext cx="5394960" cy="4114800"/>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Rectangle 20"/>
          <p:cNvSpPr/>
          <p:nvPr/>
        </p:nvSpPr>
        <p:spPr>
          <a:xfrm>
            <a:off x="6629400" y="1719072"/>
            <a:ext cx="54864" cy="21945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p:cNvSpPr txBox="1"/>
          <p:nvPr/>
        </p:nvSpPr>
        <p:spPr>
          <a:xfrm>
            <a:off x="6812280" y="1627632"/>
            <a:ext cx="4892040" cy="310896"/>
          </a:xfrm>
          <a:prstGeom prst="rect">
            <a:avLst/>
          </a:prstGeom>
          <a:noFill/>
        </p:spPr>
        <p:txBody>
          <a:bodyPr wrap="square"/>
          <a:lstStyle/>
          <a:p>
            <a:pPr algn="l"/>
            <a:r>
              <a:rPr sz="1300" b="1" i="0" dirty="0">
                <a:solidFill>
                  <a:srgbClr val="2D2D2D"/>
                </a:solidFill>
                <a:latin typeface="Nunito"/>
              </a:rPr>
              <a:t>Institutional pricing test</a:t>
            </a:r>
          </a:p>
        </p:txBody>
      </p:sp>
      <p:sp>
        <p:nvSpPr>
          <p:cNvPr id="23" name="TextBox 22"/>
          <p:cNvSpPr txBox="1"/>
          <p:nvPr/>
        </p:nvSpPr>
        <p:spPr>
          <a:xfrm>
            <a:off x="6812280" y="1938528"/>
            <a:ext cx="4892040" cy="621792"/>
          </a:xfrm>
          <a:prstGeom prst="rect">
            <a:avLst/>
          </a:prstGeom>
          <a:noFill/>
        </p:spPr>
        <p:txBody>
          <a:bodyPr wrap="square"/>
          <a:lstStyle/>
          <a:p>
            <a:pPr algn="l"/>
            <a:r>
              <a:rPr sz="1200" b="0" i="0" dirty="0">
                <a:solidFill>
                  <a:srgbClr val="6B7280"/>
                </a:solidFill>
                <a:latin typeface="Lato"/>
              </a:rPr>
              <a:t>Contacting HR benefits managers to find what employers actually pay per employee for financial wellness. Replaces the $3 PMPM assumption with a real buyer quote.</a:t>
            </a:r>
          </a:p>
        </p:txBody>
      </p:sp>
      <p:sp>
        <p:nvSpPr>
          <p:cNvPr id="24" name="Rectangle 23"/>
          <p:cNvSpPr/>
          <p:nvPr/>
        </p:nvSpPr>
        <p:spPr>
          <a:xfrm>
            <a:off x="6629400" y="2798064"/>
            <a:ext cx="54864" cy="21945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TextBox 24"/>
          <p:cNvSpPr txBox="1"/>
          <p:nvPr/>
        </p:nvSpPr>
        <p:spPr>
          <a:xfrm>
            <a:off x="6812280" y="2706624"/>
            <a:ext cx="4892040" cy="310896"/>
          </a:xfrm>
          <a:prstGeom prst="rect">
            <a:avLst/>
          </a:prstGeom>
          <a:noFill/>
        </p:spPr>
        <p:txBody>
          <a:bodyPr wrap="square"/>
          <a:lstStyle/>
          <a:p>
            <a:pPr algn="l"/>
            <a:r>
              <a:rPr sz="1300" b="1" i="0" dirty="0">
                <a:solidFill>
                  <a:srgbClr val="2D2D2D"/>
                </a:solidFill>
                <a:latin typeface="Nunito"/>
              </a:rPr>
              <a:t>Consumer willingness-to-pay test</a:t>
            </a:r>
          </a:p>
        </p:txBody>
      </p:sp>
      <p:sp>
        <p:nvSpPr>
          <p:cNvPr id="26" name="TextBox 25"/>
          <p:cNvSpPr txBox="1"/>
          <p:nvPr/>
        </p:nvSpPr>
        <p:spPr>
          <a:xfrm>
            <a:off x="6812280" y="3017520"/>
            <a:ext cx="4892040" cy="621792"/>
          </a:xfrm>
          <a:prstGeom prst="rect">
            <a:avLst/>
          </a:prstGeom>
          <a:noFill/>
        </p:spPr>
        <p:txBody>
          <a:bodyPr wrap="square"/>
          <a:lstStyle/>
          <a:p>
            <a:pPr algn="l"/>
            <a:r>
              <a:rPr sz="1200" b="0" i="0" dirty="0">
                <a:solidFill>
                  <a:srgbClr val="6B7280"/>
                </a:solidFill>
                <a:latin typeface="Lato"/>
              </a:rPr>
              <a:t>Adding two questions to the next target-customer interview: reaction to $4.99/month, and willingness to connect a bank account. The bank account question is the more critical of the two.</a:t>
            </a:r>
          </a:p>
        </p:txBody>
      </p:sp>
      <p:sp>
        <p:nvSpPr>
          <p:cNvPr id="27" name="Rectangle 26"/>
          <p:cNvSpPr/>
          <p:nvPr/>
        </p:nvSpPr>
        <p:spPr>
          <a:xfrm>
            <a:off x="6629400" y="3877056"/>
            <a:ext cx="54864" cy="219456"/>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6812280" y="3785616"/>
            <a:ext cx="4892040" cy="310896"/>
          </a:xfrm>
          <a:prstGeom prst="rect">
            <a:avLst/>
          </a:prstGeom>
          <a:noFill/>
        </p:spPr>
        <p:txBody>
          <a:bodyPr wrap="square"/>
          <a:lstStyle/>
          <a:p>
            <a:pPr algn="l"/>
            <a:r>
              <a:rPr sz="1300" b="1" i="0" dirty="0">
                <a:solidFill>
                  <a:srgbClr val="2D2D2D"/>
                </a:solidFill>
                <a:latin typeface="Nunito"/>
              </a:rPr>
              <a:t>Landing page deployment</a:t>
            </a:r>
          </a:p>
        </p:txBody>
      </p:sp>
      <p:sp>
        <p:nvSpPr>
          <p:cNvPr id="29" name="TextBox 28"/>
          <p:cNvSpPr txBox="1"/>
          <p:nvPr/>
        </p:nvSpPr>
        <p:spPr>
          <a:xfrm>
            <a:off x="6812280" y="4096512"/>
            <a:ext cx="4892040" cy="621792"/>
          </a:xfrm>
          <a:prstGeom prst="rect">
            <a:avLst/>
          </a:prstGeom>
          <a:noFill/>
        </p:spPr>
        <p:txBody>
          <a:bodyPr wrap="square"/>
          <a:lstStyle/>
          <a:p>
            <a:pPr algn="l"/>
            <a:r>
              <a:rPr sz="1200" b="0" i="0" dirty="0">
                <a:solidFill>
                  <a:srgbClr val="6B7280"/>
                </a:solidFill>
                <a:latin typeface="Lato"/>
              </a:rPr>
              <a:t>Deploying landing-page.html live so interviews can end with a real sign-up link and start generating email data.</a:t>
            </a:r>
          </a:p>
        </p:txBody>
      </p:sp>
      <p:sp>
        <p:nvSpPr>
          <p:cNvPr id="30" name="Rectangle 29"/>
          <p:cNvSpPr/>
          <p:nvPr/>
        </p:nvSpPr>
        <p:spPr>
          <a:xfrm>
            <a:off x="457200" y="5650992"/>
            <a:ext cx="11274552" cy="621792"/>
          </a:xfrm>
          <a:prstGeom prst="rect">
            <a:avLst/>
          </a:prstGeom>
          <a:solidFill>
            <a:srgbClr val="FFF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Rectangle 30"/>
          <p:cNvSpPr/>
          <p:nvPr/>
        </p:nvSpPr>
        <p:spPr>
          <a:xfrm>
            <a:off x="457200" y="5650992"/>
            <a:ext cx="45720" cy="6217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TextBox 31"/>
          <p:cNvSpPr txBox="1"/>
          <p:nvPr/>
        </p:nvSpPr>
        <p:spPr>
          <a:xfrm>
            <a:off x="640080" y="5705856"/>
            <a:ext cx="10972800" cy="548640"/>
          </a:xfrm>
          <a:prstGeom prst="rect">
            <a:avLst/>
          </a:prstGeom>
          <a:noFill/>
        </p:spPr>
        <p:txBody>
          <a:bodyPr wrap="square"/>
          <a:lstStyle/>
          <a:p>
            <a:pPr algn="l"/>
            <a:r>
              <a:rPr sz="1100" b="0" i="1" dirty="0">
                <a:solidFill>
                  <a:srgbClr val="D97706"/>
                </a:solidFill>
                <a:latin typeface="Lato"/>
              </a:rPr>
              <a:t>⚑  DATA GAP: Pricing test results not yet available. If conversations happened before June 30, update the base case in the financial model and replace this flag with real numbers.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28016"/>
            <a:ext cx="10789920" cy="621792"/>
          </a:xfrm>
          <a:prstGeom prst="rect">
            <a:avLst/>
          </a:prstGeom>
          <a:noFill/>
        </p:spPr>
        <p:txBody>
          <a:bodyPr wrap="square"/>
          <a:lstStyle/>
          <a:p>
            <a:pPr algn="l"/>
            <a:r>
              <a:rPr sz="3200" b="1" i="0" dirty="0">
                <a:solidFill>
                  <a:srgbClr val="5A9171"/>
                </a:solidFill>
                <a:latin typeface="Nunito"/>
              </a:rPr>
              <a:t>Pivot Log</a:t>
            </a:r>
          </a:p>
        </p:txBody>
      </p:sp>
      <p:sp>
        <p:nvSpPr>
          <p:cNvPr id="4" name="TextBox 3"/>
          <p:cNvSpPr txBox="1"/>
          <p:nvPr/>
        </p:nvSpPr>
        <p:spPr>
          <a:xfrm>
            <a:off x="548640" y="701540"/>
            <a:ext cx="10789920" cy="329184"/>
          </a:xfrm>
          <a:prstGeom prst="rect">
            <a:avLst/>
          </a:prstGeom>
          <a:noFill/>
        </p:spPr>
        <p:txBody>
          <a:bodyPr wrap="square"/>
          <a:lstStyle/>
          <a:p>
            <a:pPr algn="l"/>
            <a:r>
              <a:rPr sz="1300" b="0" i="0" dirty="0">
                <a:solidFill>
                  <a:srgbClr val="87B89D"/>
                </a:solidFill>
                <a:latin typeface="Lato"/>
              </a:rPr>
              <a:t>What I assumed at Week 1 vs. what I know now</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8</a:t>
            </a:r>
          </a:p>
        </p:txBody>
      </p:sp>
      <p:sp>
        <p:nvSpPr>
          <p:cNvPr id="7" name="Rectangle 6"/>
          <p:cNvSpPr/>
          <p:nvPr/>
        </p:nvSpPr>
        <p:spPr>
          <a:xfrm>
            <a:off x="457200" y="1060704"/>
            <a:ext cx="3493008" cy="34747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566928" y="1097280"/>
            <a:ext cx="3310128" cy="347472"/>
          </a:xfrm>
          <a:prstGeom prst="rect">
            <a:avLst/>
          </a:prstGeom>
          <a:noFill/>
        </p:spPr>
        <p:txBody>
          <a:bodyPr wrap="square"/>
          <a:lstStyle/>
          <a:p>
            <a:pPr algn="l"/>
            <a:r>
              <a:rPr sz="1200" b="1" i="0" dirty="0">
                <a:solidFill>
                  <a:srgbClr val="FFFFFF"/>
                </a:solidFill>
                <a:latin typeface="Lato"/>
              </a:rPr>
              <a:t>ASSUMPTION</a:t>
            </a:r>
          </a:p>
        </p:txBody>
      </p:sp>
      <p:sp>
        <p:nvSpPr>
          <p:cNvPr id="9" name="Rectangle 8"/>
          <p:cNvSpPr/>
          <p:nvPr/>
        </p:nvSpPr>
        <p:spPr>
          <a:xfrm>
            <a:off x="4206240" y="1060704"/>
            <a:ext cx="3493008" cy="34747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4315968" y="1097280"/>
            <a:ext cx="3310128" cy="347472"/>
          </a:xfrm>
          <a:prstGeom prst="rect">
            <a:avLst/>
          </a:prstGeom>
          <a:noFill/>
        </p:spPr>
        <p:txBody>
          <a:bodyPr wrap="square"/>
          <a:lstStyle/>
          <a:p>
            <a:pPr algn="l"/>
            <a:r>
              <a:rPr sz="1200" b="1" i="0" dirty="0">
                <a:solidFill>
                  <a:srgbClr val="FFFFFF"/>
                </a:solidFill>
                <a:latin typeface="Lato"/>
              </a:rPr>
              <a:t>WEEK 1 BELIEF</a:t>
            </a:r>
          </a:p>
        </p:txBody>
      </p:sp>
      <p:sp>
        <p:nvSpPr>
          <p:cNvPr id="11" name="Rectangle 10"/>
          <p:cNvSpPr/>
          <p:nvPr/>
        </p:nvSpPr>
        <p:spPr>
          <a:xfrm>
            <a:off x="7955279" y="1060704"/>
            <a:ext cx="3493008" cy="347472"/>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8065007" y="1097280"/>
            <a:ext cx="3310128" cy="347472"/>
          </a:xfrm>
          <a:prstGeom prst="rect">
            <a:avLst/>
          </a:prstGeom>
          <a:noFill/>
        </p:spPr>
        <p:txBody>
          <a:bodyPr wrap="square"/>
          <a:lstStyle/>
          <a:p>
            <a:pPr algn="l"/>
            <a:r>
              <a:rPr sz="1200" b="1" i="0" dirty="0">
                <a:solidFill>
                  <a:srgbClr val="FFFFFF"/>
                </a:solidFill>
                <a:latin typeface="Lato"/>
              </a:rPr>
              <a:t>WHAT I KNOW NOW</a:t>
            </a:r>
          </a:p>
        </p:txBody>
      </p:sp>
      <p:sp>
        <p:nvSpPr>
          <p:cNvPr id="13" name="Rectangle 12"/>
          <p:cNvSpPr/>
          <p:nvPr/>
        </p:nvSpPr>
        <p:spPr>
          <a:xfrm>
            <a:off x="457200" y="1444752"/>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4" name="TextBox 13"/>
          <p:cNvSpPr txBox="1"/>
          <p:nvPr/>
        </p:nvSpPr>
        <p:spPr>
          <a:xfrm>
            <a:off x="566928" y="1508760"/>
            <a:ext cx="3310128" cy="859536"/>
          </a:xfrm>
          <a:prstGeom prst="rect">
            <a:avLst/>
          </a:prstGeom>
          <a:noFill/>
        </p:spPr>
        <p:txBody>
          <a:bodyPr wrap="square"/>
          <a:lstStyle/>
          <a:p>
            <a:pPr algn="l"/>
            <a:r>
              <a:rPr sz="1400" b="1" i="0" dirty="0">
                <a:solidFill>
                  <a:srgbClr val="2D2D2D"/>
                </a:solidFill>
                <a:latin typeface="Lato"/>
              </a:rPr>
              <a:t>The problem</a:t>
            </a:r>
          </a:p>
        </p:txBody>
      </p:sp>
      <p:sp>
        <p:nvSpPr>
          <p:cNvPr id="15" name="Rectangle 14"/>
          <p:cNvSpPr/>
          <p:nvPr/>
        </p:nvSpPr>
        <p:spPr>
          <a:xfrm>
            <a:off x="4206240" y="1444752"/>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6" name="TextBox 15"/>
          <p:cNvSpPr txBox="1"/>
          <p:nvPr/>
        </p:nvSpPr>
        <p:spPr>
          <a:xfrm>
            <a:off x="4315968" y="1508760"/>
            <a:ext cx="3310128" cy="859536"/>
          </a:xfrm>
          <a:prstGeom prst="rect">
            <a:avLst/>
          </a:prstGeom>
          <a:noFill/>
        </p:spPr>
        <p:txBody>
          <a:bodyPr wrap="square"/>
          <a:lstStyle/>
          <a:p>
            <a:pPr algn="l"/>
            <a:r>
              <a:rPr sz="1400" b="0" i="1" dirty="0">
                <a:solidFill>
                  <a:srgbClr val="6B7280"/>
                </a:solidFill>
                <a:latin typeface="Lato"/>
              </a:rPr>
              <a:t>People don’t know where their money goes — show them.</a:t>
            </a:r>
          </a:p>
        </p:txBody>
      </p:sp>
      <p:sp>
        <p:nvSpPr>
          <p:cNvPr id="17" name="Rectangle 16"/>
          <p:cNvSpPr/>
          <p:nvPr/>
        </p:nvSpPr>
        <p:spPr>
          <a:xfrm>
            <a:off x="7955279" y="1444752"/>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TextBox 17"/>
          <p:cNvSpPr txBox="1"/>
          <p:nvPr/>
        </p:nvSpPr>
        <p:spPr>
          <a:xfrm>
            <a:off x="8065007" y="1508760"/>
            <a:ext cx="3310128" cy="859536"/>
          </a:xfrm>
          <a:prstGeom prst="rect">
            <a:avLst/>
          </a:prstGeom>
          <a:noFill/>
        </p:spPr>
        <p:txBody>
          <a:bodyPr wrap="square"/>
          <a:lstStyle/>
          <a:p>
            <a:pPr algn="l"/>
            <a:r>
              <a:rPr sz="1100" b="0" i="0" dirty="0">
                <a:solidFill>
                  <a:srgbClr val="2D2D2D"/>
                </a:solidFill>
                <a:latin typeface="Lato"/>
              </a:rPr>
              <a:t>Awareness is present but insufficient. Noor already monitors consciously. The gap is what happens after someone realizes they overspent and nothing changes.</a:t>
            </a:r>
          </a:p>
        </p:txBody>
      </p:sp>
      <p:sp>
        <p:nvSpPr>
          <p:cNvPr id="19" name="Rectangle 18"/>
          <p:cNvSpPr/>
          <p:nvPr/>
        </p:nvSpPr>
        <p:spPr>
          <a:xfrm>
            <a:off x="457200" y="2395728"/>
            <a:ext cx="3493008" cy="9509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20" name="TextBox 19"/>
          <p:cNvSpPr txBox="1"/>
          <p:nvPr/>
        </p:nvSpPr>
        <p:spPr>
          <a:xfrm>
            <a:off x="566928" y="2459736"/>
            <a:ext cx="3310128" cy="859536"/>
          </a:xfrm>
          <a:prstGeom prst="rect">
            <a:avLst/>
          </a:prstGeom>
          <a:noFill/>
        </p:spPr>
        <p:txBody>
          <a:bodyPr wrap="square"/>
          <a:lstStyle/>
          <a:p>
            <a:pPr algn="l"/>
            <a:r>
              <a:rPr sz="1400" b="1" i="0" dirty="0">
                <a:solidFill>
                  <a:srgbClr val="2D2D2D"/>
                </a:solidFill>
                <a:latin typeface="Lato"/>
              </a:rPr>
              <a:t>The product</a:t>
            </a:r>
          </a:p>
        </p:txBody>
      </p:sp>
      <p:sp>
        <p:nvSpPr>
          <p:cNvPr id="21" name="Rectangle 20"/>
          <p:cNvSpPr/>
          <p:nvPr/>
        </p:nvSpPr>
        <p:spPr>
          <a:xfrm>
            <a:off x="4206240" y="2395728"/>
            <a:ext cx="3493008" cy="9509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22" name="TextBox 21"/>
          <p:cNvSpPr txBox="1"/>
          <p:nvPr/>
        </p:nvSpPr>
        <p:spPr>
          <a:xfrm>
            <a:off x="4315968" y="2459736"/>
            <a:ext cx="3310128" cy="859536"/>
          </a:xfrm>
          <a:prstGeom prst="rect">
            <a:avLst/>
          </a:prstGeom>
          <a:noFill/>
        </p:spPr>
        <p:txBody>
          <a:bodyPr wrap="square"/>
          <a:lstStyle/>
          <a:p>
            <a:pPr algn="l"/>
            <a:r>
              <a:rPr sz="1400" b="0" i="1" dirty="0">
                <a:solidFill>
                  <a:srgbClr val="6B7280"/>
                </a:solidFill>
                <a:latin typeface="Lato"/>
              </a:rPr>
              <a:t>Show spending data. Visibility = behavior change.</a:t>
            </a:r>
          </a:p>
        </p:txBody>
      </p:sp>
      <p:sp>
        <p:nvSpPr>
          <p:cNvPr id="23" name="Rectangle 22"/>
          <p:cNvSpPr/>
          <p:nvPr/>
        </p:nvSpPr>
        <p:spPr>
          <a:xfrm>
            <a:off x="7955279" y="2395728"/>
            <a:ext cx="3493008" cy="9509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8065007" y="2459736"/>
            <a:ext cx="3310128" cy="859536"/>
          </a:xfrm>
          <a:prstGeom prst="rect">
            <a:avLst/>
          </a:prstGeom>
          <a:noFill/>
        </p:spPr>
        <p:txBody>
          <a:bodyPr wrap="square"/>
          <a:lstStyle/>
          <a:p>
            <a:pPr algn="l"/>
            <a:r>
              <a:rPr sz="1100" b="0" i="0" dirty="0">
                <a:solidFill>
                  <a:srgbClr val="2D2D2D"/>
                </a:solidFill>
                <a:latin typeface="Lato"/>
              </a:rPr>
              <a:t>Visibility may not be enough. A/B test asks: does naming the pattern change behavior, or does the product need to also give a specific action at the moment of resolve?</a:t>
            </a:r>
          </a:p>
        </p:txBody>
      </p:sp>
      <p:sp>
        <p:nvSpPr>
          <p:cNvPr id="25" name="Rectangle 24"/>
          <p:cNvSpPr/>
          <p:nvPr/>
        </p:nvSpPr>
        <p:spPr>
          <a:xfrm>
            <a:off x="457200" y="3346704"/>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26" name="TextBox 25"/>
          <p:cNvSpPr txBox="1"/>
          <p:nvPr/>
        </p:nvSpPr>
        <p:spPr>
          <a:xfrm>
            <a:off x="566928" y="3410712"/>
            <a:ext cx="3310128" cy="859536"/>
          </a:xfrm>
          <a:prstGeom prst="rect">
            <a:avLst/>
          </a:prstGeom>
          <a:noFill/>
        </p:spPr>
        <p:txBody>
          <a:bodyPr wrap="square"/>
          <a:lstStyle/>
          <a:p>
            <a:pPr algn="l"/>
            <a:r>
              <a:rPr sz="1400" b="1" i="0" dirty="0">
                <a:solidFill>
                  <a:srgbClr val="2D2D2D"/>
                </a:solidFill>
                <a:latin typeface="Lato"/>
              </a:rPr>
              <a:t>Revenue model</a:t>
            </a:r>
          </a:p>
        </p:txBody>
      </p:sp>
      <p:sp>
        <p:nvSpPr>
          <p:cNvPr id="27" name="Rectangle 26"/>
          <p:cNvSpPr/>
          <p:nvPr/>
        </p:nvSpPr>
        <p:spPr>
          <a:xfrm>
            <a:off x="4206240" y="3346704"/>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28" name="TextBox 27"/>
          <p:cNvSpPr txBox="1"/>
          <p:nvPr/>
        </p:nvSpPr>
        <p:spPr>
          <a:xfrm>
            <a:off x="4315968" y="3410712"/>
            <a:ext cx="3310128" cy="859536"/>
          </a:xfrm>
          <a:prstGeom prst="rect">
            <a:avLst/>
          </a:prstGeom>
          <a:noFill/>
        </p:spPr>
        <p:txBody>
          <a:bodyPr wrap="square"/>
          <a:lstStyle/>
          <a:p>
            <a:pPr algn="l"/>
            <a:r>
              <a:rPr sz="1400" b="0" i="1" dirty="0">
                <a:solidFill>
                  <a:srgbClr val="6B7280"/>
                </a:solidFill>
                <a:latin typeface="Lato"/>
              </a:rPr>
              <a:t>B2C subscription (~$9/month, like YNAB or Monarch).</a:t>
            </a:r>
          </a:p>
        </p:txBody>
      </p:sp>
      <p:sp>
        <p:nvSpPr>
          <p:cNvPr id="29" name="Rectangle 28"/>
          <p:cNvSpPr/>
          <p:nvPr/>
        </p:nvSpPr>
        <p:spPr>
          <a:xfrm>
            <a:off x="7955279" y="3346704"/>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 name="TextBox 29"/>
          <p:cNvSpPr txBox="1"/>
          <p:nvPr/>
        </p:nvSpPr>
        <p:spPr>
          <a:xfrm>
            <a:off x="8065007" y="3410712"/>
            <a:ext cx="3310128" cy="859536"/>
          </a:xfrm>
          <a:prstGeom prst="rect">
            <a:avLst/>
          </a:prstGeom>
          <a:noFill/>
        </p:spPr>
        <p:txBody>
          <a:bodyPr wrap="square"/>
          <a:lstStyle/>
          <a:p>
            <a:pPr algn="l"/>
            <a:r>
              <a:rPr sz="1100" b="0" i="0" dirty="0">
                <a:solidFill>
                  <a:srgbClr val="2D2D2D"/>
                </a:solidFill>
                <a:latin typeface="Lato"/>
              </a:rPr>
              <a:t>Freemium → B2B2C. Noor has never paid for a financial tool. Subscription requires payment before value is proven from someone not looking for the product. Fails at acquisition.</a:t>
            </a:r>
          </a:p>
        </p:txBody>
      </p:sp>
      <p:sp>
        <p:nvSpPr>
          <p:cNvPr id="31" name="Rectangle 30"/>
          <p:cNvSpPr/>
          <p:nvPr/>
        </p:nvSpPr>
        <p:spPr>
          <a:xfrm>
            <a:off x="457200" y="4297680"/>
            <a:ext cx="3493008" cy="9509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32" name="TextBox 31"/>
          <p:cNvSpPr txBox="1"/>
          <p:nvPr/>
        </p:nvSpPr>
        <p:spPr>
          <a:xfrm>
            <a:off x="566928" y="4361688"/>
            <a:ext cx="3310128" cy="859536"/>
          </a:xfrm>
          <a:prstGeom prst="rect">
            <a:avLst/>
          </a:prstGeom>
          <a:noFill/>
        </p:spPr>
        <p:txBody>
          <a:bodyPr wrap="square"/>
          <a:lstStyle/>
          <a:p>
            <a:pPr algn="l"/>
            <a:r>
              <a:rPr sz="1400" b="1" i="0" dirty="0">
                <a:solidFill>
                  <a:srgbClr val="2D2D2D"/>
                </a:solidFill>
                <a:latin typeface="Lato"/>
              </a:rPr>
              <a:t>Institutional PMPM</a:t>
            </a:r>
          </a:p>
        </p:txBody>
      </p:sp>
      <p:sp>
        <p:nvSpPr>
          <p:cNvPr id="33" name="Rectangle 32"/>
          <p:cNvSpPr/>
          <p:nvPr/>
        </p:nvSpPr>
        <p:spPr>
          <a:xfrm>
            <a:off x="4206240" y="4297680"/>
            <a:ext cx="3493008" cy="9509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34" name="TextBox 33"/>
          <p:cNvSpPr txBox="1"/>
          <p:nvPr/>
        </p:nvSpPr>
        <p:spPr>
          <a:xfrm>
            <a:off x="4315968" y="4361688"/>
            <a:ext cx="3310128" cy="859536"/>
          </a:xfrm>
          <a:prstGeom prst="rect">
            <a:avLst/>
          </a:prstGeom>
          <a:noFill/>
        </p:spPr>
        <p:txBody>
          <a:bodyPr wrap="square"/>
          <a:lstStyle/>
          <a:p>
            <a:pPr algn="l"/>
            <a:r>
              <a:rPr sz="1400" b="0" i="1" dirty="0">
                <a:solidFill>
                  <a:srgbClr val="6B7280"/>
                </a:solidFill>
                <a:latin typeface="Lato"/>
              </a:rPr>
              <a:t>$6/month base case (competitive inference, treated as fact).</a:t>
            </a:r>
          </a:p>
        </p:txBody>
      </p:sp>
      <p:sp>
        <p:nvSpPr>
          <p:cNvPr id="35" name="Rectangle 34"/>
          <p:cNvSpPr/>
          <p:nvPr/>
        </p:nvSpPr>
        <p:spPr>
          <a:xfrm>
            <a:off x="7955279" y="4297680"/>
            <a:ext cx="3493008" cy="9509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6" name="TextBox 35"/>
          <p:cNvSpPr txBox="1"/>
          <p:nvPr/>
        </p:nvSpPr>
        <p:spPr>
          <a:xfrm>
            <a:off x="8065007" y="4361688"/>
            <a:ext cx="3310128" cy="859536"/>
          </a:xfrm>
          <a:prstGeom prst="rect">
            <a:avLst/>
          </a:prstGeom>
          <a:noFill/>
        </p:spPr>
        <p:txBody>
          <a:bodyPr wrap="square"/>
          <a:lstStyle/>
          <a:p>
            <a:pPr algn="l"/>
            <a:r>
              <a:rPr sz="1100" b="0" i="0" dirty="0">
                <a:solidFill>
                  <a:srgbClr val="2D2D2D"/>
                </a:solidFill>
                <a:latin typeface="Lato"/>
              </a:rPr>
              <a:t>Revised to $3 after stress testing a realistic first year. Still an assumption — no buyer has been contacted. Pricing test underway this week.</a:t>
            </a:r>
          </a:p>
        </p:txBody>
      </p:sp>
      <p:sp>
        <p:nvSpPr>
          <p:cNvPr id="37" name="Rectangle 36"/>
          <p:cNvSpPr/>
          <p:nvPr/>
        </p:nvSpPr>
        <p:spPr>
          <a:xfrm>
            <a:off x="457200" y="5248656"/>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38" name="TextBox 37"/>
          <p:cNvSpPr txBox="1"/>
          <p:nvPr/>
        </p:nvSpPr>
        <p:spPr>
          <a:xfrm>
            <a:off x="566928" y="5312664"/>
            <a:ext cx="3310128" cy="859536"/>
          </a:xfrm>
          <a:prstGeom prst="rect">
            <a:avLst/>
          </a:prstGeom>
          <a:noFill/>
        </p:spPr>
        <p:txBody>
          <a:bodyPr wrap="square"/>
          <a:lstStyle/>
          <a:p>
            <a:pPr algn="l"/>
            <a:r>
              <a:rPr sz="1400" b="1" i="0" dirty="0">
                <a:solidFill>
                  <a:srgbClr val="2D2D2D"/>
                </a:solidFill>
                <a:latin typeface="Lato"/>
              </a:rPr>
              <a:t>The AI assumption</a:t>
            </a:r>
          </a:p>
        </p:txBody>
      </p:sp>
      <p:sp>
        <p:nvSpPr>
          <p:cNvPr id="39" name="Rectangle 38"/>
          <p:cNvSpPr/>
          <p:nvPr/>
        </p:nvSpPr>
        <p:spPr>
          <a:xfrm>
            <a:off x="4206240" y="5248656"/>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40" name="TextBox 39"/>
          <p:cNvSpPr txBox="1"/>
          <p:nvPr/>
        </p:nvSpPr>
        <p:spPr>
          <a:xfrm>
            <a:off x="4315968" y="5312664"/>
            <a:ext cx="3310128" cy="859536"/>
          </a:xfrm>
          <a:prstGeom prst="rect">
            <a:avLst/>
          </a:prstGeom>
          <a:noFill/>
        </p:spPr>
        <p:txBody>
          <a:bodyPr wrap="square"/>
          <a:lstStyle/>
          <a:p>
            <a:pPr algn="l"/>
            <a:r>
              <a:rPr sz="1400" b="0" i="1" dirty="0">
                <a:solidFill>
                  <a:srgbClr val="6B7280"/>
                </a:solidFill>
                <a:latin typeface="Lato"/>
              </a:rPr>
              <a:t>AI-powered experience would feel easier. Treated as given.</a:t>
            </a:r>
          </a:p>
        </p:txBody>
      </p:sp>
      <p:sp>
        <p:nvSpPr>
          <p:cNvPr id="41" name="Rectangle 40"/>
          <p:cNvSpPr/>
          <p:nvPr/>
        </p:nvSpPr>
        <p:spPr>
          <a:xfrm>
            <a:off x="7955279" y="5248656"/>
            <a:ext cx="3493008" cy="950976"/>
          </a:xfrm>
          <a:prstGeom prst="rect">
            <a:avLst/>
          </a:prstGeom>
          <a:solidFill>
            <a:srgbClr val="F2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2" name="TextBox 41"/>
          <p:cNvSpPr txBox="1"/>
          <p:nvPr/>
        </p:nvSpPr>
        <p:spPr>
          <a:xfrm>
            <a:off x="8065007" y="5312664"/>
            <a:ext cx="3310128" cy="859536"/>
          </a:xfrm>
          <a:prstGeom prst="rect">
            <a:avLst/>
          </a:prstGeom>
          <a:noFill/>
        </p:spPr>
        <p:txBody>
          <a:bodyPr wrap="square"/>
          <a:lstStyle/>
          <a:p>
            <a:pPr algn="l"/>
            <a:r>
              <a:rPr sz="1100" b="0" i="0" dirty="0">
                <a:solidFill>
                  <a:srgbClr val="2D2D2D"/>
                </a:solidFill>
                <a:latin typeface="Lato"/>
              </a:rPr>
              <a:t>Completely untested. Neither interviewee mentioned AI. Not a reason to abandon the approach — but it must be validated with target customers, not assumed.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28016"/>
            <a:ext cx="10789920" cy="621792"/>
          </a:xfrm>
          <a:prstGeom prst="rect">
            <a:avLst/>
          </a:prstGeom>
          <a:noFill/>
        </p:spPr>
        <p:txBody>
          <a:bodyPr wrap="square"/>
          <a:lstStyle/>
          <a:p>
            <a:pPr algn="l"/>
            <a:r>
              <a:rPr sz="3200" b="1" i="0" dirty="0">
                <a:solidFill>
                  <a:srgbClr val="5A9171"/>
                </a:solidFill>
                <a:latin typeface="Nunito"/>
              </a:rPr>
              <a:t>What’s Next</a:t>
            </a:r>
          </a:p>
        </p:txBody>
      </p:sp>
      <p:sp>
        <p:nvSpPr>
          <p:cNvPr id="4" name="TextBox 3"/>
          <p:cNvSpPr txBox="1"/>
          <p:nvPr/>
        </p:nvSpPr>
        <p:spPr>
          <a:xfrm>
            <a:off x="548640" y="731520"/>
            <a:ext cx="10789920" cy="329184"/>
          </a:xfrm>
          <a:prstGeom prst="rect">
            <a:avLst/>
          </a:prstGeom>
          <a:noFill/>
        </p:spPr>
        <p:txBody>
          <a:bodyPr wrap="square"/>
          <a:lstStyle/>
          <a:p>
            <a:pPr algn="l"/>
            <a:r>
              <a:rPr sz="1300" b="0" i="0" dirty="0">
                <a:solidFill>
                  <a:srgbClr val="87B89D"/>
                </a:solidFill>
                <a:latin typeface="Lato"/>
              </a:rPr>
              <a:t>Top 3 priorities for the next 5 weeks</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9</a:t>
            </a:r>
          </a:p>
        </p:txBody>
      </p:sp>
      <p:sp>
        <p:nvSpPr>
          <p:cNvPr id="7" name="Rectangle 6"/>
          <p:cNvSpPr/>
          <p:nvPr/>
        </p:nvSpPr>
        <p:spPr>
          <a:xfrm>
            <a:off x="457200" y="1385388"/>
            <a:ext cx="475488" cy="47548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57200" y="1376244"/>
            <a:ext cx="475488" cy="475488"/>
          </a:xfrm>
          <a:prstGeom prst="rect">
            <a:avLst/>
          </a:prstGeom>
          <a:noFill/>
        </p:spPr>
        <p:txBody>
          <a:bodyPr wrap="square"/>
          <a:lstStyle/>
          <a:p>
            <a:pPr algn="ctr"/>
            <a:r>
              <a:rPr sz="2000" b="1" i="0" dirty="0">
                <a:solidFill>
                  <a:srgbClr val="FFFFFF"/>
                </a:solidFill>
                <a:latin typeface="Nunito"/>
              </a:rPr>
              <a:t>1</a:t>
            </a:r>
          </a:p>
        </p:txBody>
      </p:sp>
      <p:sp>
        <p:nvSpPr>
          <p:cNvPr id="9" name="TextBox 8"/>
          <p:cNvSpPr txBox="1"/>
          <p:nvPr/>
        </p:nvSpPr>
        <p:spPr>
          <a:xfrm>
            <a:off x="1078992" y="1385388"/>
            <a:ext cx="8961120" cy="365760"/>
          </a:xfrm>
          <a:prstGeom prst="rect">
            <a:avLst/>
          </a:prstGeom>
          <a:noFill/>
        </p:spPr>
        <p:txBody>
          <a:bodyPr wrap="square"/>
          <a:lstStyle/>
          <a:p>
            <a:pPr algn="l"/>
            <a:r>
              <a:rPr sz="1600" b="1" i="0" dirty="0">
                <a:solidFill>
                  <a:srgbClr val="2D2D2D"/>
                </a:solidFill>
                <a:latin typeface="Nunito"/>
              </a:rPr>
              <a:t>Validate institutional pricing — replace the model’s biggest assumption with a real number</a:t>
            </a:r>
          </a:p>
        </p:txBody>
      </p:sp>
      <p:sp>
        <p:nvSpPr>
          <p:cNvPr id="10" name="TextBox 9"/>
          <p:cNvSpPr txBox="1"/>
          <p:nvPr/>
        </p:nvSpPr>
        <p:spPr>
          <a:xfrm>
            <a:off x="10149840" y="1421964"/>
            <a:ext cx="1828800" cy="320040"/>
          </a:xfrm>
          <a:prstGeom prst="rect">
            <a:avLst/>
          </a:prstGeom>
          <a:noFill/>
        </p:spPr>
        <p:txBody>
          <a:bodyPr wrap="square"/>
          <a:lstStyle/>
          <a:p>
            <a:pPr algn="r"/>
            <a:r>
              <a:rPr sz="1100" b="1" i="0" dirty="0">
                <a:solidFill>
                  <a:srgbClr val="5A9171"/>
                </a:solidFill>
                <a:latin typeface="Lato"/>
              </a:rPr>
              <a:t>By July 5</a:t>
            </a:r>
          </a:p>
        </p:txBody>
      </p:sp>
      <p:sp>
        <p:nvSpPr>
          <p:cNvPr id="11" name="TextBox 10"/>
          <p:cNvSpPr txBox="1"/>
          <p:nvPr/>
        </p:nvSpPr>
        <p:spPr>
          <a:xfrm>
            <a:off x="1078992" y="1787724"/>
            <a:ext cx="10881360" cy="914400"/>
          </a:xfrm>
          <a:prstGeom prst="rect">
            <a:avLst/>
          </a:prstGeom>
          <a:noFill/>
        </p:spPr>
        <p:txBody>
          <a:bodyPr wrap="square"/>
          <a:lstStyle/>
          <a:p>
            <a:pPr algn="l"/>
            <a:r>
              <a:rPr sz="1300" b="0" i="0" dirty="0">
                <a:solidFill>
                  <a:srgbClr val="6B7280"/>
                </a:solidFill>
                <a:latin typeface="Lato"/>
              </a:rPr>
              <a:t>The $3 PMPM base case drives every break-even figure. One 15-minute call with an HR benefits manager who names what their company pays for financial wellness programs replaces the most load-bearing assumption in the venture. Target: 2 conversations completed by July 5; update the financial model immediately after.</a:t>
            </a:r>
          </a:p>
        </p:txBody>
      </p:sp>
      <p:sp>
        <p:nvSpPr>
          <p:cNvPr id="12" name="Rectangle 11"/>
          <p:cNvSpPr/>
          <p:nvPr/>
        </p:nvSpPr>
        <p:spPr>
          <a:xfrm>
            <a:off x="457200" y="2903292"/>
            <a:ext cx="11274552"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a:xfrm>
            <a:off x="457200" y="3031308"/>
            <a:ext cx="475488" cy="47548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457200" y="3022164"/>
            <a:ext cx="475488" cy="475488"/>
          </a:xfrm>
          <a:prstGeom prst="rect">
            <a:avLst/>
          </a:prstGeom>
          <a:noFill/>
        </p:spPr>
        <p:txBody>
          <a:bodyPr wrap="square"/>
          <a:lstStyle/>
          <a:p>
            <a:pPr algn="ctr"/>
            <a:r>
              <a:rPr sz="2000" b="1" i="0" dirty="0">
                <a:solidFill>
                  <a:srgbClr val="FFFFFF"/>
                </a:solidFill>
                <a:latin typeface="Nunito"/>
              </a:rPr>
              <a:t>2</a:t>
            </a:r>
          </a:p>
        </p:txBody>
      </p:sp>
      <p:sp>
        <p:nvSpPr>
          <p:cNvPr id="15" name="TextBox 14"/>
          <p:cNvSpPr txBox="1"/>
          <p:nvPr/>
        </p:nvSpPr>
        <p:spPr>
          <a:xfrm>
            <a:off x="1078992" y="3031308"/>
            <a:ext cx="8961120" cy="365760"/>
          </a:xfrm>
          <a:prstGeom prst="rect">
            <a:avLst/>
          </a:prstGeom>
          <a:noFill/>
        </p:spPr>
        <p:txBody>
          <a:bodyPr wrap="square"/>
          <a:lstStyle/>
          <a:p>
            <a:pPr algn="l"/>
            <a:r>
              <a:rPr sz="1600" b="1" i="0" dirty="0">
                <a:solidFill>
                  <a:srgbClr val="2D2D2D"/>
                </a:solidFill>
                <a:latin typeface="Nunito"/>
              </a:rPr>
              <a:t>Conduct 3–5 more target customer interviews</a:t>
            </a:r>
          </a:p>
        </p:txBody>
      </p:sp>
      <p:sp>
        <p:nvSpPr>
          <p:cNvPr id="16" name="TextBox 15"/>
          <p:cNvSpPr txBox="1"/>
          <p:nvPr/>
        </p:nvSpPr>
        <p:spPr>
          <a:xfrm>
            <a:off x="10149840" y="3067884"/>
            <a:ext cx="1828800" cy="320040"/>
          </a:xfrm>
          <a:prstGeom prst="rect">
            <a:avLst/>
          </a:prstGeom>
          <a:noFill/>
        </p:spPr>
        <p:txBody>
          <a:bodyPr wrap="square"/>
          <a:lstStyle/>
          <a:p>
            <a:pPr algn="r"/>
            <a:r>
              <a:rPr sz="1100" b="1" i="0" dirty="0">
                <a:solidFill>
                  <a:srgbClr val="5A9171"/>
                </a:solidFill>
                <a:latin typeface="Lato"/>
              </a:rPr>
              <a:t>July 7–21</a:t>
            </a:r>
          </a:p>
        </p:txBody>
      </p:sp>
      <p:sp>
        <p:nvSpPr>
          <p:cNvPr id="17" name="TextBox 16"/>
          <p:cNvSpPr txBox="1"/>
          <p:nvPr/>
        </p:nvSpPr>
        <p:spPr>
          <a:xfrm>
            <a:off x="1078992" y="3433644"/>
            <a:ext cx="10881360" cy="914400"/>
          </a:xfrm>
          <a:prstGeom prst="rect">
            <a:avLst/>
          </a:prstGeom>
          <a:noFill/>
        </p:spPr>
        <p:txBody>
          <a:bodyPr wrap="square"/>
          <a:lstStyle/>
          <a:p>
            <a:pPr algn="l"/>
            <a:r>
              <a:rPr sz="1300" b="0" i="0" dirty="0">
                <a:solidFill>
                  <a:srgbClr val="6B7280"/>
                </a:solidFill>
                <a:latin typeface="Lato"/>
              </a:rPr>
              <a:t>Noor is one person. One interview does not establish a pattern. Next round must test three things directly: (1) willingness to connect a bank account — the most critical untested structural assumption; (2) reaction to the product concept described explicitly; (3) what actually happens in the days after a spending-surprise moment. The AI assumption also needs a direct test.</a:t>
            </a:r>
          </a:p>
        </p:txBody>
      </p:sp>
      <p:sp>
        <p:nvSpPr>
          <p:cNvPr id="18" name="Rectangle 17"/>
          <p:cNvSpPr/>
          <p:nvPr/>
        </p:nvSpPr>
        <p:spPr>
          <a:xfrm>
            <a:off x="457200" y="4549212"/>
            <a:ext cx="11274552"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Rectangle 18"/>
          <p:cNvSpPr/>
          <p:nvPr/>
        </p:nvSpPr>
        <p:spPr>
          <a:xfrm>
            <a:off x="457200" y="4677228"/>
            <a:ext cx="475488" cy="47548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TextBox 19"/>
          <p:cNvSpPr txBox="1"/>
          <p:nvPr/>
        </p:nvSpPr>
        <p:spPr>
          <a:xfrm>
            <a:off x="457200" y="4668084"/>
            <a:ext cx="475488" cy="475488"/>
          </a:xfrm>
          <a:prstGeom prst="rect">
            <a:avLst/>
          </a:prstGeom>
          <a:noFill/>
        </p:spPr>
        <p:txBody>
          <a:bodyPr wrap="square"/>
          <a:lstStyle/>
          <a:p>
            <a:pPr algn="ctr"/>
            <a:r>
              <a:rPr sz="2000" b="1" i="0" dirty="0">
                <a:solidFill>
                  <a:srgbClr val="FFFFFF"/>
                </a:solidFill>
                <a:latin typeface="Nunito"/>
              </a:rPr>
              <a:t>3</a:t>
            </a:r>
          </a:p>
        </p:txBody>
      </p:sp>
      <p:sp>
        <p:nvSpPr>
          <p:cNvPr id="21" name="TextBox 20"/>
          <p:cNvSpPr txBox="1"/>
          <p:nvPr/>
        </p:nvSpPr>
        <p:spPr>
          <a:xfrm>
            <a:off x="1078992" y="4677228"/>
            <a:ext cx="8961120" cy="365760"/>
          </a:xfrm>
          <a:prstGeom prst="rect">
            <a:avLst/>
          </a:prstGeom>
          <a:noFill/>
        </p:spPr>
        <p:txBody>
          <a:bodyPr wrap="square"/>
          <a:lstStyle/>
          <a:p>
            <a:pPr algn="l"/>
            <a:r>
              <a:rPr sz="1600" b="1" i="0" dirty="0">
                <a:solidFill>
                  <a:srgbClr val="2D2D2D"/>
                </a:solidFill>
                <a:latin typeface="Nunito"/>
              </a:rPr>
              <a:t>Deploy the landing page and start collecting email signal</a:t>
            </a:r>
          </a:p>
        </p:txBody>
      </p:sp>
      <p:sp>
        <p:nvSpPr>
          <p:cNvPr id="22" name="TextBox 21"/>
          <p:cNvSpPr txBox="1"/>
          <p:nvPr/>
        </p:nvSpPr>
        <p:spPr>
          <a:xfrm>
            <a:off x="10149840" y="4713804"/>
            <a:ext cx="1828800" cy="320040"/>
          </a:xfrm>
          <a:prstGeom prst="rect">
            <a:avLst/>
          </a:prstGeom>
          <a:noFill/>
        </p:spPr>
        <p:txBody>
          <a:bodyPr wrap="square"/>
          <a:lstStyle/>
          <a:p>
            <a:pPr algn="r"/>
            <a:r>
              <a:rPr sz="1100" b="1" i="0" dirty="0">
                <a:solidFill>
                  <a:srgbClr val="5A9171"/>
                </a:solidFill>
                <a:latin typeface="Lato"/>
              </a:rPr>
              <a:t>By July 7</a:t>
            </a:r>
          </a:p>
        </p:txBody>
      </p:sp>
      <p:sp>
        <p:nvSpPr>
          <p:cNvPr id="23" name="TextBox 22"/>
          <p:cNvSpPr txBox="1"/>
          <p:nvPr/>
        </p:nvSpPr>
        <p:spPr>
          <a:xfrm>
            <a:off x="1078992" y="5079564"/>
            <a:ext cx="10881360" cy="914400"/>
          </a:xfrm>
          <a:prstGeom prst="rect">
            <a:avLst/>
          </a:prstGeom>
          <a:noFill/>
        </p:spPr>
        <p:txBody>
          <a:bodyPr wrap="square"/>
          <a:lstStyle/>
          <a:p>
            <a:pPr algn="l"/>
            <a:r>
              <a:rPr sz="1300" b="0" i="0" dirty="0">
                <a:solidFill>
                  <a:srgbClr val="6B7280"/>
                </a:solidFill>
                <a:latin typeface="Lato"/>
              </a:rPr>
              <a:t>The page is built but not live. Deploy to Netlify or Vercel (free, under 10 minutes), add a sign-up field, and share the URL in every interview. Someone typing their email is stronger signal than someone saying “I’d try it.” The sooner this is live, the more data exists before the next milestone.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4008"/>
          </a:xfrm>
          <a:prstGeom prst="rect">
            <a:avLst/>
          </a:prstGeom>
          <a:solidFill>
            <a:srgbClr val="5A9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128016"/>
            <a:ext cx="10789920" cy="621792"/>
          </a:xfrm>
          <a:prstGeom prst="rect">
            <a:avLst/>
          </a:prstGeom>
          <a:noFill/>
        </p:spPr>
        <p:txBody>
          <a:bodyPr wrap="square"/>
          <a:lstStyle/>
          <a:p>
            <a:pPr algn="l"/>
            <a:r>
              <a:rPr sz="3200" b="1" i="0" dirty="0">
                <a:solidFill>
                  <a:srgbClr val="5A9171"/>
                </a:solidFill>
                <a:latin typeface="Nunito"/>
              </a:rPr>
              <a:t>The Ask</a:t>
            </a:r>
          </a:p>
        </p:txBody>
      </p:sp>
      <p:sp>
        <p:nvSpPr>
          <p:cNvPr id="4" name="TextBox 3"/>
          <p:cNvSpPr txBox="1"/>
          <p:nvPr/>
        </p:nvSpPr>
        <p:spPr>
          <a:xfrm>
            <a:off x="548640" y="731520"/>
            <a:ext cx="10789920" cy="329184"/>
          </a:xfrm>
          <a:prstGeom prst="rect">
            <a:avLst/>
          </a:prstGeom>
          <a:noFill/>
        </p:spPr>
        <p:txBody>
          <a:bodyPr wrap="square"/>
          <a:lstStyle/>
          <a:p>
            <a:pPr algn="l"/>
            <a:r>
              <a:rPr sz="1300" b="0" i="0" dirty="0">
                <a:solidFill>
                  <a:srgbClr val="87B89D"/>
                </a:solidFill>
                <a:latin typeface="Lato"/>
              </a:rPr>
              <a:t>What I need help with</a:t>
            </a:r>
          </a:p>
        </p:txBody>
      </p:sp>
      <p:sp>
        <p:nvSpPr>
          <p:cNvPr id="5" name="TextBox 4"/>
          <p:cNvSpPr txBox="1"/>
          <p:nvPr/>
        </p:nvSpPr>
        <p:spPr>
          <a:xfrm>
            <a:off x="548640" y="6565392"/>
            <a:ext cx="9601200" cy="256032"/>
          </a:xfrm>
          <a:prstGeom prst="rect">
            <a:avLst/>
          </a:prstGeom>
          <a:noFill/>
        </p:spPr>
        <p:txBody>
          <a:bodyPr wrap="square"/>
          <a:lstStyle/>
          <a:p>
            <a:pPr algn="l"/>
            <a:r>
              <a:rPr sz="900" b="0" i="0" dirty="0">
                <a:solidFill>
                  <a:srgbClr val="87B89D"/>
                </a:solidFill>
                <a:latin typeface="Lato"/>
              </a:rPr>
              <a:t>BUS 395: Venture Creation with AI  ·  Rollins College  ·  Summer 2026</a:t>
            </a:r>
          </a:p>
        </p:txBody>
      </p:sp>
      <p:sp>
        <p:nvSpPr>
          <p:cNvPr id="6" name="TextBox 5"/>
          <p:cNvSpPr txBox="1"/>
          <p:nvPr/>
        </p:nvSpPr>
        <p:spPr>
          <a:xfrm>
            <a:off x="11521440" y="6565392"/>
            <a:ext cx="457200" cy="256032"/>
          </a:xfrm>
          <a:prstGeom prst="rect">
            <a:avLst/>
          </a:prstGeom>
          <a:noFill/>
        </p:spPr>
        <p:txBody>
          <a:bodyPr wrap="square"/>
          <a:lstStyle/>
          <a:p>
            <a:pPr algn="r"/>
            <a:r>
              <a:rPr sz="900" b="0" i="0" dirty="0">
                <a:solidFill>
                  <a:srgbClr val="87B89D"/>
                </a:solidFill>
                <a:latin typeface="Lato"/>
              </a:rPr>
              <a:t>10</a:t>
            </a:r>
          </a:p>
        </p:txBody>
      </p:sp>
      <p:sp>
        <p:nvSpPr>
          <p:cNvPr id="7" name="TextBox 6"/>
          <p:cNvSpPr txBox="1"/>
          <p:nvPr/>
        </p:nvSpPr>
        <p:spPr>
          <a:xfrm>
            <a:off x="548640" y="1115568"/>
            <a:ext cx="3200400" cy="256032"/>
          </a:xfrm>
          <a:prstGeom prst="rect">
            <a:avLst/>
          </a:prstGeom>
          <a:noFill/>
        </p:spPr>
        <p:txBody>
          <a:bodyPr wrap="square"/>
          <a:lstStyle/>
          <a:p>
            <a:pPr algn="l"/>
            <a:r>
              <a:rPr sz="900" b="1" i="0" dirty="0">
                <a:solidFill>
                  <a:srgbClr val="5A9171"/>
                </a:solidFill>
                <a:latin typeface="Lato"/>
              </a:rPr>
              <a:t>HIGHEST PRIORITY</a:t>
            </a:r>
          </a:p>
        </p:txBody>
      </p:sp>
      <p:sp>
        <p:nvSpPr>
          <p:cNvPr id="8" name="TextBox 7"/>
          <p:cNvSpPr txBox="1"/>
          <p:nvPr/>
        </p:nvSpPr>
        <p:spPr>
          <a:xfrm>
            <a:off x="548640" y="1371600"/>
            <a:ext cx="11064240" cy="365760"/>
          </a:xfrm>
          <a:prstGeom prst="rect">
            <a:avLst/>
          </a:prstGeom>
          <a:noFill/>
        </p:spPr>
        <p:txBody>
          <a:bodyPr wrap="square"/>
          <a:lstStyle/>
          <a:p>
            <a:pPr algn="l"/>
            <a:r>
              <a:rPr sz="1600" b="1" i="0" dirty="0">
                <a:solidFill>
                  <a:srgbClr val="2D2D2D"/>
                </a:solidFill>
                <a:latin typeface="Nunito"/>
              </a:rPr>
              <a:t>Introductions to HR benefits managers or directors</a:t>
            </a:r>
          </a:p>
        </p:txBody>
      </p:sp>
      <p:sp>
        <p:nvSpPr>
          <p:cNvPr id="9" name="TextBox 8"/>
          <p:cNvSpPr txBox="1"/>
          <p:nvPr/>
        </p:nvSpPr>
        <p:spPr>
          <a:xfrm>
            <a:off x="548640" y="1710678"/>
            <a:ext cx="11064240" cy="804672"/>
          </a:xfrm>
          <a:prstGeom prst="rect">
            <a:avLst/>
          </a:prstGeom>
          <a:noFill/>
        </p:spPr>
        <p:txBody>
          <a:bodyPr wrap="square"/>
          <a:lstStyle/>
          <a:p>
            <a:pPr algn="l"/>
            <a:r>
              <a:rPr sz="1400" b="0" i="0" dirty="0">
                <a:solidFill>
                  <a:srgbClr val="6B7280"/>
                </a:solidFill>
                <a:latin typeface="Lato"/>
              </a:rPr>
              <a:t>I need one 15-minute conversation with someone who manages employee benefits at a company of 200+ people. One honest answer to the question — “what do you currently pay per employee per month for financial wellness programs?” — replaces the most critical assumption in my financial model. If anyone in the room has a contact in HR or benefits, an email introduction this week would materially change the quality of my next presentation.</a:t>
            </a:r>
          </a:p>
        </p:txBody>
      </p:sp>
      <p:sp>
        <p:nvSpPr>
          <p:cNvPr id="10" name="Rectangle 9"/>
          <p:cNvSpPr/>
          <p:nvPr/>
        </p:nvSpPr>
        <p:spPr>
          <a:xfrm>
            <a:off x="457200" y="2688336"/>
            <a:ext cx="11274552"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548640" y="2834640"/>
            <a:ext cx="3200400" cy="256032"/>
          </a:xfrm>
          <a:prstGeom prst="rect">
            <a:avLst/>
          </a:prstGeom>
          <a:noFill/>
        </p:spPr>
        <p:txBody>
          <a:bodyPr wrap="square"/>
          <a:lstStyle/>
          <a:p>
            <a:pPr algn="l"/>
            <a:r>
              <a:rPr sz="900" b="1" i="0" dirty="0">
                <a:solidFill>
                  <a:srgbClr val="87B89D"/>
                </a:solidFill>
                <a:latin typeface="Lato"/>
              </a:rPr>
              <a:t>ALSO NEEDED</a:t>
            </a:r>
          </a:p>
        </p:txBody>
      </p:sp>
      <p:sp>
        <p:nvSpPr>
          <p:cNvPr id="12" name="TextBox 11"/>
          <p:cNvSpPr txBox="1"/>
          <p:nvPr/>
        </p:nvSpPr>
        <p:spPr>
          <a:xfrm>
            <a:off x="548640" y="3090672"/>
            <a:ext cx="11064240" cy="365760"/>
          </a:xfrm>
          <a:prstGeom prst="rect">
            <a:avLst/>
          </a:prstGeom>
          <a:noFill/>
        </p:spPr>
        <p:txBody>
          <a:bodyPr wrap="square"/>
          <a:lstStyle/>
          <a:p>
            <a:pPr algn="l"/>
            <a:r>
              <a:rPr sz="1600" b="1" i="0" dirty="0">
                <a:solidFill>
                  <a:srgbClr val="2D2D2D"/>
                </a:solidFill>
                <a:latin typeface="Nunito"/>
              </a:rPr>
              <a:t>Introductions to recent graduates in their first 1–2 years of work</a:t>
            </a:r>
          </a:p>
        </p:txBody>
      </p:sp>
      <p:sp>
        <p:nvSpPr>
          <p:cNvPr id="13" name="TextBox 12"/>
          <p:cNvSpPr txBox="1"/>
          <p:nvPr/>
        </p:nvSpPr>
        <p:spPr>
          <a:xfrm>
            <a:off x="548640" y="3474720"/>
            <a:ext cx="11064240" cy="804672"/>
          </a:xfrm>
          <a:prstGeom prst="rect">
            <a:avLst/>
          </a:prstGeom>
          <a:noFill/>
        </p:spPr>
        <p:txBody>
          <a:bodyPr wrap="square"/>
          <a:lstStyle/>
          <a:p>
            <a:pPr algn="l"/>
            <a:r>
              <a:rPr sz="1400" b="0" i="0" dirty="0">
                <a:solidFill>
                  <a:srgbClr val="6B7280"/>
                </a:solidFill>
                <a:latin typeface="Lato"/>
              </a:rPr>
              <a:t>Profile: 22–27, first real job, managing rent and student loans simultaneously, no formal money system. I need 3–5 more target customer interviews. I’m not pitching a product — I’m asking how they manage money and what they’ve already tried. If you know someone who fits this, I would like to talk to them.</a:t>
            </a:r>
          </a:p>
        </p:txBody>
      </p:sp>
      <p:sp>
        <p:nvSpPr>
          <p:cNvPr id="14" name="Rectangle 13"/>
          <p:cNvSpPr/>
          <p:nvPr/>
        </p:nvSpPr>
        <p:spPr>
          <a:xfrm>
            <a:off x="457200" y="4407408"/>
            <a:ext cx="11274552" cy="9144"/>
          </a:xfrm>
          <a:prstGeom prst="rect">
            <a:avLst/>
          </a:prstGeom>
          <a:solidFill>
            <a:srgbClr val="C5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TextBox 14"/>
          <p:cNvSpPr txBox="1"/>
          <p:nvPr/>
        </p:nvSpPr>
        <p:spPr>
          <a:xfrm>
            <a:off x="548640" y="4553712"/>
            <a:ext cx="3200400" cy="256032"/>
          </a:xfrm>
          <a:prstGeom prst="rect">
            <a:avLst/>
          </a:prstGeom>
          <a:noFill/>
        </p:spPr>
        <p:txBody>
          <a:bodyPr wrap="square"/>
          <a:lstStyle/>
          <a:p>
            <a:pPr algn="l"/>
            <a:r>
              <a:rPr sz="900" b="1" i="0" dirty="0">
                <a:solidFill>
                  <a:srgbClr val="6B7280"/>
                </a:solidFill>
                <a:latin typeface="Lato"/>
              </a:rPr>
              <a:t>STRATEGIC QUESTION</a:t>
            </a:r>
          </a:p>
        </p:txBody>
      </p:sp>
      <p:sp>
        <p:nvSpPr>
          <p:cNvPr id="16" name="TextBox 15"/>
          <p:cNvSpPr txBox="1"/>
          <p:nvPr/>
        </p:nvSpPr>
        <p:spPr>
          <a:xfrm>
            <a:off x="548640" y="4809744"/>
            <a:ext cx="11064240" cy="365760"/>
          </a:xfrm>
          <a:prstGeom prst="rect">
            <a:avLst/>
          </a:prstGeom>
          <a:noFill/>
        </p:spPr>
        <p:txBody>
          <a:bodyPr wrap="square"/>
          <a:lstStyle/>
          <a:p>
            <a:pPr algn="l"/>
            <a:r>
              <a:rPr sz="1600" b="1" i="0" dirty="0">
                <a:solidFill>
                  <a:srgbClr val="2D2D2D"/>
                </a:solidFill>
                <a:latin typeface="Nunito"/>
              </a:rPr>
              <a:t>How do you bridge the B2B2C timing gap?</a:t>
            </a:r>
          </a:p>
        </p:txBody>
      </p:sp>
      <p:sp>
        <p:nvSpPr>
          <p:cNvPr id="17" name="TextBox 16"/>
          <p:cNvSpPr txBox="1"/>
          <p:nvPr/>
        </p:nvSpPr>
        <p:spPr>
          <a:xfrm>
            <a:off x="548640" y="5193792"/>
            <a:ext cx="11064240" cy="804672"/>
          </a:xfrm>
          <a:prstGeom prst="rect">
            <a:avLst/>
          </a:prstGeom>
          <a:noFill/>
        </p:spPr>
        <p:txBody>
          <a:bodyPr wrap="square"/>
          <a:lstStyle/>
          <a:p>
            <a:pPr algn="l"/>
            <a:r>
              <a:rPr sz="1400" b="0" i="0" dirty="0">
                <a:solidFill>
                  <a:srgbClr val="6B7280"/>
                </a:solidFill>
                <a:latin typeface="Lato"/>
              </a:rPr>
              <a:t>The model’s structural weakness is the 18–36 month gap between acquiring free users and closing the first institutional contract. Has anyone navigated this before? I’m interested in how other founders bridged the runway gap — whether through capital, faster institutional sales, a different sequencing, or something else entirely.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4018</Words>
  <Application>Microsoft Office PowerPoint</Application>
  <PresentationFormat>Custom</PresentationFormat>
  <Paragraphs>240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Lato</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Laila Hamza</cp:lastModifiedBy>
  <cp:revision>1</cp:revision>
  <dcterms:created xsi:type="dcterms:W3CDTF">2013-01-27T09:14:16Z</dcterms:created>
  <dcterms:modified xsi:type="dcterms:W3CDTF">2026-06-30T19:28:02Z</dcterms:modified>
  <cp:category/>
</cp:coreProperties>
</file>